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76" r:id="rId4"/>
    <p:sldId id="267" r:id="rId5"/>
    <p:sldId id="275" r:id="rId6"/>
    <p:sldId id="258" r:id="rId7"/>
    <p:sldId id="282" r:id="rId8"/>
    <p:sldId id="270" r:id="rId9"/>
    <p:sldId id="259" r:id="rId10"/>
    <p:sldId id="260" r:id="rId11"/>
    <p:sldId id="295" r:id="rId12"/>
    <p:sldId id="274" r:id="rId13"/>
    <p:sldId id="261" r:id="rId14"/>
    <p:sldId id="273" r:id="rId15"/>
    <p:sldId id="263" r:id="rId16"/>
    <p:sldId id="296" r:id="rId17"/>
    <p:sldId id="262" r:id="rId18"/>
    <p:sldId id="297" r:id="rId19"/>
    <p:sldId id="294" r:id="rId20"/>
    <p:sldId id="264" r:id="rId21"/>
    <p:sldId id="298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77" r:id="rId30"/>
    <p:sldId id="300" r:id="rId31"/>
    <p:sldId id="290" r:id="rId32"/>
    <p:sldId id="292" r:id="rId33"/>
    <p:sldId id="301" r:id="rId34"/>
    <p:sldId id="299" r:id="rId35"/>
    <p:sldId id="302" r:id="rId36"/>
    <p:sldId id="303" r:id="rId37"/>
    <p:sldId id="304" r:id="rId38"/>
    <p:sldId id="280" r:id="rId39"/>
    <p:sldId id="291" r:id="rId40"/>
    <p:sldId id="265" r:id="rId41"/>
    <p:sldId id="266" r:id="rId42"/>
    <p:sldId id="293" r:id="rId43"/>
    <p:sldId id="268" r:id="rId44"/>
    <p:sldId id="269" r:id="rId45"/>
    <p:sldId id="305" r:id="rId4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04" autoAdjust="0"/>
  </p:normalViewPr>
  <p:slideViewPr>
    <p:cSldViewPr snapToGrid="0" snapToObjects="1">
      <p:cViewPr varScale="1">
        <p:scale>
          <a:sx n="93" d="100"/>
          <a:sy n="93" d="100"/>
        </p:scale>
        <p:origin x="1236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svg"/><Relationship Id="rId2" Type="http://schemas.openxmlformats.org/officeDocument/2006/relationships/image" Target="../media/image16.svg"/><Relationship Id="rId3" Type="http://schemas.openxmlformats.org/officeDocument/2006/relationships/image" Target="../media/image17.svg"/><Relationship Id="rId4" Type="http://schemas.openxmlformats.org/officeDocument/2006/relationships/image" Target="../media/image18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svg"/><Relationship Id="rId2" Type="http://schemas.openxmlformats.org/officeDocument/2006/relationships/image" Target="../media/image16.svg"/><Relationship Id="rId3" Type="http://schemas.openxmlformats.org/officeDocument/2006/relationships/image" Target="../media/image17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D22C1C-DA10-4DB7-88C2-6C75CE26EF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F41739-539A-44D6-8102-7DB8C9F6463A}">
      <dgm:prSet/>
      <dgm:spPr/>
      <dgm:t>
        <a:bodyPr/>
        <a:lstStyle/>
        <a:p>
          <a:r>
            <a:rPr lang="en-US" dirty="0" err="1"/>
            <a:t>Comprender</a:t>
          </a:r>
          <a:r>
            <a:rPr lang="en-US" dirty="0"/>
            <a:t> la </a:t>
          </a:r>
          <a:r>
            <a:rPr lang="en-US" dirty="0" err="1"/>
            <a:t>evolución</a:t>
          </a:r>
          <a:r>
            <a:rPr lang="en-US" dirty="0"/>
            <a:t> del </a:t>
          </a:r>
          <a:r>
            <a:rPr lang="en-US" dirty="0" err="1"/>
            <a:t>ecosistema</a:t>
          </a:r>
          <a:r>
            <a:rPr lang="en-US" dirty="0"/>
            <a:t> .NET y </a:t>
          </a:r>
          <a:r>
            <a:rPr lang="en-US" dirty="0" err="1"/>
            <a:t>su</a:t>
          </a:r>
          <a:r>
            <a:rPr lang="en-US" dirty="0"/>
            <a:t> </a:t>
          </a:r>
          <a:r>
            <a:rPr lang="en-US" dirty="0" err="1"/>
            <a:t>estado</a:t>
          </a:r>
          <a:r>
            <a:rPr lang="en-US" dirty="0"/>
            <a:t> actual (.NET 10).</a:t>
          </a:r>
        </a:p>
      </dgm:t>
    </dgm:pt>
    <dgm:pt modelId="{B33AAB27-5A23-4EC1-B931-2D1C4FE78056}" type="parTrans" cxnId="{8F74B84A-58DF-4F39-B4DF-F87F178E80EE}">
      <dgm:prSet/>
      <dgm:spPr/>
      <dgm:t>
        <a:bodyPr/>
        <a:lstStyle/>
        <a:p>
          <a:endParaRPr lang="en-US"/>
        </a:p>
      </dgm:t>
    </dgm:pt>
    <dgm:pt modelId="{6533AAC1-7FA3-4463-8B64-2C8C6300C4B2}" type="sibTrans" cxnId="{8F74B84A-58DF-4F39-B4DF-F87F178E80EE}">
      <dgm:prSet/>
      <dgm:spPr/>
      <dgm:t>
        <a:bodyPr/>
        <a:lstStyle/>
        <a:p>
          <a:endParaRPr lang="en-US"/>
        </a:p>
      </dgm:t>
    </dgm:pt>
    <dgm:pt modelId="{9777ABA7-29D0-4219-B0CB-DC847527C85B}">
      <dgm:prSet/>
      <dgm:spPr/>
      <dgm:t>
        <a:bodyPr/>
        <a:lstStyle/>
        <a:p>
          <a:r>
            <a:rPr lang="en-US" dirty="0" err="1"/>
            <a:t>Conocer</a:t>
          </a:r>
          <a:r>
            <a:rPr lang="en-US" dirty="0"/>
            <a:t> las </a:t>
          </a:r>
          <a:r>
            <a:rPr lang="en-US" dirty="0" err="1"/>
            <a:t>herramientas</a:t>
          </a:r>
          <a:r>
            <a:rPr lang="en-US" dirty="0"/>
            <a:t>: VS Code, Visual Studio, Docker, SQL Server, Azure.</a:t>
          </a:r>
        </a:p>
      </dgm:t>
    </dgm:pt>
    <dgm:pt modelId="{96C2A372-B1F8-467D-B9D7-1B33A0CC44C7}" type="parTrans" cxnId="{F5D46886-D7C0-447E-9B87-3C81C494FDDA}">
      <dgm:prSet/>
      <dgm:spPr/>
      <dgm:t>
        <a:bodyPr/>
        <a:lstStyle/>
        <a:p>
          <a:endParaRPr lang="en-US"/>
        </a:p>
      </dgm:t>
    </dgm:pt>
    <dgm:pt modelId="{958EED90-6135-49EA-BEAC-B665ECD45807}" type="sibTrans" cxnId="{F5D46886-D7C0-447E-9B87-3C81C494FDDA}">
      <dgm:prSet/>
      <dgm:spPr/>
      <dgm:t>
        <a:bodyPr/>
        <a:lstStyle/>
        <a:p>
          <a:endParaRPr lang="en-US"/>
        </a:p>
      </dgm:t>
    </dgm:pt>
    <dgm:pt modelId="{D3C76C12-9788-462C-BDAF-30114C4386D7}">
      <dgm:prSet/>
      <dgm:spPr/>
      <dgm:t>
        <a:bodyPr/>
        <a:lstStyle/>
        <a:p>
          <a:r>
            <a:rPr lang="en-US" dirty="0" err="1"/>
            <a:t>Conocer</a:t>
          </a:r>
          <a:r>
            <a:rPr lang="en-US" dirty="0"/>
            <a:t> el </a:t>
          </a:r>
          <a:r>
            <a:rPr lang="en-US" dirty="0" err="1"/>
            <a:t>flujo</a:t>
          </a:r>
          <a:r>
            <a:rPr lang="en-US" dirty="0"/>
            <a:t> de </a:t>
          </a:r>
          <a:r>
            <a:rPr lang="en-US" dirty="0" err="1"/>
            <a:t>trabajo</a:t>
          </a:r>
          <a:r>
            <a:rPr lang="en-US" dirty="0"/>
            <a:t>: </a:t>
          </a:r>
          <a:r>
            <a:rPr lang="en-US" dirty="0" err="1"/>
            <a:t>ramas</a:t>
          </a:r>
          <a:r>
            <a:rPr lang="en-US" dirty="0"/>
            <a:t>, PR, CI/CD y SonarQube Cloud.</a:t>
          </a:r>
        </a:p>
      </dgm:t>
    </dgm:pt>
    <dgm:pt modelId="{59531828-13FA-41F5-AB82-1AB226C5B11B}" type="parTrans" cxnId="{5B91B264-76A2-4AFA-91BD-5CDB21919AA8}">
      <dgm:prSet/>
      <dgm:spPr/>
      <dgm:t>
        <a:bodyPr/>
        <a:lstStyle/>
        <a:p>
          <a:endParaRPr lang="en-US"/>
        </a:p>
      </dgm:t>
    </dgm:pt>
    <dgm:pt modelId="{901A81FB-CD1D-45D0-815F-891049E5AF5F}" type="sibTrans" cxnId="{5B91B264-76A2-4AFA-91BD-5CDB21919AA8}">
      <dgm:prSet/>
      <dgm:spPr/>
      <dgm:t>
        <a:bodyPr/>
        <a:lstStyle/>
        <a:p>
          <a:endParaRPr lang="en-US"/>
        </a:p>
      </dgm:t>
    </dgm:pt>
    <dgm:pt modelId="{D5C3A16C-B5A2-49E7-ABCD-468971F6A8DA}">
      <dgm:prSet/>
      <dgm:spPr/>
      <dgm:t>
        <a:bodyPr/>
        <a:lstStyle/>
        <a:p>
          <a:r>
            <a:rPr lang="en-US" dirty="0"/>
            <a:t>Usar la IA con </a:t>
          </a:r>
          <a:r>
            <a:rPr lang="en-US" dirty="0" err="1"/>
            <a:t>criterio</a:t>
          </a:r>
          <a:r>
            <a:rPr lang="en-US" dirty="0"/>
            <a:t> y </a:t>
          </a:r>
          <a:r>
            <a:rPr lang="en-US" dirty="0" err="1"/>
            <a:t>arrancar</a:t>
          </a:r>
          <a:r>
            <a:rPr lang="en-US" dirty="0"/>
            <a:t> el </a:t>
          </a:r>
          <a:r>
            <a:rPr lang="en-US" dirty="0" err="1"/>
            <a:t>reto</a:t>
          </a:r>
          <a:r>
            <a:rPr lang="en-US" dirty="0"/>
            <a:t> </a:t>
          </a:r>
          <a:r>
            <a:rPr lang="en-US" dirty="0" err="1"/>
            <a:t>CourtConnect</a:t>
          </a:r>
          <a:r>
            <a:rPr lang="en-US" dirty="0"/>
            <a:t>.</a:t>
          </a:r>
        </a:p>
      </dgm:t>
    </dgm:pt>
    <dgm:pt modelId="{572C324A-0B7D-46AB-BAC8-796B869E489C}" type="parTrans" cxnId="{71B1474D-ADFD-4D59-A9C3-10662E669446}">
      <dgm:prSet/>
      <dgm:spPr/>
      <dgm:t>
        <a:bodyPr/>
        <a:lstStyle/>
        <a:p>
          <a:endParaRPr lang="en-US"/>
        </a:p>
      </dgm:t>
    </dgm:pt>
    <dgm:pt modelId="{206B12CA-BCEF-4A2B-B8FA-ED415CD5F5FD}" type="sibTrans" cxnId="{71B1474D-ADFD-4D59-A9C3-10662E669446}">
      <dgm:prSet/>
      <dgm:spPr/>
      <dgm:t>
        <a:bodyPr/>
        <a:lstStyle/>
        <a:p>
          <a:endParaRPr lang="en-US"/>
        </a:p>
      </dgm:t>
    </dgm:pt>
    <dgm:pt modelId="{83442A60-EF88-4FC2-890F-F00A375BB04A}" type="pres">
      <dgm:prSet presAssocID="{7DD22C1C-DA10-4DB7-88C2-6C75CE26EFAC}" presName="root" presStyleCnt="0">
        <dgm:presLayoutVars>
          <dgm:dir/>
          <dgm:resizeHandles val="exact"/>
        </dgm:presLayoutVars>
      </dgm:prSet>
      <dgm:spPr/>
    </dgm:pt>
    <dgm:pt modelId="{A3C2BF9E-4A70-4701-A47B-5C24893E92EB}" type="pres">
      <dgm:prSet presAssocID="{C7F41739-539A-44D6-8102-7DB8C9F6463A}" presName="compNode" presStyleCnt="0"/>
      <dgm:spPr/>
    </dgm:pt>
    <dgm:pt modelId="{5FB818E4-9505-4641-BED2-0F174302EAE8}" type="pres">
      <dgm:prSet presAssocID="{C7F41739-539A-44D6-8102-7DB8C9F6463A}" presName="bgRect" presStyleLbl="bgShp" presStyleIdx="0" presStyleCnt="4"/>
      <dgm:spPr/>
    </dgm:pt>
    <dgm:pt modelId="{757E632B-AF39-43AC-A496-B6E25BDF3763}" type="pres">
      <dgm:prSet presAssocID="{C7F41739-539A-44D6-8102-7DB8C9F6463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E2C5CF18-2DC8-4AE5-A375-C5C5A065CD03}" type="pres">
      <dgm:prSet presAssocID="{C7F41739-539A-44D6-8102-7DB8C9F6463A}" presName="spaceRect" presStyleCnt="0"/>
      <dgm:spPr/>
    </dgm:pt>
    <dgm:pt modelId="{A589C758-E559-4EB8-AC53-89067DD762C2}" type="pres">
      <dgm:prSet presAssocID="{C7F41739-539A-44D6-8102-7DB8C9F6463A}" presName="parTx" presStyleLbl="revTx" presStyleIdx="0" presStyleCnt="4">
        <dgm:presLayoutVars>
          <dgm:chMax val="0"/>
          <dgm:chPref val="0"/>
        </dgm:presLayoutVars>
      </dgm:prSet>
      <dgm:spPr/>
    </dgm:pt>
    <dgm:pt modelId="{9206E1D4-858D-49D6-BE5B-B2FB422D40E5}" type="pres">
      <dgm:prSet presAssocID="{6533AAC1-7FA3-4463-8B64-2C8C6300C4B2}" presName="sibTrans" presStyleCnt="0"/>
      <dgm:spPr/>
    </dgm:pt>
    <dgm:pt modelId="{E44ABECD-4DCC-421B-B3A8-274F3C81A6A9}" type="pres">
      <dgm:prSet presAssocID="{9777ABA7-29D0-4219-B0CB-DC847527C85B}" presName="compNode" presStyleCnt="0"/>
      <dgm:spPr/>
    </dgm:pt>
    <dgm:pt modelId="{4BB58B6F-7E61-4A5C-80DC-611CBC9C6B9E}" type="pres">
      <dgm:prSet presAssocID="{9777ABA7-29D0-4219-B0CB-DC847527C85B}" presName="bgRect" presStyleLbl="bgShp" presStyleIdx="1" presStyleCnt="4"/>
      <dgm:spPr/>
    </dgm:pt>
    <dgm:pt modelId="{16FB1BA3-AA2D-4AFD-9DDC-F3A1A907C25E}" type="pres">
      <dgm:prSet presAssocID="{9777ABA7-29D0-4219-B0CB-DC847527C85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AEA2616E-DA75-4483-89E2-B8CCA28EA665}" type="pres">
      <dgm:prSet presAssocID="{9777ABA7-29D0-4219-B0CB-DC847527C85B}" presName="spaceRect" presStyleCnt="0"/>
      <dgm:spPr/>
    </dgm:pt>
    <dgm:pt modelId="{C2B0D892-CA4C-4337-98F2-5C45E5F0022F}" type="pres">
      <dgm:prSet presAssocID="{9777ABA7-29D0-4219-B0CB-DC847527C85B}" presName="parTx" presStyleLbl="revTx" presStyleIdx="1" presStyleCnt="4">
        <dgm:presLayoutVars>
          <dgm:chMax val="0"/>
          <dgm:chPref val="0"/>
        </dgm:presLayoutVars>
      </dgm:prSet>
      <dgm:spPr/>
    </dgm:pt>
    <dgm:pt modelId="{B273A3B4-BB86-4559-8633-77B4E0EAFDF8}" type="pres">
      <dgm:prSet presAssocID="{958EED90-6135-49EA-BEAC-B665ECD45807}" presName="sibTrans" presStyleCnt="0"/>
      <dgm:spPr/>
    </dgm:pt>
    <dgm:pt modelId="{F1FB7894-90EF-43DD-A4BC-9BECCD08000F}" type="pres">
      <dgm:prSet presAssocID="{D3C76C12-9788-462C-BDAF-30114C4386D7}" presName="compNode" presStyleCnt="0"/>
      <dgm:spPr/>
    </dgm:pt>
    <dgm:pt modelId="{2FF9A159-DCB8-4D03-B05C-4439153712AD}" type="pres">
      <dgm:prSet presAssocID="{D3C76C12-9788-462C-BDAF-30114C4386D7}" presName="bgRect" presStyleLbl="bgShp" presStyleIdx="2" presStyleCnt="4"/>
      <dgm:spPr/>
    </dgm:pt>
    <dgm:pt modelId="{A25B1624-3954-4C6C-8D12-33B2C96BDE34}" type="pres">
      <dgm:prSet presAssocID="{D3C76C12-9788-462C-BDAF-30114C4386D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2363F25-124B-4E6C-971C-080A24924420}" type="pres">
      <dgm:prSet presAssocID="{D3C76C12-9788-462C-BDAF-30114C4386D7}" presName="spaceRect" presStyleCnt="0"/>
      <dgm:spPr/>
    </dgm:pt>
    <dgm:pt modelId="{0BF10DEE-2C84-4C8B-A369-55243F5EA4DE}" type="pres">
      <dgm:prSet presAssocID="{D3C76C12-9788-462C-BDAF-30114C4386D7}" presName="parTx" presStyleLbl="revTx" presStyleIdx="2" presStyleCnt="4">
        <dgm:presLayoutVars>
          <dgm:chMax val="0"/>
          <dgm:chPref val="0"/>
        </dgm:presLayoutVars>
      </dgm:prSet>
      <dgm:spPr/>
    </dgm:pt>
    <dgm:pt modelId="{B59A499E-DF06-48BE-A24F-61AEF405B7CF}" type="pres">
      <dgm:prSet presAssocID="{901A81FB-CD1D-45D0-815F-891049E5AF5F}" presName="sibTrans" presStyleCnt="0"/>
      <dgm:spPr/>
    </dgm:pt>
    <dgm:pt modelId="{06E3475E-5303-47DB-83F9-740ADAF8A016}" type="pres">
      <dgm:prSet presAssocID="{D5C3A16C-B5A2-49E7-ABCD-468971F6A8DA}" presName="compNode" presStyleCnt="0"/>
      <dgm:spPr/>
    </dgm:pt>
    <dgm:pt modelId="{5E651074-A2EF-4343-A804-42D4A7117625}" type="pres">
      <dgm:prSet presAssocID="{D5C3A16C-B5A2-49E7-ABCD-468971F6A8DA}" presName="bgRect" presStyleLbl="bgShp" presStyleIdx="3" presStyleCnt="4"/>
      <dgm:spPr/>
    </dgm:pt>
    <dgm:pt modelId="{1639D974-DBA2-4796-8A67-EB4953758434}" type="pres">
      <dgm:prSet presAssocID="{D5C3A16C-B5A2-49E7-ABCD-468971F6A8D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11A32C1F-65E4-402F-BCED-4BF1035AB9A8}" type="pres">
      <dgm:prSet presAssocID="{D5C3A16C-B5A2-49E7-ABCD-468971F6A8DA}" presName="spaceRect" presStyleCnt="0"/>
      <dgm:spPr/>
    </dgm:pt>
    <dgm:pt modelId="{E9AF0CAD-2454-42E7-B99C-8B1776347842}" type="pres">
      <dgm:prSet presAssocID="{D5C3A16C-B5A2-49E7-ABCD-468971F6A8D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EC58F5B-DFF2-44C2-A335-BBE68B8CFB39}" type="presOf" srcId="{D5C3A16C-B5A2-49E7-ABCD-468971F6A8DA}" destId="{E9AF0CAD-2454-42E7-B99C-8B1776347842}" srcOrd="0" destOrd="0" presId="urn:microsoft.com/office/officeart/2018/2/layout/IconVerticalSolidList"/>
    <dgm:cxn modelId="{5B91B264-76A2-4AFA-91BD-5CDB21919AA8}" srcId="{7DD22C1C-DA10-4DB7-88C2-6C75CE26EFAC}" destId="{D3C76C12-9788-462C-BDAF-30114C4386D7}" srcOrd="2" destOrd="0" parTransId="{59531828-13FA-41F5-AB82-1AB226C5B11B}" sibTransId="{901A81FB-CD1D-45D0-815F-891049E5AF5F}"/>
    <dgm:cxn modelId="{8F74B84A-58DF-4F39-B4DF-F87F178E80EE}" srcId="{7DD22C1C-DA10-4DB7-88C2-6C75CE26EFAC}" destId="{C7F41739-539A-44D6-8102-7DB8C9F6463A}" srcOrd="0" destOrd="0" parTransId="{B33AAB27-5A23-4EC1-B931-2D1C4FE78056}" sibTransId="{6533AAC1-7FA3-4463-8B64-2C8C6300C4B2}"/>
    <dgm:cxn modelId="{71B1474D-ADFD-4D59-A9C3-10662E669446}" srcId="{7DD22C1C-DA10-4DB7-88C2-6C75CE26EFAC}" destId="{D5C3A16C-B5A2-49E7-ABCD-468971F6A8DA}" srcOrd="3" destOrd="0" parTransId="{572C324A-0B7D-46AB-BAC8-796B869E489C}" sibTransId="{206B12CA-BCEF-4A2B-B8FA-ED415CD5F5FD}"/>
    <dgm:cxn modelId="{57664571-547D-408F-99AF-D1CFC7B96CC4}" type="presOf" srcId="{D3C76C12-9788-462C-BDAF-30114C4386D7}" destId="{0BF10DEE-2C84-4C8B-A369-55243F5EA4DE}" srcOrd="0" destOrd="0" presId="urn:microsoft.com/office/officeart/2018/2/layout/IconVerticalSolidList"/>
    <dgm:cxn modelId="{F5D46886-D7C0-447E-9B87-3C81C494FDDA}" srcId="{7DD22C1C-DA10-4DB7-88C2-6C75CE26EFAC}" destId="{9777ABA7-29D0-4219-B0CB-DC847527C85B}" srcOrd="1" destOrd="0" parTransId="{96C2A372-B1F8-467D-B9D7-1B33A0CC44C7}" sibTransId="{958EED90-6135-49EA-BEAC-B665ECD45807}"/>
    <dgm:cxn modelId="{0E212ABC-5B98-4303-86B7-F9837D4444A2}" type="presOf" srcId="{C7F41739-539A-44D6-8102-7DB8C9F6463A}" destId="{A589C758-E559-4EB8-AC53-89067DD762C2}" srcOrd="0" destOrd="0" presId="urn:microsoft.com/office/officeart/2018/2/layout/IconVerticalSolidList"/>
    <dgm:cxn modelId="{3561ECBE-21C5-4A01-85D3-90CBEE8D000E}" type="presOf" srcId="{7DD22C1C-DA10-4DB7-88C2-6C75CE26EFAC}" destId="{83442A60-EF88-4FC2-890F-F00A375BB04A}" srcOrd="0" destOrd="0" presId="urn:microsoft.com/office/officeart/2018/2/layout/IconVerticalSolidList"/>
    <dgm:cxn modelId="{ACEFB8D1-E9AD-4561-92E2-D5B3C14D8305}" type="presOf" srcId="{9777ABA7-29D0-4219-B0CB-DC847527C85B}" destId="{C2B0D892-CA4C-4337-98F2-5C45E5F0022F}" srcOrd="0" destOrd="0" presId="urn:microsoft.com/office/officeart/2018/2/layout/IconVerticalSolidList"/>
    <dgm:cxn modelId="{9E2B047E-9EAB-40D9-9A3F-F58071470E13}" type="presParOf" srcId="{83442A60-EF88-4FC2-890F-F00A375BB04A}" destId="{A3C2BF9E-4A70-4701-A47B-5C24893E92EB}" srcOrd="0" destOrd="0" presId="urn:microsoft.com/office/officeart/2018/2/layout/IconVerticalSolidList"/>
    <dgm:cxn modelId="{A8F2B9AA-C8F4-46AC-B5AC-00436847D287}" type="presParOf" srcId="{A3C2BF9E-4A70-4701-A47B-5C24893E92EB}" destId="{5FB818E4-9505-4641-BED2-0F174302EAE8}" srcOrd="0" destOrd="0" presId="urn:microsoft.com/office/officeart/2018/2/layout/IconVerticalSolidList"/>
    <dgm:cxn modelId="{D6E35872-13F8-48BC-9914-A70F4D49CEAE}" type="presParOf" srcId="{A3C2BF9E-4A70-4701-A47B-5C24893E92EB}" destId="{757E632B-AF39-43AC-A496-B6E25BDF3763}" srcOrd="1" destOrd="0" presId="urn:microsoft.com/office/officeart/2018/2/layout/IconVerticalSolidList"/>
    <dgm:cxn modelId="{3284CE85-2D48-48C4-8D1E-404869F1260A}" type="presParOf" srcId="{A3C2BF9E-4A70-4701-A47B-5C24893E92EB}" destId="{E2C5CF18-2DC8-4AE5-A375-C5C5A065CD03}" srcOrd="2" destOrd="0" presId="urn:microsoft.com/office/officeart/2018/2/layout/IconVerticalSolidList"/>
    <dgm:cxn modelId="{74313D8D-7750-4C47-A4EA-E2E4B3C0704A}" type="presParOf" srcId="{A3C2BF9E-4A70-4701-A47B-5C24893E92EB}" destId="{A589C758-E559-4EB8-AC53-89067DD762C2}" srcOrd="3" destOrd="0" presId="urn:microsoft.com/office/officeart/2018/2/layout/IconVerticalSolidList"/>
    <dgm:cxn modelId="{DA69EA8D-4A47-4A97-ABBD-EFCB5D682FBA}" type="presParOf" srcId="{83442A60-EF88-4FC2-890F-F00A375BB04A}" destId="{9206E1D4-858D-49D6-BE5B-B2FB422D40E5}" srcOrd="1" destOrd="0" presId="urn:microsoft.com/office/officeart/2018/2/layout/IconVerticalSolidList"/>
    <dgm:cxn modelId="{BD47197E-264E-450E-9B33-9965DABD0944}" type="presParOf" srcId="{83442A60-EF88-4FC2-890F-F00A375BB04A}" destId="{E44ABECD-4DCC-421B-B3A8-274F3C81A6A9}" srcOrd="2" destOrd="0" presId="urn:microsoft.com/office/officeart/2018/2/layout/IconVerticalSolidList"/>
    <dgm:cxn modelId="{00A35DC4-B7DA-4E09-9DEE-DF92B6104F7F}" type="presParOf" srcId="{E44ABECD-4DCC-421B-B3A8-274F3C81A6A9}" destId="{4BB58B6F-7E61-4A5C-80DC-611CBC9C6B9E}" srcOrd="0" destOrd="0" presId="urn:microsoft.com/office/officeart/2018/2/layout/IconVerticalSolidList"/>
    <dgm:cxn modelId="{B36C994F-6D7B-471C-8199-8BF69C8AD7F9}" type="presParOf" srcId="{E44ABECD-4DCC-421B-B3A8-274F3C81A6A9}" destId="{16FB1BA3-AA2D-4AFD-9DDC-F3A1A907C25E}" srcOrd="1" destOrd="0" presId="urn:microsoft.com/office/officeart/2018/2/layout/IconVerticalSolidList"/>
    <dgm:cxn modelId="{08DDC20D-2A8D-4674-909C-C836F8BD8131}" type="presParOf" srcId="{E44ABECD-4DCC-421B-B3A8-274F3C81A6A9}" destId="{AEA2616E-DA75-4483-89E2-B8CCA28EA665}" srcOrd="2" destOrd="0" presId="urn:microsoft.com/office/officeart/2018/2/layout/IconVerticalSolidList"/>
    <dgm:cxn modelId="{179FD23B-B36D-4EB0-BBEF-BA69197EA318}" type="presParOf" srcId="{E44ABECD-4DCC-421B-B3A8-274F3C81A6A9}" destId="{C2B0D892-CA4C-4337-98F2-5C45E5F0022F}" srcOrd="3" destOrd="0" presId="urn:microsoft.com/office/officeart/2018/2/layout/IconVerticalSolidList"/>
    <dgm:cxn modelId="{D0B067C8-A177-4E0E-A013-62A7CF062F5E}" type="presParOf" srcId="{83442A60-EF88-4FC2-890F-F00A375BB04A}" destId="{B273A3B4-BB86-4559-8633-77B4E0EAFDF8}" srcOrd="3" destOrd="0" presId="urn:microsoft.com/office/officeart/2018/2/layout/IconVerticalSolidList"/>
    <dgm:cxn modelId="{F0F69D7A-4625-4B8C-AFDF-FD9F65C648EE}" type="presParOf" srcId="{83442A60-EF88-4FC2-890F-F00A375BB04A}" destId="{F1FB7894-90EF-43DD-A4BC-9BECCD08000F}" srcOrd="4" destOrd="0" presId="urn:microsoft.com/office/officeart/2018/2/layout/IconVerticalSolidList"/>
    <dgm:cxn modelId="{6000EB4C-0BB5-48D6-934E-3E47DE7E4E6B}" type="presParOf" srcId="{F1FB7894-90EF-43DD-A4BC-9BECCD08000F}" destId="{2FF9A159-DCB8-4D03-B05C-4439153712AD}" srcOrd="0" destOrd="0" presId="urn:microsoft.com/office/officeart/2018/2/layout/IconVerticalSolidList"/>
    <dgm:cxn modelId="{1C5AB57F-7278-46BC-A7EB-9A2BAF2CDC2B}" type="presParOf" srcId="{F1FB7894-90EF-43DD-A4BC-9BECCD08000F}" destId="{A25B1624-3954-4C6C-8D12-33B2C96BDE34}" srcOrd="1" destOrd="0" presId="urn:microsoft.com/office/officeart/2018/2/layout/IconVerticalSolidList"/>
    <dgm:cxn modelId="{0E80AE91-E756-44C7-B046-AE62106F59E4}" type="presParOf" srcId="{F1FB7894-90EF-43DD-A4BC-9BECCD08000F}" destId="{02363F25-124B-4E6C-971C-080A24924420}" srcOrd="2" destOrd="0" presId="urn:microsoft.com/office/officeart/2018/2/layout/IconVerticalSolidList"/>
    <dgm:cxn modelId="{ED6B6D3C-AE4F-4779-A6DD-B32D08C922BB}" type="presParOf" srcId="{F1FB7894-90EF-43DD-A4BC-9BECCD08000F}" destId="{0BF10DEE-2C84-4C8B-A369-55243F5EA4DE}" srcOrd="3" destOrd="0" presId="urn:microsoft.com/office/officeart/2018/2/layout/IconVerticalSolidList"/>
    <dgm:cxn modelId="{16C42E9F-D7D1-4970-A9E8-9ED5DFDD5158}" type="presParOf" srcId="{83442A60-EF88-4FC2-890F-F00A375BB04A}" destId="{B59A499E-DF06-48BE-A24F-61AEF405B7CF}" srcOrd="5" destOrd="0" presId="urn:microsoft.com/office/officeart/2018/2/layout/IconVerticalSolidList"/>
    <dgm:cxn modelId="{F2AAABDB-8105-46C0-97F8-D5BE275F2F24}" type="presParOf" srcId="{83442A60-EF88-4FC2-890F-F00A375BB04A}" destId="{06E3475E-5303-47DB-83F9-740ADAF8A016}" srcOrd="6" destOrd="0" presId="urn:microsoft.com/office/officeart/2018/2/layout/IconVerticalSolidList"/>
    <dgm:cxn modelId="{5EEE2594-6E31-452A-9D6A-A3D372D0E615}" type="presParOf" srcId="{06E3475E-5303-47DB-83F9-740ADAF8A016}" destId="{5E651074-A2EF-4343-A804-42D4A7117625}" srcOrd="0" destOrd="0" presId="urn:microsoft.com/office/officeart/2018/2/layout/IconVerticalSolidList"/>
    <dgm:cxn modelId="{551B61C7-C4FD-4D20-B26D-01D19747E25F}" type="presParOf" srcId="{06E3475E-5303-47DB-83F9-740ADAF8A016}" destId="{1639D974-DBA2-4796-8A67-EB4953758434}" srcOrd="1" destOrd="0" presId="urn:microsoft.com/office/officeart/2018/2/layout/IconVerticalSolidList"/>
    <dgm:cxn modelId="{92CFAA8B-D422-4675-9B6C-B055DD5456BC}" type="presParOf" srcId="{06E3475E-5303-47DB-83F9-740ADAF8A016}" destId="{11A32C1F-65E4-402F-BCED-4BF1035AB9A8}" srcOrd="2" destOrd="0" presId="urn:microsoft.com/office/officeart/2018/2/layout/IconVerticalSolidList"/>
    <dgm:cxn modelId="{CB67A9A7-08E6-4204-8C28-AEAACB47BFC1}" type="presParOf" srcId="{06E3475E-5303-47DB-83F9-740ADAF8A016}" destId="{E9AF0CAD-2454-42E7-B99C-8B17763478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85BB0B-E702-4AC5-9A95-AB8BDB3B77B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4EEAE8B-1EE5-4094-B625-4BCF0D47E255}">
      <dgm:prSet/>
      <dgm:spPr/>
      <dgm:t>
        <a:bodyPr/>
        <a:lstStyle/>
        <a:p>
          <a:r>
            <a:rPr lang="en-US"/>
            <a:t>Disparador: cada PR y cada push a develop o main</a:t>
          </a:r>
        </a:p>
      </dgm:t>
    </dgm:pt>
    <dgm:pt modelId="{980ACF4E-C447-4039-84B1-59A023BE87C2}" type="parTrans" cxnId="{4BECA2A5-1D40-412D-A962-90E6EC08C2D2}">
      <dgm:prSet/>
      <dgm:spPr/>
      <dgm:t>
        <a:bodyPr/>
        <a:lstStyle/>
        <a:p>
          <a:endParaRPr lang="en-US"/>
        </a:p>
      </dgm:t>
    </dgm:pt>
    <dgm:pt modelId="{09A9B077-2AC5-4E34-B0EF-DA59560127F5}" type="sibTrans" cxnId="{4BECA2A5-1D40-412D-A962-90E6EC08C2D2}">
      <dgm:prSet/>
      <dgm:spPr/>
      <dgm:t>
        <a:bodyPr/>
        <a:lstStyle/>
        <a:p>
          <a:endParaRPr lang="en-US"/>
        </a:p>
      </dgm:t>
    </dgm:pt>
    <dgm:pt modelId="{E35E89C8-0702-4C9E-9749-30ED64545676}">
      <dgm:prSet/>
      <dgm:spPr/>
      <dgm:t>
        <a:bodyPr/>
        <a:lstStyle/>
        <a:p>
          <a:r>
            <a:rPr lang="en-US"/>
            <a:t>Jobs: restore -&gt; build -&gt; test -&gt; análisis de SonarQube Cloud</a:t>
          </a:r>
        </a:p>
      </dgm:t>
    </dgm:pt>
    <dgm:pt modelId="{EA65CC8A-F37C-4816-A734-44CB5E5FF45A}" type="parTrans" cxnId="{EEBAB1F9-E65A-47E4-9A93-7234332F9EF2}">
      <dgm:prSet/>
      <dgm:spPr/>
      <dgm:t>
        <a:bodyPr/>
        <a:lstStyle/>
        <a:p>
          <a:endParaRPr lang="en-US"/>
        </a:p>
      </dgm:t>
    </dgm:pt>
    <dgm:pt modelId="{9EE76934-3931-40C6-81B1-68224FCA39E9}" type="sibTrans" cxnId="{EEBAB1F9-E65A-47E4-9A93-7234332F9EF2}">
      <dgm:prSet/>
      <dgm:spPr/>
      <dgm:t>
        <a:bodyPr/>
        <a:lstStyle/>
        <a:p>
          <a:endParaRPr lang="en-US"/>
        </a:p>
      </dgm:t>
    </dgm:pt>
    <dgm:pt modelId="{D8C6D4F9-BD27-4660-9E4E-A689F1B5A8E9}">
      <dgm:prSet/>
      <dgm:spPr/>
      <dgm:t>
        <a:bodyPr/>
        <a:lstStyle/>
        <a:p>
          <a:r>
            <a:rPr lang="en-US"/>
            <a:t>Despliegue: imagen Docker -&gt; Azure Container Apps (Parte III)</a:t>
          </a:r>
        </a:p>
      </dgm:t>
    </dgm:pt>
    <dgm:pt modelId="{C1CCBE8F-CDE6-480E-AA27-BA0D13C6F304}" type="parTrans" cxnId="{9DBB6F48-9148-491C-89F9-D3BD4C9065E8}">
      <dgm:prSet/>
      <dgm:spPr/>
      <dgm:t>
        <a:bodyPr/>
        <a:lstStyle/>
        <a:p>
          <a:endParaRPr lang="en-US"/>
        </a:p>
      </dgm:t>
    </dgm:pt>
    <dgm:pt modelId="{794040C1-2FB4-4D45-8B1C-4F8B247061AD}" type="sibTrans" cxnId="{9DBB6F48-9148-491C-89F9-D3BD4C9065E8}">
      <dgm:prSet/>
      <dgm:spPr/>
      <dgm:t>
        <a:bodyPr/>
        <a:lstStyle/>
        <a:p>
          <a:endParaRPr lang="en-US"/>
        </a:p>
      </dgm:t>
    </dgm:pt>
    <dgm:pt modelId="{F6BDC299-D7BC-43A8-BA15-2D8625F430AE}">
      <dgm:prSet/>
      <dgm:spPr/>
      <dgm:t>
        <a:bodyPr/>
        <a:lstStyle/>
        <a:p>
          <a:r>
            <a:rPr lang="en-US"/>
            <a:t>Secretos (SONAR_TOKEN, Azure): nunca en el YAML</a:t>
          </a:r>
        </a:p>
      </dgm:t>
    </dgm:pt>
    <dgm:pt modelId="{D6B7CF91-1568-4A8B-B24C-455375D960CD}" type="parTrans" cxnId="{889B5338-0A68-4AC9-9094-78F3F191BE63}">
      <dgm:prSet/>
      <dgm:spPr/>
      <dgm:t>
        <a:bodyPr/>
        <a:lstStyle/>
        <a:p>
          <a:endParaRPr lang="en-US"/>
        </a:p>
      </dgm:t>
    </dgm:pt>
    <dgm:pt modelId="{755E1012-C580-4BB0-AE47-6627B1EB1840}" type="sibTrans" cxnId="{889B5338-0A68-4AC9-9094-78F3F191BE63}">
      <dgm:prSet/>
      <dgm:spPr/>
      <dgm:t>
        <a:bodyPr/>
        <a:lstStyle/>
        <a:p>
          <a:endParaRPr lang="en-US"/>
        </a:p>
      </dgm:t>
    </dgm:pt>
    <dgm:pt modelId="{391F2BC3-9F06-4922-9192-2448A61EB0DF}" type="pres">
      <dgm:prSet presAssocID="{DC85BB0B-E702-4AC5-9A95-AB8BDB3B77BF}" presName="linear" presStyleCnt="0">
        <dgm:presLayoutVars>
          <dgm:animLvl val="lvl"/>
          <dgm:resizeHandles val="exact"/>
        </dgm:presLayoutVars>
      </dgm:prSet>
      <dgm:spPr/>
    </dgm:pt>
    <dgm:pt modelId="{E7065C38-A869-4E2C-A9DD-AB3D1978FF8D}" type="pres">
      <dgm:prSet presAssocID="{B4EEAE8B-1EE5-4094-B625-4BCF0D47E2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C01E85F-4BE3-4A0B-B44E-589C0240BDAC}" type="pres">
      <dgm:prSet presAssocID="{09A9B077-2AC5-4E34-B0EF-DA59560127F5}" presName="spacer" presStyleCnt="0"/>
      <dgm:spPr/>
    </dgm:pt>
    <dgm:pt modelId="{2BB149F4-21FE-4B44-A53E-5F8682C5B54C}" type="pres">
      <dgm:prSet presAssocID="{E35E89C8-0702-4C9E-9749-30ED6454567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51F527-0F48-406B-9511-3ECABEB4886D}" type="pres">
      <dgm:prSet presAssocID="{9EE76934-3931-40C6-81B1-68224FCA39E9}" presName="spacer" presStyleCnt="0"/>
      <dgm:spPr/>
    </dgm:pt>
    <dgm:pt modelId="{527AD702-CC14-4B41-A883-D6B8602AA676}" type="pres">
      <dgm:prSet presAssocID="{D8C6D4F9-BD27-4660-9E4E-A689F1B5A8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2F950BC-0DE9-4EC9-A5EA-7CA0015510D6}" type="pres">
      <dgm:prSet presAssocID="{794040C1-2FB4-4D45-8B1C-4F8B247061AD}" presName="spacer" presStyleCnt="0"/>
      <dgm:spPr/>
    </dgm:pt>
    <dgm:pt modelId="{7367A705-55E7-4F8A-A30D-38488261AF6B}" type="pres">
      <dgm:prSet presAssocID="{F6BDC299-D7BC-43A8-BA15-2D8625F430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DF6C17-CAA5-4061-8978-5BFAECCF8D53}" type="presOf" srcId="{B4EEAE8B-1EE5-4094-B625-4BCF0D47E255}" destId="{E7065C38-A869-4E2C-A9DD-AB3D1978FF8D}" srcOrd="0" destOrd="0" presId="urn:microsoft.com/office/officeart/2005/8/layout/vList2"/>
    <dgm:cxn modelId="{889B5338-0A68-4AC9-9094-78F3F191BE63}" srcId="{DC85BB0B-E702-4AC5-9A95-AB8BDB3B77BF}" destId="{F6BDC299-D7BC-43A8-BA15-2D8625F430AE}" srcOrd="3" destOrd="0" parTransId="{D6B7CF91-1568-4A8B-B24C-455375D960CD}" sibTransId="{755E1012-C580-4BB0-AE47-6627B1EB1840}"/>
    <dgm:cxn modelId="{9DBB6F48-9148-491C-89F9-D3BD4C9065E8}" srcId="{DC85BB0B-E702-4AC5-9A95-AB8BDB3B77BF}" destId="{D8C6D4F9-BD27-4660-9E4E-A689F1B5A8E9}" srcOrd="2" destOrd="0" parTransId="{C1CCBE8F-CDE6-480E-AA27-BA0D13C6F304}" sibTransId="{794040C1-2FB4-4D45-8B1C-4F8B247061AD}"/>
    <dgm:cxn modelId="{19B2A66C-4E2C-484D-A830-9A91E48B35B5}" type="presOf" srcId="{F6BDC299-D7BC-43A8-BA15-2D8625F430AE}" destId="{7367A705-55E7-4F8A-A30D-38488261AF6B}" srcOrd="0" destOrd="0" presId="urn:microsoft.com/office/officeart/2005/8/layout/vList2"/>
    <dgm:cxn modelId="{4BECA2A5-1D40-412D-A962-90E6EC08C2D2}" srcId="{DC85BB0B-E702-4AC5-9A95-AB8BDB3B77BF}" destId="{B4EEAE8B-1EE5-4094-B625-4BCF0D47E255}" srcOrd="0" destOrd="0" parTransId="{980ACF4E-C447-4039-84B1-59A023BE87C2}" sibTransId="{09A9B077-2AC5-4E34-B0EF-DA59560127F5}"/>
    <dgm:cxn modelId="{007535C9-BAD4-47E2-9A12-BA1BEC64EF9D}" type="presOf" srcId="{E35E89C8-0702-4C9E-9749-30ED64545676}" destId="{2BB149F4-21FE-4B44-A53E-5F8682C5B54C}" srcOrd="0" destOrd="0" presId="urn:microsoft.com/office/officeart/2005/8/layout/vList2"/>
    <dgm:cxn modelId="{3CA00ACD-D57A-43C7-9B1B-732AA6CD75F9}" type="presOf" srcId="{DC85BB0B-E702-4AC5-9A95-AB8BDB3B77BF}" destId="{391F2BC3-9F06-4922-9192-2448A61EB0DF}" srcOrd="0" destOrd="0" presId="urn:microsoft.com/office/officeart/2005/8/layout/vList2"/>
    <dgm:cxn modelId="{EEBAB1F9-E65A-47E4-9A93-7234332F9EF2}" srcId="{DC85BB0B-E702-4AC5-9A95-AB8BDB3B77BF}" destId="{E35E89C8-0702-4C9E-9749-30ED64545676}" srcOrd="1" destOrd="0" parTransId="{EA65CC8A-F37C-4816-A734-44CB5E5FF45A}" sibTransId="{9EE76934-3931-40C6-81B1-68224FCA39E9}"/>
    <dgm:cxn modelId="{324F33FC-2D84-41D7-BAED-29B58590303B}" type="presOf" srcId="{D8C6D4F9-BD27-4660-9E4E-A689F1B5A8E9}" destId="{527AD702-CC14-4B41-A883-D6B8602AA676}" srcOrd="0" destOrd="0" presId="urn:microsoft.com/office/officeart/2005/8/layout/vList2"/>
    <dgm:cxn modelId="{55C06570-292E-4293-B539-82EEC0E93528}" type="presParOf" srcId="{391F2BC3-9F06-4922-9192-2448A61EB0DF}" destId="{E7065C38-A869-4E2C-A9DD-AB3D1978FF8D}" srcOrd="0" destOrd="0" presId="urn:microsoft.com/office/officeart/2005/8/layout/vList2"/>
    <dgm:cxn modelId="{F728D8C7-E0C2-4A6D-B8D9-E67B7DD6C8C8}" type="presParOf" srcId="{391F2BC3-9F06-4922-9192-2448A61EB0DF}" destId="{8C01E85F-4BE3-4A0B-B44E-589C0240BDAC}" srcOrd="1" destOrd="0" presId="urn:microsoft.com/office/officeart/2005/8/layout/vList2"/>
    <dgm:cxn modelId="{EF0DF8E6-03A1-4568-8097-8FBA96358FA6}" type="presParOf" srcId="{391F2BC3-9F06-4922-9192-2448A61EB0DF}" destId="{2BB149F4-21FE-4B44-A53E-5F8682C5B54C}" srcOrd="2" destOrd="0" presId="urn:microsoft.com/office/officeart/2005/8/layout/vList2"/>
    <dgm:cxn modelId="{F0CDB695-84F7-4515-AA66-A1BF8DD5DD41}" type="presParOf" srcId="{391F2BC3-9F06-4922-9192-2448A61EB0DF}" destId="{1251F527-0F48-406B-9511-3ECABEB4886D}" srcOrd="3" destOrd="0" presId="urn:microsoft.com/office/officeart/2005/8/layout/vList2"/>
    <dgm:cxn modelId="{D98D8770-7DC3-423B-83B3-BF7C357CE990}" type="presParOf" srcId="{391F2BC3-9F06-4922-9192-2448A61EB0DF}" destId="{527AD702-CC14-4B41-A883-D6B8602AA676}" srcOrd="4" destOrd="0" presId="urn:microsoft.com/office/officeart/2005/8/layout/vList2"/>
    <dgm:cxn modelId="{2B77C7D9-583E-4DA6-B003-5992234BC9AD}" type="presParOf" srcId="{391F2BC3-9F06-4922-9192-2448A61EB0DF}" destId="{52F950BC-0DE9-4EC9-A5EA-7CA0015510D6}" srcOrd="5" destOrd="0" presId="urn:microsoft.com/office/officeart/2005/8/layout/vList2"/>
    <dgm:cxn modelId="{ABE56514-9F00-43A4-B260-00BBABA9B4AF}" type="presParOf" srcId="{391F2BC3-9F06-4922-9192-2448A61EB0DF}" destId="{7367A705-55E7-4F8A-A30D-38488261AF6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7806C6C-0D5C-4C5B-9CFC-26E6AEF666F1}" type="doc">
      <dgm:prSet loTypeId="urn:microsoft.com/office/officeart/2005/8/layout/process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F7279B-C026-4318-8A84-BA73C029853E}">
      <dgm:prSet/>
      <dgm:spPr/>
      <dgm:t>
        <a:bodyPr/>
        <a:lstStyle/>
        <a:p>
          <a:r>
            <a:rPr lang="es-ES" b="1" i="0" dirty="0" err="1"/>
            <a:t>Desarrollador</a:t>
          </a:r>
          <a:endParaRPr lang="en-US" dirty="0"/>
        </a:p>
      </dgm:t>
    </dgm:pt>
    <dgm:pt modelId="{ADD2733C-8BF9-46DE-8C96-5AD24E668428}" type="parTrans" cxnId="{2960FD14-ABC4-460E-8961-7DC35E2333BD}">
      <dgm:prSet/>
      <dgm:spPr/>
      <dgm:t>
        <a:bodyPr/>
        <a:lstStyle/>
        <a:p>
          <a:endParaRPr lang="en-US"/>
        </a:p>
      </dgm:t>
    </dgm:pt>
    <dgm:pt modelId="{212BF399-E7E1-484E-8648-F5A3715CE25B}" type="sibTrans" cxnId="{2960FD14-ABC4-460E-8961-7DC35E2333BD}">
      <dgm:prSet/>
      <dgm:spPr/>
      <dgm:t>
        <a:bodyPr/>
        <a:lstStyle/>
        <a:p>
          <a:endParaRPr lang="en-US"/>
        </a:p>
      </dgm:t>
    </dgm:pt>
    <dgm:pt modelId="{BC781DAA-E36E-497A-B81C-DADD959D4BE0}">
      <dgm:prSet/>
      <dgm:spPr/>
      <dgm:t>
        <a:bodyPr/>
        <a:lstStyle/>
        <a:p>
          <a:r>
            <a:rPr lang="es-ES" b="0" i="0" dirty="0"/>
            <a:t>PR</a:t>
          </a:r>
          <a:endParaRPr lang="en-US" dirty="0"/>
        </a:p>
      </dgm:t>
    </dgm:pt>
    <dgm:pt modelId="{74B3D891-BD19-4A0C-940D-96859C1DC188}" type="parTrans" cxnId="{90B492DA-EC98-490C-BB65-48EA15321B5E}">
      <dgm:prSet/>
      <dgm:spPr/>
      <dgm:t>
        <a:bodyPr/>
        <a:lstStyle/>
        <a:p>
          <a:endParaRPr lang="en-US"/>
        </a:p>
      </dgm:t>
    </dgm:pt>
    <dgm:pt modelId="{EF31C86B-97F4-48C9-9132-9FD5F20F83DA}" type="sibTrans" cxnId="{90B492DA-EC98-490C-BB65-48EA15321B5E}">
      <dgm:prSet/>
      <dgm:spPr/>
      <dgm:t>
        <a:bodyPr/>
        <a:lstStyle/>
        <a:p>
          <a:endParaRPr lang="en-US"/>
        </a:p>
      </dgm:t>
    </dgm:pt>
    <dgm:pt modelId="{A0EDA225-FB56-428B-9049-E995C920C8B6}">
      <dgm:prSet/>
      <dgm:spPr/>
      <dgm:t>
        <a:bodyPr/>
        <a:lstStyle/>
        <a:p>
          <a:r>
            <a:rPr lang="es-ES" b="0" i="0" dirty="0"/>
            <a:t>CI</a:t>
          </a:r>
          <a:endParaRPr lang="en-US" dirty="0"/>
        </a:p>
      </dgm:t>
    </dgm:pt>
    <dgm:pt modelId="{24A19594-C60B-46F3-B11A-0081C0E720F3}" type="parTrans" cxnId="{D059FC96-200D-4C8A-B652-E890AB2B7E50}">
      <dgm:prSet/>
      <dgm:spPr/>
      <dgm:t>
        <a:bodyPr/>
        <a:lstStyle/>
        <a:p>
          <a:endParaRPr lang="en-US"/>
        </a:p>
      </dgm:t>
    </dgm:pt>
    <dgm:pt modelId="{0E0FEECF-7A84-40BC-BD61-25A314686707}" type="sibTrans" cxnId="{D059FC96-200D-4C8A-B652-E890AB2B7E50}">
      <dgm:prSet/>
      <dgm:spPr/>
      <dgm:t>
        <a:bodyPr/>
        <a:lstStyle/>
        <a:p>
          <a:endParaRPr lang="en-US"/>
        </a:p>
      </dgm:t>
    </dgm:pt>
    <dgm:pt modelId="{84EB10BE-CD02-41E0-AFAB-05272FD7083A}">
      <dgm:prSet/>
      <dgm:spPr/>
      <dgm:t>
        <a:bodyPr/>
        <a:lstStyle/>
        <a:p>
          <a:r>
            <a:rPr lang="es-ES" b="0" i="0" dirty="0" err="1"/>
            <a:t>Build y tests</a:t>
          </a:r>
          <a:endParaRPr lang="en-US" dirty="0"/>
        </a:p>
      </dgm:t>
    </dgm:pt>
    <dgm:pt modelId="{78671A21-A917-4819-97F3-41EF710580BD}" type="parTrans" cxnId="{FB6F56A3-3E3C-4B2B-A6AA-0194F9C1BA20}">
      <dgm:prSet/>
      <dgm:spPr/>
      <dgm:t>
        <a:bodyPr/>
        <a:lstStyle/>
        <a:p>
          <a:endParaRPr lang="en-US"/>
        </a:p>
      </dgm:t>
    </dgm:pt>
    <dgm:pt modelId="{5E54DD95-5F35-4A7C-9F99-55C8D35A3347}" type="sibTrans" cxnId="{FB6F56A3-3E3C-4B2B-A6AA-0194F9C1BA20}">
      <dgm:prSet/>
      <dgm:spPr/>
      <dgm:t>
        <a:bodyPr/>
        <a:lstStyle/>
        <a:p>
          <a:endParaRPr lang="en-US"/>
        </a:p>
      </dgm:t>
    </dgm:pt>
    <dgm:pt modelId="{D2EADC03-E09E-465E-AB53-3F70E361EBE6}">
      <dgm:prSet/>
      <dgm:spPr/>
      <dgm:t>
        <a:bodyPr/>
        <a:lstStyle/>
        <a:p>
          <a:r>
            <a:rPr lang="es-ES" b="0" i="0" dirty="0"/>
            <a:t>Análisis de Sonar</a:t>
          </a:r>
          <a:endParaRPr lang="en-US" dirty="0"/>
        </a:p>
      </dgm:t>
    </dgm:pt>
    <dgm:pt modelId="{976FF0C8-3A89-478F-A039-691A14FFBB49}" type="parTrans" cxnId="{521F7C53-1EA6-433E-ACB2-97EAEB251C80}">
      <dgm:prSet/>
      <dgm:spPr/>
      <dgm:t>
        <a:bodyPr/>
        <a:lstStyle/>
        <a:p>
          <a:endParaRPr lang="en-US"/>
        </a:p>
      </dgm:t>
    </dgm:pt>
    <dgm:pt modelId="{5A38CBAE-C585-4DEB-9B8F-7348E235A498}" type="sibTrans" cxnId="{521F7C53-1EA6-433E-ACB2-97EAEB251C80}">
      <dgm:prSet/>
      <dgm:spPr/>
      <dgm:t>
        <a:bodyPr/>
        <a:lstStyle/>
        <a:p>
          <a:endParaRPr lang="en-US"/>
        </a:p>
      </dgm:t>
    </dgm:pt>
    <dgm:pt modelId="{DA9B8935-65DF-4860-BA95-D75488692104}">
      <dgm:prSet/>
      <dgm:spPr/>
      <dgm:t>
        <a:bodyPr/>
        <a:lstStyle/>
        <a:p>
          <a:r>
            <a:rPr lang="es-ES" b="1" i="0" dirty="0" err="1"/>
            <a:t>Quality gate</a:t>
          </a:r>
          <a:endParaRPr lang="en-US" dirty="0"/>
        </a:p>
      </dgm:t>
    </dgm:pt>
    <dgm:pt modelId="{E045DE59-9BE7-4077-A61D-F376CE3FBEC5}" type="parTrans" cxnId="{ECA44D32-68C4-45CE-A80E-AA50E189A9FD}">
      <dgm:prSet/>
      <dgm:spPr/>
      <dgm:t>
        <a:bodyPr/>
        <a:lstStyle/>
        <a:p>
          <a:endParaRPr lang="en-US"/>
        </a:p>
      </dgm:t>
    </dgm:pt>
    <dgm:pt modelId="{AF4046A8-5748-4975-BCC7-44BEF23AE746}" type="sibTrans" cxnId="{ECA44D32-68C4-45CE-A80E-AA50E189A9FD}">
      <dgm:prSet/>
      <dgm:spPr/>
      <dgm:t>
        <a:bodyPr/>
        <a:lstStyle/>
        <a:p>
          <a:endParaRPr lang="en-US"/>
        </a:p>
      </dgm:t>
    </dgm:pt>
    <dgm:pt modelId="{AAAD54D6-C11D-40FE-8DA3-2B669822F031}">
      <dgm:prSet/>
      <dgm:spPr/>
      <dgm:t>
        <a:bodyPr/>
        <a:lstStyle/>
        <a:p>
          <a:r>
            <a:rPr lang="es-ES" b="0" i="0" dirty="0" err="1"/>
            <a:t>Merge o rechazo</a:t>
          </a:r>
          <a:endParaRPr lang="en-US" dirty="0"/>
        </a:p>
      </dgm:t>
    </dgm:pt>
    <dgm:pt modelId="{66672A80-59B1-4F26-BBED-30D51B57EBFD}" type="parTrans" cxnId="{1AABB07C-5D60-4539-9FD2-D9E98B3421A1}">
      <dgm:prSet/>
      <dgm:spPr/>
      <dgm:t>
        <a:bodyPr/>
        <a:lstStyle/>
        <a:p>
          <a:endParaRPr lang="en-US"/>
        </a:p>
      </dgm:t>
    </dgm:pt>
    <dgm:pt modelId="{DD3F0ED1-C6B0-44D3-8605-AF34019BF2A2}" type="sibTrans" cxnId="{1AABB07C-5D60-4539-9FD2-D9E98B3421A1}">
      <dgm:prSet/>
      <dgm:spPr/>
      <dgm:t>
        <a:bodyPr/>
        <a:lstStyle/>
        <a:p>
          <a:endParaRPr lang="en-US"/>
        </a:p>
      </dgm:t>
    </dgm:pt>
    <dgm:pt modelId="{158D1C52-9719-4793-893C-85AF98D6C458}" type="pres">
      <dgm:prSet presAssocID="{07806C6C-0D5C-4C5B-9CFC-26E6AEF666F1}" presName="linearFlow" presStyleCnt="0">
        <dgm:presLayoutVars>
          <dgm:resizeHandles val="exact"/>
        </dgm:presLayoutVars>
      </dgm:prSet>
      <dgm:spPr/>
    </dgm:pt>
    <dgm:pt modelId="{F0613C5A-05BA-44EF-AACA-45A711746A9C}" type="pres">
      <dgm:prSet presAssocID="{40F7279B-C026-4318-8A84-BA73C029853E}" presName="node" presStyleLbl="node1" presStyleIdx="0" presStyleCnt="7">
        <dgm:presLayoutVars>
          <dgm:bulletEnabled val="1"/>
        </dgm:presLayoutVars>
      </dgm:prSet>
      <dgm:spPr/>
    </dgm:pt>
    <dgm:pt modelId="{993233AA-2ABE-410A-9DBD-9BFA85A54AC2}" type="pres">
      <dgm:prSet presAssocID="{212BF399-E7E1-484E-8648-F5A3715CE25B}" presName="sibTrans" presStyleLbl="sibTrans2D1" presStyleIdx="0" presStyleCnt="6"/>
      <dgm:spPr/>
    </dgm:pt>
    <dgm:pt modelId="{C8E878EA-9136-4CB3-AA5F-F27DFA77C213}" type="pres">
      <dgm:prSet presAssocID="{212BF399-E7E1-484E-8648-F5A3715CE25B}" presName="connectorText" presStyleLbl="sibTrans2D1" presStyleIdx="0" presStyleCnt="6"/>
      <dgm:spPr/>
    </dgm:pt>
    <dgm:pt modelId="{2961F22E-2EAB-4CA9-8D19-E348526B66AF}" type="pres">
      <dgm:prSet presAssocID="{BC781DAA-E36E-497A-B81C-DADD959D4BE0}" presName="node" presStyleLbl="node1" presStyleIdx="1" presStyleCnt="7">
        <dgm:presLayoutVars>
          <dgm:bulletEnabled val="1"/>
        </dgm:presLayoutVars>
      </dgm:prSet>
      <dgm:spPr/>
    </dgm:pt>
    <dgm:pt modelId="{382B3338-D64C-41C4-BCEA-92536DC23141}" type="pres">
      <dgm:prSet presAssocID="{EF31C86B-97F4-48C9-9132-9FD5F20F83DA}" presName="sibTrans" presStyleLbl="sibTrans2D1" presStyleIdx="1" presStyleCnt="6"/>
      <dgm:spPr/>
    </dgm:pt>
    <dgm:pt modelId="{FB6335E0-0468-4779-8155-297C145E20EB}" type="pres">
      <dgm:prSet presAssocID="{EF31C86B-97F4-48C9-9132-9FD5F20F83DA}" presName="connectorText" presStyleLbl="sibTrans2D1" presStyleIdx="1" presStyleCnt="6"/>
      <dgm:spPr/>
    </dgm:pt>
    <dgm:pt modelId="{C95C51D5-16EA-4060-815D-647E99DF0A77}" type="pres">
      <dgm:prSet presAssocID="{A0EDA225-FB56-428B-9049-E995C920C8B6}" presName="node" presStyleLbl="node1" presStyleIdx="2" presStyleCnt="7">
        <dgm:presLayoutVars>
          <dgm:bulletEnabled val="1"/>
        </dgm:presLayoutVars>
      </dgm:prSet>
      <dgm:spPr/>
    </dgm:pt>
    <dgm:pt modelId="{80BCFA6E-03BB-492D-8BFB-A7203A7A1EB6}" type="pres">
      <dgm:prSet presAssocID="{0E0FEECF-7A84-40BC-BD61-25A314686707}" presName="sibTrans" presStyleLbl="sibTrans2D1" presStyleIdx="2" presStyleCnt="6"/>
      <dgm:spPr/>
    </dgm:pt>
    <dgm:pt modelId="{CE83BBEA-DC9E-4BF9-AC14-D8EAF251439A}" type="pres">
      <dgm:prSet presAssocID="{0E0FEECF-7A84-40BC-BD61-25A314686707}" presName="connectorText" presStyleLbl="sibTrans2D1" presStyleIdx="2" presStyleCnt="6"/>
      <dgm:spPr/>
    </dgm:pt>
    <dgm:pt modelId="{7416E9CA-2754-496B-BC0A-4A0433009FF9}" type="pres">
      <dgm:prSet presAssocID="{84EB10BE-CD02-41E0-AFAB-05272FD7083A}" presName="node" presStyleLbl="node1" presStyleIdx="3" presStyleCnt="7">
        <dgm:presLayoutVars>
          <dgm:bulletEnabled val="1"/>
        </dgm:presLayoutVars>
      </dgm:prSet>
      <dgm:spPr/>
    </dgm:pt>
    <dgm:pt modelId="{895CAA9A-A26E-46BC-8F84-1C0FC7008C47}" type="pres">
      <dgm:prSet presAssocID="{5E54DD95-5F35-4A7C-9F99-55C8D35A3347}" presName="sibTrans" presStyleLbl="sibTrans2D1" presStyleIdx="3" presStyleCnt="6"/>
      <dgm:spPr/>
    </dgm:pt>
    <dgm:pt modelId="{F1CC1371-D66A-44BB-84BA-BE968D450738}" type="pres">
      <dgm:prSet presAssocID="{5E54DD95-5F35-4A7C-9F99-55C8D35A3347}" presName="connectorText" presStyleLbl="sibTrans2D1" presStyleIdx="3" presStyleCnt="6"/>
      <dgm:spPr/>
    </dgm:pt>
    <dgm:pt modelId="{91C687A2-0C61-41A9-A36F-9D29F8203F0E}" type="pres">
      <dgm:prSet presAssocID="{D2EADC03-E09E-465E-AB53-3F70E361EBE6}" presName="node" presStyleLbl="node1" presStyleIdx="4" presStyleCnt="7">
        <dgm:presLayoutVars>
          <dgm:bulletEnabled val="1"/>
        </dgm:presLayoutVars>
      </dgm:prSet>
      <dgm:spPr/>
    </dgm:pt>
    <dgm:pt modelId="{1D7292FE-DE03-45AE-8B0D-582A4464797C}" type="pres">
      <dgm:prSet presAssocID="{5A38CBAE-C585-4DEB-9B8F-7348E235A498}" presName="sibTrans" presStyleLbl="sibTrans2D1" presStyleIdx="4" presStyleCnt="6"/>
      <dgm:spPr/>
    </dgm:pt>
    <dgm:pt modelId="{2AC46C5A-111E-4325-BD90-49F8D5E1425D}" type="pres">
      <dgm:prSet presAssocID="{5A38CBAE-C585-4DEB-9B8F-7348E235A498}" presName="connectorText" presStyleLbl="sibTrans2D1" presStyleIdx="4" presStyleCnt="6"/>
      <dgm:spPr/>
    </dgm:pt>
    <dgm:pt modelId="{C1B0E46C-B3C0-4DC9-88EE-2A48CB52695D}" type="pres">
      <dgm:prSet presAssocID="{DA9B8935-65DF-4860-BA95-D75488692104}" presName="node" presStyleLbl="node1" presStyleIdx="5" presStyleCnt="7">
        <dgm:presLayoutVars>
          <dgm:bulletEnabled val="1"/>
        </dgm:presLayoutVars>
      </dgm:prSet>
      <dgm:spPr/>
    </dgm:pt>
    <dgm:pt modelId="{38399BBF-99A5-47D4-8DA4-A56D0D6F4D21}" type="pres">
      <dgm:prSet presAssocID="{AF4046A8-5748-4975-BCC7-44BEF23AE746}" presName="sibTrans" presStyleLbl="sibTrans2D1" presStyleIdx="5" presStyleCnt="6"/>
      <dgm:spPr/>
    </dgm:pt>
    <dgm:pt modelId="{6F90F908-9E46-4270-B0B3-D21360D978E4}" type="pres">
      <dgm:prSet presAssocID="{AF4046A8-5748-4975-BCC7-44BEF23AE746}" presName="connectorText" presStyleLbl="sibTrans2D1" presStyleIdx="5" presStyleCnt="6"/>
      <dgm:spPr/>
    </dgm:pt>
    <dgm:pt modelId="{E414FAAE-6EED-413C-8241-6B6560D3FA8C}" type="pres">
      <dgm:prSet presAssocID="{AAAD54D6-C11D-40FE-8DA3-2B669822F031}" presName="node" presStyleLbl="node1" presStyleIdx="6" presStyleCnt="7">
        <dgm:presLayoutVars>
          <dgm:bulletEnabled val="1"/>
        </dgm:presLayoutVars>
      </dgm:prSet>
      <dgm:spPr/>
    </dgm:pt>
  </dgm:ptLst>
  <dgm:cxnLst>
    <dgm:cxn modelId="{87283703-0C20-484E-A4AF-33CFC551981D}" type="presOf" srcId="{5A38CBAE-C585-4DEB-9B8F-7348E235A498}" destId="{1D7292FE-DE03-45AE-8B0D-582A4464797C}" srcOrd="0" destOrd="0" presId="urn:microsoft.com/office/officeart/2005/8/layout/process2"/>
    <dgm:cxn modelId="{6EFDDD09-29F4-48EE-BD96-54977395349A}" type="presOf" srcId="{5E54DD95-5F35-4A7C-9F99-55C8D35A3347}" destId="{F1CC1371-D66A-44BB-84BA-BE968D450738}" srcOrd="1" destOrd="0" presId="urn:microsoft.com/office/officeart/2005/8/layout/process2"/>
    <dgm:cxn modelId="{59568712-3067-435C-8A55-308E11D99717}" type="presOf" srcId="{84EB10BE-CD02-41E0-AFAB-05272FD7083A}" destId="{7416E9CA-2754-496B-BC0A-4A0433009FF9}" srcOrd="0" destOrd="0" presId="urn:microsoft.com/office/officeart/2005/8/layout/process2"/>
    <dgm:cxn modelId="{2960FD14-ABC4-460E-8961-7DC35E2333BD}" srcId="{07806C6C-0D5C-4C5B-9CFC-26E6AEF666F1}" destId="{40F7279B-C026-4318-8A84-BA73C029853E}" srcOrd="0" destOrd="0" parTransId="{ADD2733C-8BF9-46DE-8C96-5AD24E668428}" sibTransId="{212BF399-E7E1-484E-8648-F5A3715CE25B}"/>
    <dgm:cxn modelId="{8BFCC931-13E5-4F71-9F54-06D993B4CB86}" type="presOf" srcId="{EF31C86B-97F4-48C9-9132-9FD5F20F83DA}" destId="{FB6335E0-0468-4779-8155-297C145E20EB}" srcOrd="1" destOrd="0" presId="urn:microsoft.com/office/officeart/2005/8/layout/process2"/>
    <dgm:cxn modelId="{ECA44D32-68C4-45CE-A80E-AA50E189A9FD}" srcId="{07806C6C-0D5C-4C5B-9CFC-26E6AEF666F1}" destId="{DA9B8935-65DF-4860-BA95-D75488692104}" srcOrd="5" destOrd="0" parTransId="{E045DE59-9BE7-4077-A61D-F376CE3FBEC5}" sibTransId="{AF4046A8-5748-4975-BCC7-44BEF23AE746}"/>
    <dgm:cxn modelId="{EADA5E35-FA90-453E-B53F-246D85F8F832}" type="presOf" srcId="{AF4046A8-5748-4975-BCC7-44BEF23AE746}" destId="{6F90F908-9E46-4270-B0B3-D21360D978E4}" srcOrd="1" destOrd="0" presId="urn:microsoft.com/office/officeart/2005/8/layout/process2"/>
    <dgm:cxn modelId="{B503753D-F556-4DBA-909C-82C2EDCD83FB}" type="presOf" srcId="{DA9B8935-65DF-4860-BA95-D75488692104}" destId="{C1B0E46C-B3C0-4DC9-88EE-2A48CB52695D}" srcOrd="0" destOrd="0" presId="urn:microsoft.com/office/officeart/2005/8/layout/process2"/>
    <dgm:cxn modelId="{AC848A3D-A73D-4A25-97F6-037A3F3F5A74}" type="presOf" srcId="{5E54DD95-5F35-4A7C-9F99-55C8D35A3347}" destId="{895CAA9A-A26E-46BC-8F84-1C0FC7008C47}" srcOrd="0" destOrd="0" presId="urn:microsoft.com/office/officeart/2005/8/layout/process2"/>
    <dgm:cxn modelId="{FB38C042-7810-45F0-80BF-73275FE1D200}" type="presOf" srcId="{212BF399-E7E1-484E-8648-F5A3715CE25B}" destId="{C8E878EA-9136-4CB3-AA5F-F27DFA77C213}" srcOrd="1" destOrd="0" presId="urn:microsoft.com/office/officeart/2005/8/layout/process2"/>
    <dgm:cxn modelId="{BB65D264-9521-4B4D-B24D-70C207839DEB}" type="presOf" srcId="{0E0FEECF-7A84-40BC-BD61-25A314686707}" destId="{80BCFA6E-03BB-492D-8BFB-A7203A7A1EB6}" srcOrd="0" destOrd="0" presId="urn:microsoft.com/office/officeart/2005/8/layout/process2"/>
    <dgm:cxn modelId="{0BD45468-C27E-4BD6-949F-B8795634AB73}" type="presOf" srcId="{5A38CBAE-C585-4DEB-9B8F-7348E235A498}" destId="{2AC46C5A-111E-4325-BD90-49F8D5E1425D}" srcOrd="1" destOrd="0" presId="urn:microsoft.com/office/officeart/2005/8/layout/process2"/>
    <dgm:cxn modelId="{521F7C53-1EA6-433E-ACB2-97EAEB251C80}" srcId="{07806C6C-0D5C-4C5B-9CFC-26E6AEF666F1}" destId="{D2EADC03-E09E-465E-AB53-3F70E361EBE6}" srcOrd="4" destOrd="0" parTransId="{976FF0C8-3A89-478F-A039-691A14FFBB49}" sibTransId="{5A38CBAE-C585-4DEB-9B8F-7348E235A498}"/>
    <dgm:cxn modelId="{D7FD2356-D5EC-44F7-9294-60EE30BD8889}" type="presOf" srcId="{AF4046A8-5748-4975-BCC7-44BEF23AE746}" destId="{38399BBF-99A5-47D4-8DA4-A56D0D6F4D21}" srcOrd="0" destOrd="0" presId="urn:microsoft.com/office/officeart/2005/8/layout/process2"/>
    <dgm:cxn modelId="{18E9CF56-9C9E-4808-961E-865A3BB356B4}" type="presOf" srcId="{0E0FEECF-7A84-40BC-BD61-25A314686707}" destId="{CE83BBEA-DC9E-4BF9-AC14-D8EAF251439A}" srcOrd="1" destOrd="0" presId="urn:microsoft.com/office/officeart/2005/8/layout/process2"/>
    <dgm:cxn modelId="{3FD1897B-ACFD-4760-AAFA-89EF55030F9F}" type="presOf" srcId="{07806C6C-0D5C-4C5B-9CFC-26E6AEF666F1}" destId="{158D1C52-9719-4793-893C-85AF98D6C458}" srcOrd="0" destOrd="0" presId="urn:microsoft.com/office/officeart/2005/8/layout/process2"/>
    <dgm:cxn modelId="{1AABB07C-5D60-4539-9FD2-D9E98B3421A1}" srcId="{07806C6C-0D5C-4C5B-9CFC-26E6AEF666F1}" destId="{AAAD54D6-C11D-40FE-8DA3-2B669822F031}" srcOrd="6" destOrd="0" parTransId="{66672A80-59B1-4F26-BBED-30D51B57EBFD}" sibTransId="{DD3F0ED1-C6B0-44D3-8605-AF34019BF2A2}"/>
    <dgm:cxn modelId="{C9DBB783-2098-4D21-84CF-A8F5936B0248}" type="presOf" srcId="{AAAD54D6-C11D-40FE-8DA3-2B669822F031}" destId="{E414FAAE-6EED-413C-8241-6B6560D3FA8C}" srcOrd="0" destOrd="0" presId="urn:microsoft.com/office/officeart/2005/8/layout/process2"/>
    <dgm:cxn modelId="{07937D85-3141-4BA1-8481-057228F141D6}" type="presOf" srcId="{A0EDA225-FB56-428B-9049-E995C920C8B6}" destId="{C95C51D5-16EA-4060-815D-647E99DF0A77}" srcOrd="0" destOrd="0" presId="urn:microsoft.com/office/officeart/2005/8/layout/process2"/>
    <dgm:cxn modelId="{D059FC96-200D-4C8A-B652-E890AB2B7E50}" srcId="{07806C6C-0D5C-4C5B-9CFC-26E6AEF666F1}" destId="{A0EDA225-FB56-428B-9049-E995C920C8B6}" srcOrd="2" destOrd="0" parTransId="{24A19594-C60B-46F3-B11A-0081C0E720F3}" sibTransId="{0E0FEECF-7A84-40BC-BD61-25A314686707}"/>
    <dgm:cxn modelId="{FB6F56A3-3E3C-4B2B-A6AA-0194F9C1BA20}" srcId="{07806C6C-0D5C-4C5B-9CFC-26E6AEF666F1}" destId="{84EB10BE-CD02-41E0-AFAB-05272FD7083A}" srcOrd="3" destOrd="0" parTransId="{78671A21-A917-4819-97F3-41EF710580BD}" sibTransId="{5E54DD95-5F35-4A7C-9F99-55C8D35A3347}"/>
    <dgm:cxn modelId="{40AFC5C1-4E60-464E-BC08-61984A4E1FC8}" type="presOf" srcId="{BC781DAA-E36E-497A-B81C-DADD959D4BE0}" destId="{2961F22E-2EAB-4CA9-8D19-E348526B66AF}" srcOrd="0" destOrd="0" presId="urn:microsoft.com/office/officeart/2005/8/layout/process2"/>
    <dgm:cxn modelId="{C0D3E2CF-C451-4FFF-9D94-860E31E86FF0}" type="presOf" srcId="{EF31C86B-97F4-48C9-9132-9FD5F20F83DA}" destId="{382B3338-D64C-41C4-BCEA-92536DC23141}" srcOrd="0" destOrd="0" presId="urn:microsoft.com/office/officeart/2005/8/layout/process2"/>
    <dgm:cxn modelId="{90B492DA-EC98-490C-BB65-48EA15321B5E}" srcId="{07806C6C-0D5C-4C5B-9CFC-26E6AEF666F1}" destId="{BC781DAA-E36E-497A-B81C-DADD959D4BE0}" srcOrd="1" destOrd="0" parTransId="{74B3D891-BD19-4A0C-940D-96859C1DC188}" sibTransId="{EF31C86B-97F4-48C9-9132-9FD5F20F83DA}"/>
    <dgm:cxn modelId="{FC418AE2-C5BC-4F84-B297-8B5DEE1D5DD3}" type="presOf" srcId="{D2EADC03-E09E-465E-AB53-3F70E361EBE6}" destId="{91C687A2-0C61-41A9-A36F-9D29F8203F0E}" srcOrd="0" destOrd="0" presId="urn:microsoft.com/office/officeart/2005/8/layout/process2"/>
    <dgm:cxn modelId="{EE2D5BE3-ACD3-4A35-88FA-B816CC1F2C62}" type="presOf" srcId="{40F7279B-C026-4318-8A84-BA73C029853E}" destId="{F0613C5A-05BA-44EF-AACA-45A711746A9C}" srcOrd="0" destOrd="0" presId="urn:microsoft.com/office/officeart/2005/8/layout/process2"/>
    <dgm:cxn modelId="{429FCDE6-B309-43A3-890A-0010DCCAD223}" type="presOf" srcId="{212BF399-E7E1-484E-8648-F5A3715CE25B}" destId="{993233AA-2ABE-410A-9DBD-9BFA85A54AC2}" srcOrd="0" destOrd="0" presId="urn:microsoft.com/office/officeart/2005/8/layout/process2"/>
    <dgm:cxn modelId="{A0B1B4D9-EB57-4459-800B-879292938322}" type="presParOf" srcId="{158D1C52-9719-4793-893C-85AF98D6C458}" destId="{F0613C5A-05BA-44EF-AACA-45A711746A9C}" srcOrd="0" destOrd="0" presId="urn:microsoft.com/office/officeart/2005/8/layout/process2"/>
    <dgm:cxn modelId="{C6821FBE-3344-4341-94AF-26D0DE7B37C8}" type="presParOf" srcId="{158D1C52-9719-4793-893C-85AF98D6C458}" destId="{993233AA-2ABE-410A-9DBD-9BFA85A54AC2}" srcOrd="1" destOrd="0" presId="urn:microsoft.com/office/officeart/2005/8/layout/process2"/>
    <dgm:cxn modelId="{4662FEFD-1075-4D8B-9499-AEA7923FBD78}" type="presParOf" srcId="{993233AA-2ABE-410A-9DBD-9BFA85A54AC2}" destId="{C8E878EA-9136-4CB3-AA5F-F27DFA77C213}" srcOrd="0" destOrd="0" presId="urn:microsoft.com/office/officeart/2005/8/layout/process2"/>
    <dgm:cxn modelId="{89068DDB-67C6-4ABC-B695-F2B2E5B01281}" type="presParOf" srcId="{158D1C52-9719-4793-893C-85AF98D6C458}" destId="{2961F22E-2EAB-4CA9-8D19-E348526B66AF}" srcOrd="2" destOrd="0" presId="urn:microsoft.com/office/officeart/2005/8/layout/process2"/>
    <dgm:cxn modelId="{28E2DB9E-E20C-4E33-9D0E-DDDCFB758B06}" type="presParOf" srcId="{158D1C52-9719-4793-893C-85AF98D6C458}" destId="{382B3338-D64C-41C4-BCEA-92536DC23141}" srcOrd="3" destOrd="0" presId="urn:microsoft.com/office/officeart/2005/8/layout/process2"/>
    <dgm:cxn modelId="{F7C5A9C6-9C38-49FF-9A7D-205B36A38FC5}" type="presParOf" srcId="{382B3338-D64C-41C4-BCEA-92536DC23141}" destId="{FB6335E0-0468-4779-8155-297C145E20EB}" srcOrd="0" destOrd="0" presId="urn:microsoft.com/office/officeart/2005/8/layout/process2"/>
    <dgm:cxn modelId="{4F8C53EB-E3C9-49E2-BC6E-8C7A5A70C7FD}" type="presParOf" srcId="{158D1C52-9719-4793-893C-85AF98D6C458}" destId="{C95C51D5-16EA-4060-815D-647E99DF0A77}" srcOrd="4" destOrd="0" presId="urn:microsoft.com/office/officeart/2005/8/layout/process2"/>
    <dgm:cxn modelId="{AEAE131E-3107-4BEE-85BE-177BCCA04718}" type="presParOf" srcId="{158D1C52-9719-4793-893C-85AF98D6C458}" destId="{80BCFA6E-03BB-492D-8BFB-A7203A7A1EB6}" srcOrd="5" destOrd="0" presId="urn:microsoft.com/office/officeart/2005/8/layout/process2"/>
    <dgm:cxn modelId="{7B9434A6-D2E2-4C3A-B7A2-8840E611EC2D}" type="presParOf" srcId="{80BCFA6E-03BB-492D-8BFB-A7203A7A1EB6}" destId="{CE83BBEA-DC9E-4BF9-AC14-D8EAF251439A}" srcOrd="0" destOrd="0" presId="urn:microsoft.com/office/officeart/2005/8/layout/process2"/>
    <dgm:cxn modelId="{30EAB891-7B98-4F3C-90B7-15B4BAAF6DC6}" type="presParOf" srcId="{158D1C52-9719-4793-893C-85AF98D6C458}" destId="{7416E9CA-2754-496B-BC0A-4A0433009FF9}" srcOrd="6" destOrd="0" presId="urn:microsoft.com/office/officeart/2005/8/layout/process2"/>
    <dgm:cxn modelId="{7D0CBB1A-1AB4-4C92-A381-BD2919BDB4B7}" type="presParOf" srcId="{158D1C52-9719-4793-893C-85AF98D6C458}" destId="{895CAA9A-A26E-46BC-8F84-1C0FC7008C47}" srcOrd="7" destOrd="0" presId="urn:microsoft.com/office/officeart/2005/8/layout/process2"/>
    <dgm:cxn modelId="{C6AA38A0-262B-4B41-81DC-BD83FEDFE4F0}" type="presParOf" srcId="{895CAA9A-A26E-46BC-8F84-1C0FC7008C47}" destId="{F1CC1371-D66A-44BB-84BA-BE968D450738}" srcOrd="0" destOrd="0" presId="urn:microsoft.com/office/officeart/2005/8/layout/process2"/>
    <dgm:cxn modelId="{10E40E45-B40D-4A46-9830-2E92DC1BAE38}" type="presParOf" srcId="{158D1C52-9719-4793-893C-85AF98D6C458}" destId="{91C687A2-0C61-41A9-A36F-9D29F8203F0E}" srcOrd="8" destOrd="0" presId="urn:microsoft.com/office/officeart/2005/8/layout/process2"/>
    <dgm:cxn modelId="{4BB1EA2D-F869-4E74-8E07-8408717EFF5A}" type="presParOf" srcId="{158D1C52-9719-4793-893C-85AF98D6C458}" destId="{1D7292FE-DE03-45AE-8B0D-582A4464797C}" srcOrd="9" destOrd="0" presId="urn:microsoft.com/office/officeart/2005/8/layout/process2"/>
    <dgm:cxn modelId="{11C6465F-8314-40C5-91ED-DFBAD8FC725A}" type="presParOf" srcId="{1D7292FE-DE03-45AE-8B0D-582A4464797C}" destId="{2AC46C5A-111E-4325-BD90-49F8D5E1425D}" srcOrd="0" destOrd="0" presId="urn:microsoft.com/office/officeart/2005/8/layout/process2"/>
    <dgm:cxn modelId="{86067222-F8B8-4072-96BD-4CC9D3FE6A7F}" type="presParOf" srcId="{158D1C52-9719-4793-893C-85AF98D6C458}" destId="{C1B0E46C-B3C0-4DC9-88EE-2A48CB52695D}" srcOrd="10" destOrd="0" presId="urn:microsoft.com/office/officeart/2005/8/layout/process2"/>
    <dgm:cxn modelId="{63F76F21-A7DE-4AF3-932B-1B5D366CD743}" type="presParOf" srcId="{158D1C52-9719-4793-893C-85AF98D6C458}" destId="{38399BBF-99A5-47D4-8DA4-A56D0D6F4D21}" srcOrd="11" destOrd="0" presId="urn:microsoft.com/office/officeart/2005/8/layout/process2"/>
    <dgm:cxn modelId="{76DF0845-7F97-44AE-8EDC-CBD0CE365FE9}" type="presParOf" srcId="{38399BBF-99A5-47D4-8DA4-A56D0D6F4D21}" destId="{6F90F908-9E46-4270-B0B3-D21360D978E4}" srcOrd="0" destOrd="0" presId="urn:microsoft.com/office/officeart/2005/8/layout/process2"/>
    <dgm:cxn modelId="{F72AF72E-6D57-40E2-8A54-F1D061222081}" type="presParOf" srcId="{158D1C52-9719-4793-893C-85AF98D6C458}" destId="{E414FAAE-6EED-413C-8241-6B6560D3FA8C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9640A4-3CFA-4F83-B0EE-857E6BF38740}" type="doc">
      <dgm:prSet loTypeId="urn:microsoft.com/office/officeart/2005/8/layout/matrix2" loCatId="matrix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F25265A-E5B5-41D3-933E-BCE3FB2D1096}">
      <dgm:prSet/>
      <dgm:spPr/>
      <dgm:t>
        <a:bodyPr/>
        <a:lstStyle/>
        <a:p>
          <a:r>
            <a:rPr lang="en-US"/>
            <a:t>VS Code: dotnet new, extensiones y un paquete NuGet</a:t>
          </a:r>
        </a:p>
      </dgm:t>
    </dgm:pt>
    <dgm:pt modelId="{FF9B9E90-2F99-4E97-B305-14BF2AAA2B1E}" type="parTrans" cxnId="{0CAEFB57-4D0C-4C0A-8B47-063F590DE9E4}">
      <dgm:prSet/>
      <dgm:spPr/>
      <dgm:t>
        <a:bodyPr/>
        <a:lstStyle/>
        <a:p>
          <a:endParaRPr lang="en-US"/>
        </a:p>
      </dgm:t>
    </dgm:pt>
    <dgm:pt modelId="{677E4842-7E79-4CE2-80F8-913F5CF734D4}" type="sibTrans" cxnId="{0CAEFB57-4D0C-4C0A-8B47-063F590DE9E4}">
      <dgm:prSet/>
      <dgm:spPr/>
      <dgm:t>
        <a:bodyPr/>
        <a:lstStyle/>
        <a:p>
          <a:endParaRPr lang="en-US"/>
        </a:p>
      </dgm:t>
    </dgm:pt>
    <dgm:pt modelId="{D120AF2C-786D-4AE9-A8DE-0DB9300F67BA}">
      <dgm:prSet/>
      <dgm:spPr/>
      <dgm:t>
        <a:bodyPr/>
        <a:lstStyle/>
        <a:p>
          <a:r>
            <a:rPr lang="en-US"/>
            <a:t>Docker Desktop: SQL Server en un contenedor (demo)</a:t>
          </a:r>
        </a:p>
      </dgm:t>
    </dgm:pt>
    <dgm:pt modelId="{491BB4AF-8DB1-4983-B3B3-DB22ECBE5C7B}" type="parTrans" cxnId="{A547BE0D-D32F-49DE-A175-57F7B6914622}">
      <dgm:prSet/>
      <dgm:spPr/>
      <dgm:t>
        <a:bodyPr/>
        <a:lstStyle/>
        <a:p>
          <a:endParaRPr lang="en-US"/>
        </a:p>
      </dgm:t>
    </dgm:pt>
    <dgm:pt modelId="{8352F2D9-2219-4BD4-B9A2-BF6ACA385F23}" type="sibTrans" cxnId="{A547BE0D-D32F-49DE-A175-57F7B6914622}">
      <dgm:prSet/>
      <dgm:spPr/>
      <dgm:t>
        <a:bodyPr/>
        <a:lstStyle/>
        <a:p>
          <a:endParaRPr lang="en-US"/>
        </a:p>
      </dgm:t>
    </dgm:pt>
    <dgm:pt modelId="{C6FAEAF7-102A-4EC4-A467-557ECD825432}">
      <dgm:prSet/>
      <dgm:spPr/>
      <dgm:t>
        <a:bodyPr/>
        <a:lstStyle/>
        <a:p>
          <a:r>
            <a:rPr lang="en-US"/>
            <a:t>Extensión mssql o SSMS: conectar y ejecutar consultas</a:t>
          </a:r>
        </a:p>
      </dgm:t>
    </dgm:pt>
    <dgm:pt modelId="{939B81E3-8DBB-491C-A8B4-B8927D58947F}" type="parTrans" cxnId="{343E35F3-F1BB-4C28-AEE4-F14814103A0C}">
      <dgm:prSet/>
      <dgm:spPr/>
      <dgm:t>
        <a:bodyPr/>
        <a:lstStyle/>
        <a:p>
          <a:endParaRPr lang="en-US"/>
        </a:p>
      </dgm:t>
    </dgm:pt>
    <dgm:pt modelId="{C5486287-2BAE-4382-9EB0-03CDA17955F6}" type="sibTrans" cxnId="{343E35F3-F1BB-4C28-AEE4-F14814103A0C}">
      <dgm:prSet/>
      <dgm:spPr/>
      <dgm:t>
        <a:bodyPr/>
        <a:lstStyle/>
        <a:p>
          <a:endParaRPr lang="en-US"/>
        </a:p>
      </dgm:t>
    </dgm:pt>
    <dgm:pt modelId="{06E6225E-FB75-4757-B7F4-5477C8749778}">
      <dgm:prSet/>
      <dgm:spPr/>
      <dgm:t>
        <a:bodyPr/>
        <a:lstStyle/>
        <a:p>
          <a:r>
            <a:rPr lang="en-US"/>
            <a:t>GitHub Actions: build + tests + SonarQube Cloud</a:t>
          </a:r>
        </a:p>
      </dgm:t>
    </dgm:pt>
    <dgm:pt modelId="{0909A8A4-1DB3-4FAB-8C02-73177A5445F3}" type="parTrans" cxnId="{2C1F773E-A76A-43C2-B091-7BE9610D1739}">
      <dgm:prSet/>
      <dgm:spPr/>
      <dgm:t>
        <a:bodyPr/>
        <a:lstStyle/>
        <a:p>
          <a:endParaRPr lang="en-US"/>
        </a:p>
      </dgm:t>
    </dgm:pt>
    <dgm:pt modelId="{563B9F71-9887-4499-8377-64BF0AA0844D}" type="sibTrans" cxnId="{2C1F773E-A76A-43C2-B091-7BE9610D1739}">
      <dgm:prSet/>
      <dgm:spPr/>
      <dgm:t>
        <a:bodyPr/>
        <a:lstStyle/>
        <a:p>
          <a:endParaRPr lang="en-US"/>
        </a:p>
      </dgm:t>
    </dgm:pt>
    <dgm:pt modelId="{79B6191F-6498-4663-B4CE-A6B4B4928F12}" type="pres">
      <dgm:prSet presAssocID="{039640A4-3CFA-4F83-B0EE-857E6BF38740}" presName="matrix" presStyleCnt="0">
        <dgm:presLayoutVars>
          <dgm:chMax val="1"/>
          <dgm:dir/>
          <dgm:resizeHandles val="exact"/>
        </dgm:presLayoutVars>
      </dgm:prSet>
      <dgm:spPr/>
    </dgm:pt>
    <dgm:pt modelId="{2B803526-7925-44D6-8364-A13CF91F951C}" type="pres">
      <dgm:prSet presAssocID="{039640A4-3CFA-4F83-B0EE-857E6BF38740}" presName="axisShape" presStyleLbl="bgShp" presStyleIdx="0" presStyleCnt="1"/>
      <dgm:spPr/>
    </dgm:pt>
    <dgm:pt modelId="{61220F06-4E64-43C4-A49F-D67CE846F03F}" type="pres">
      <dgm:prSet presAssocID="{039640A4-3CFA-4F83-B0EE-857E6BF38740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8804495-C3CB-410F-9B96-9774303C25C9}" type="pres">
      <dgm:prSet presAssocID="{039640A4-3CFA-4F83-B0EE-857E6BF38740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F8F8E20-8708-4C2C-8005-CBD329F0194A}" type="pres">
      <dgm:prSet presAssocID="{039640A4-3CFA-4F83-B0EE-857E6BF38740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9E602D3-C2E0-4811-8A14-AE44723F7D54}" type="pres">
      <dgm:prSet presAssocID="{039640A4-3CFA-4F83-B0EE-857E6BF38740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547BE0D-D32F-49DE-A175-57F7B6914622}" srcId="{039640A4-3CFA-4F83-B0EE-857E6BF38740}" destId="{D120AF2C-786D-4AE9-A8DE-0DB9300F67BA}" srcOrd="1" destOrd="0" parTransId="{491BB4AF-8DB1-4983-B3B3-DB22ECBE5C7B}" sibTransId="{8352F2D9-2219-4BD4-B9A2-BF6ACA385F23}"/>
    <dgm:cxn modelId="{5CBA4230-61EB-451F-8FF0-127001750CD2}" type="presOf" srcId="{D120AF2C-786D-4AE9-A8DE-0DB9300F67BA}" destId="{68804495-C3CB-410F-9B96-9774303C25C9}" srcOrd="0" destOrd="0" presId="urn:microsoft.com/office/officeart/2005/8/layout/matrix2"/>
    <dgm:cxn modelId="{2C1F773E-A76A-43C2-B091-7BE9610D1739}" srcId="{039640A4-3CFA-4F83-B0EE-857E6BF38740}" destId="{06E6225E-FB75-4757-B7F4-5477C8749778}" srcOrd="3" destOrd="0" parTransId="{0909A8A4-1DB3-4FAB-8C02-73177A5445F3}" sibTransId="{563B9F71-9887-4499-8377-64BF0AA0844D}"/>
    <dgm:cxn modelId="{37219163-B13D-4E02-8ECC-E5D98F56743A}" type="presOf" srcId="{C6FAEAF7-102A-4EC4-A467-557ECD825432}" destId="{AF8F8E20-8708-4C2C-8005-CBD329F0194A}" srcOrd="0" destOrd="0" presId="urn:microsoft.com/office/officeart/2005/8/layout/matrix2"/>
    <dgm:cxn modelId="{0CAEFB57-4D0C-4C0A-8B47-063F590DE9E4}" srcId="{039640A4-3CFA-4F83-B0EE-857E6BF38740}" destId="{0F25265A-E5B5-41D3-933E-BCE3FB2D1096}" srcOrd="0" destOrd="0" parTransId="{FF9B9E90-2F99-4E97-B305-14BF2AAA2B1E}" sibTransId="{677E4842-7E79-4CE2-80F8-913F5CF734D4}"/>
    <dgm:cxn modelId="{9DEF1D7C-0B3B-4EE9-A9E4-16EDCCC14AED}" type="presOf" srcId="{06E6225E-FB75-4757-B7F4-5477C8749778}" destId="{F9E602D3-C2E0-4811-8A14-AE44723F7D54}" srcOrd="0" destOrd="0" presId="urn:microsoft.com/office/officeart/2005/8/layout/matrix2"/>
    <dgm:cxn modelId="{93D836BF-5217-41F3-B82C-211730F7CE39}" type="presOf" srcId="{039640A4-3CFA-4F83-B0EE-857E6BF38740}" destId="{79B6191F-6498-4663-B4CE-A6B4B4928F12}" srcOrd="0" destOrd="0" presId="urn:microsoft.com/office/officeart/2005/8/layout/matrix2"/>
    <dgm:cxn modelId="{3587DAC7-7CA6-4423-A2EB-9888C656383E}" type="presOf" srcId="{0F25265A-E5B5-41D3-933E-BCE3FB2D1096}" destId="{61220F06-4E64-43C4-A49F-D67CE846F03F}" srcOrd="0" destOrd="0" presId="urn:microsoft.com/office/officeart/2005/8/layout/matrix2"/>
    <dgm:cxn modelId="{343E35F3-F1BB-4C28-AEE4-F14814103A0C}" srcId="{039640A4-3CFA-4F83-B0EE-857E6BF38740}" destId="{C6FAEAF7-102A-4EC4-A467-557ECD825432}" srcOrd="2" destOrd="0" parTransId="{939B81E3-8DBB-491C-A8B4-B8927D58947F}" sibTransId="{C5486287-2BAE-4382-9EB0-03CDA17955F6}"/>
    <dgm:cxn modelId="{33F603F3-679C-452C-A3AD-6D9EF78D4706}" type="presParOf" srcId="{79B6191F-6498-4663-B4CE-A6B4B4928F12}" destId="{2B803526-7925-44D6-8364-A13CF91F951C}" srcOrd="0" destOrd="0" presId="urn:microsoft.com/office/officeart/2005/8/layout/matrix2"/>
    <dgm:cxn modelId="{64EFBF94-86FA-4F83-B052-125024AEBDF3}" type="presParOf" srcId="{79B6191F-6498-4663-B4CE-A6B4B4928F12}" destId="{61220F06-4E64-43C4-A49F-D67CE846F03F}" srcOrd="1" destOrd="0" presId="urn:microsoft.com/office/officeart/2005/8/layout/matrix2"/>
    <dgm:cxn modelId="{3A0BBC42-2A06-43CF-9D1B-5ED38D518865}" type="presParOf" srcId="{79B6191F-6498-4663-B4CE-A6B4B4928F12}" destId="{68804495-C3CB-410F-9B96-9774303C25C9}" srcOrd="2" destOrd="0" presId="urn:microsoft.com/office/officeart/2005/8/layout/matrix2"/>
    <dgm:cxn modelId="{8EA10C52-14A0-4BC4-85B9-319316AAA870}" type="presParOf" srcId="{79B6191F-6498-4663-B4CE-A6B4B4928F12}" destId="{AF8F8E20-8708-4C2C-8005-CBD329F0194A}" srcOrd="3" destOrd="0" presId="urn:microsoft.com/office/officeart/2005/8/layout/matrix2"/>
    <dgm:cxn modelId="{46F3F574-DF98-44D8-AE10-0870B1EEE6E1}" type="presParOf" srcId="{79B6191F-6498-4663-B4CE-A6B4B4928F12}" destId="{F9E602D3-C2E0-4811-8A14-AE44723F7D54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818E4-9505-4641-BED2-0F174302EAE8}">
      <dsp:nvSpPr>
        <dsp:cNvPr id="0" name=""/>
        <dsp:cNvSpPr/>
      </dsp:nvSpPr>
      <dsp:spPr>
        <a:xfrm>
          <a:off x="0" y="2288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7E632B-AF39-43AC-A496-B6E25BDF3763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9C758-E559-4EB8-AC53-89067DD762C2}">
      <dsp:nvSpPr>
        <dsp:cNvPr id="0" name=""/>
        <dsp:cNvSpPr/>
      </dsp:nvSpPr>
      <dsp:spPr>
        <a:xfrm>
          <a:off x="1339618" y="2288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Comprender</a:t>
          </a:r>
          <a:r>
            <a:rPr lang="en-US" sz="2100" kern="1200" dirty="0"/>
            <a:t> la </a:t>
          </a:r>
          <a:r>
            <a:rPr lang="en-US" sz="2100" kern="1200" dirty="0" err="1"/>
            <a:t>evolución</a:t>
          </a:r>
          <a:r>
            <a:rPr lang="en-US" sz="2100" kern="1200" dirty="0"/>
            <a:t> del </a:t>
          </a:r>
          <a:r>
            <a:rPr lang="en-US" sz="2100" kern="1200" dirty="0" err="1"/>
            <a:t>ecosistema</a:t>
          </a:r>
          <a:r>
            <a:rPr lang="en-US" sz="2100" kern="1200" dirty="0"/>
            <a:t> .NET y </a:t>
          </a:r>
          <a:r>
            <a:rPr lang="en-US" sz="2100" kern="1200" dirty="0" err="1"/>
            <a:t>su</a:t>
          </a:r>
          <a:r>
            <a:rPr lang="en-US" sz="2100" kern="1200" dirty="0"/>
            <a:t> </a:t>
          </a:r>
          <a:r>
            <a:rPr lang="en-US" sz="2100" kern="1200" dirty="0" err="1"/>
            <a:t>estado</a:t>
          </a:r>
          <a:r>
            <a:rPr lang="en-US" sz="2100" kern="1200" dirty="0"/>
            <a:t> actual (.NET 10).</a:t>
          </a:r>
        </a:p>
      </dsp:txBody>
      <dsp:txXfrm>
        <a:off x="1339618" y="2288"/>
        <a:ext cx="5022948" cy="1159843"/>
      </dsp:txXfrm>
    </dsp:sp>
    <dsp:sp modelId="{4BB58B6F-7E61-4A5C-80DC-611CBC9C6B9E}">
      <dsp:nvSpPr>
        <dsp:cNvPr id="0" name=""/>
        <dsp:cNvSpPr/>
      </dsp:nvSpPr>
      <dsp:spPr>
        <a:xfrm>
          <a:off x="0" y="1452092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B1BA3-AA2D-4AFD-9DDC-F3A1A907C25E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0D892-CA4C-4337-98F2-5C45E5F0022F}">
      <dsp:nvSpPr>
        <dsp:cNvPr id="0" name=""/>
        <dsp:cNvSpPr/>
      </dsp:nvSpPr>
      <dsp:spPr>
        <a:xfrm>
          <a:off x="1339618" y="1452092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Conocer</a:t>
          </a:r>
          <a:r>
            <a:rPr lang="en-US" sz="2100" kern="1200" dirty="0"/>
            <a:t> las </a:t>
          </a:r>
          <a:r>
            <a:rPr lang="en-US" sz="2100" kern="1200" dirty="0" err="1"/>
            <a:t>herramientas</a:t>
          </a:r>
          <a:r>
            <a:rPr lang="en-US" sz="2100" kern="1200" dirty="0"/>
            <a:t>: VS Code, Visual Studio, Docker, SQL Server, Azure.</a:t>
          </a:r>
        </a:p>
      </dsp:txBody>
      <dsp:txXfrm>
        <a:off x="1339618" y="1452092"/>
        <a:ext cx="5022948" cy="1159843"/>
      </dsp:txXfrm>
    </dsp:sp>
    <dsp:sp modelId="{2FF9A159-DCB8-4D03-B05C-4439153712AD}">
      <dsp:nvSpPr>
        <dsp:cNvPr id="0" name=""/>
        <dsp:cNvSpPr/>
      </dsp:nvSpPr>
      <dsp:spPr>
        <a:xfrm>
          <a:off x="0" y="2901896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B1624-3954-4C6C-8D12-33B2C96BDE34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10DEE-2C84-4C8B-A369-55243F5EA4DE}">
      <dsp:nvSpPr>
        <dsp:cNvPr id="0" name=""/>
        <dsp:cNvSpPr/>
      </dsp:nvSpPr>
      <dsp:spPr>
        <a:xfrm>
          <a:off x="1339618" y="2901896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Conocer</a:t>
          </a:r>
          <a:r>
            <a:rPr lang="en-US" sz="2100" kern="1200" dirty="0"/>
            <a:t> el </a:t>
          </a:r>
          <a:r>
            <a:rPr lang="en-US" sz="2100" kern="1200" dirty="0" err="1"/>
            <a:t>flujo</a:t>
          </a:r>
          <a:r>
            <a:rPr lang="en-US" sz="2100" kern="1200" dirty="0"/>
            <a:t> de </a:t>
          </a:r>
          <a:r>
            <a:rPr lang="en-US" sz="2100" kern="1200" dirty="0" err="1"/>
            <a:t>trabajo</a:t>
          </a:r>
          <a:r>
            <a:rPr lang="en-US" sz="2100" kern="1200" dirty="0"/>
            <a:t>: </a:t>
          </a:r>
          <a:r>
            <a:rPr lang="en-US" sz="2100" kern="1200" dirty="0" err="1"/>
            <a:t>ramas</a:t>
          </a:r>
          <a:r>
            <a:rPr lang="en-US" sz="2100" kern="1200" dirty="0"/>
            <a:t>, PR, CI/CD y SonarQube Cloud.</a:t>
          </a:r>
        </a:p>
      </dsp:txBody>
      <dsp:txXfrm>
        <a:off x="1339618" y="2901896"/>
        <a:ext cx="5022948" cy="1159843"/>
      </dsp:txXfrm>
    </dsp:sp>
    <dsp:sp modelId="{5E651074-A2EF-4343-A804-42D4A7117625}">
      <dsp:nvSpPr>
        <dsp:cNvPr id="0" name=""/>
        <dsp:cNvSpPr/>
      </dsp:nvSpPr>
      <dsp:spPr>
        <a:xfrm>
          <a:off x="0" y="4351700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39D974-DBA2-4796-8A67-EB4953758434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F0CAD-2454-42E7-B99C-8B1776347842}">
      <dsp:nvSpPr>
        <dsp:cNvPr id="0" name=""/>
        <dsp:cNvSpPr/>
      </dsp:nvSpPr>
      <dsp:spPr>
        <a:xfrm>
          <a:off x="1339618" y="4351700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Usar la IA con </a:t>
          </a:r>
          <a:r>
            <a:rPr lang="en-US" sz="2100" kern="1200" dirty="0" err="1"/>
            <a:t>criterio</a:t>
          </a:r>
          <a:r>
            <a:rPr lang="en-US" sz="2100" kern="1200" dirty="0"/>
            <a:t> y </a:t>
          </a:r>
          <a:r>
            <a:rPr lang="en-US" sz="2100" kern="1200" dirty="0" err="1"/>
            <a:t>arrancar</a:t>
          </a:r>
          <a:r>
            <a:rPr lang="en-US" sz="2100" kern="1200" dirty="0"/>
            <a:t> el </a:t>
          </a:r>
          <a:r>
            <a:rPr lang="en-US" sz="2100" kern="1200" dirty="0" err="1"/>
            <a:t>reto</a:t>
          </a:r>
          <a:r>
            <a:rPr lang="en-US" sz="2100" kern="1200" dirty="0"/>
            <a:t> </a:t>
          </a:r>
          <a:r>
            <a:rPr lang="en-US" sz="2100" kern="1200" dirty="0" err="1"/>
            <a:t>CourtConnect</a:t>
          </a:r>
          <a:r>
            <a:rPr lang="en-US" sz="2100" kern="1200" dirty="0"/>
            <a:t>.</a:t>
          </a:r>
        </a:p>
      </dsp:txBody>
      <dsp:txXfrm>
        <a:off x="1339618" y="4351700"/>
        <a:ext cx="5022948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65C38-A869-4E2C-A9DD-AB3D1978FF8D}">
      <dsp:nvSpPr>
        <dsp:cNvPr id="0" name=""/>
        <dsp:cNvSpPr/>
      </dsp:nvSpPr>
      <dsp:spPr>
        <a:xfrm>
          <a:off x="0" y="9030"/>
          <a:ext cx="6898715" cy="131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Disparador: cada PR y cada push a develop o main</a:t>
          </a:r>
        </a:p>
      </dsp:txBody>
      <dsp:txXfrm>
        <a:off x="63968" y="72998"/>
        <a:ext cx="6770779" cy="1182464"/>
      </dsp:txXfrm>
    </dsp:sp>
    <dsp:sp modelId="{2BB149F4-21FE-4B44-A53E-5F8682C5B54C}">
      <dsp:nvSpPr>
        <dsp:cNvPr id="0" name=""/>
        <dsp:cNvSpPr/>
      </dsp:nvSpPr>
      <dsp:spPr>
        <a:xfrm>
          <a:off x="0" y="1411590"/>
          <a:ext cx="6898715" cy="1310400"/>
        </a:xfrm>
        <a:prstGeom prst="roundRect">
          <a:avLst/>
        </a:prstGeom>
        <a:solidFill>
          <a:schemeClr val="accent2">
            <a:hueOff val="-5580992"/>
            <a:satOff val="9683"/>
            <a:lumOff val="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Jobs: restore -&gt; build -&gt; test -&gt; análisis de SonarQube Cloud</a:t>
          </a:r>
        </a:p>
      </dsp:txBody>
      <dsp:txXfrm>
        <a:off x="63968" y="1475558"/>
        <a:ext cx="6770779" cy="1182464"/>
      </dsp:txXfrm>
    </dsp:sp>
    <dsp:sp modelId="{527AD702-CC14-4B41-A883-D6B8602AA676}">
      <dsp:nvSpPr>
        <dsp:cNvPr id="0" name=""/>
        <dsp:cNvSpPr/>
      </dsp:nvSpPr>
      <dsp:spPr>
        <a:xfrm>
          <a:off x="0" y="2814150"/>
          <a:ext cx="6898715" cy="1310400"/>
        </a:xfrm>
        <a:prstGeom prst="roundRect">
          <a:avLst/>
        </a:prstGeom>
        <a:solidFill>
          <a:schemeClr val="accent2">
            <a:hueOff val="-11161983"/>
            <a:satOff val="19367"/>
            <a:lumOff val="1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Despliegue: imagen Docker -&gt; Azure Container Apps (Parte III)</a:t>
          </a:r>
        </a:p>
      </dsp:txBody>
      <dsp:txXfrm>
        <a:off x="63968" y="2878118"/>
        <a:ext cx="6770779" cy="1182464"/>
      </dsp:txXfrm>
    </dsp:sp>
    <dsp:sp modelId="{7367A705-55E7-4F8A-A30D-38488261AF6B}">
      <dsp:nvSpPr>
        <dsp:cNvPr id="0" name=""/>
        <dsp:cNvSpPr/>
      </dsp:nvSpPr>
      <dsp:spPr>
        <a:xfrm>
          <a:off x="0" y="4216710"/>
          <a:ext cx="6898715" cy="1310400"/>
        </a:xfrm>
        <a:prstGeom prst="roundRect">
          <a:avLst/>
        </a:prstGeom>
        <a:solidFill>
          <a:schemeClr val="accent2">
            <a:hueOff val="-16742974"/>
            <a:satOff val="29050"/>
            <a:lumOff val="2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Secretos (SONAR_TOKEN, Azure): nunca en el YAML</a:t>
          </a:r>
        </a:p>
      </dsp:txBody>
      <dsp:txXfrm>
        <a:off x="63968" y="4280678"/>
        <a:ext cx="6770779" cy="11824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613C5A-05BA-44EF-AACA-45A711746A9C}">
      <dsp:nvSpPr>
        <dsp:cNvPr id="0" name=""/>
        <dsp:cNvSpPr/>
      </dsp:nvSpPr>
      <dsp:spPr>
        <a:xfrm>
          <a:off x="1690164" y="447"/>
          <a:ext cx="1451215" cy="3663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i="0" kern="1200" dirty="0" err="1"/>
            <a:t>Desarrollador</a:t>
          </a:r>
          <a:endParaRPr lang="en-US" sz="1300" kern="1200" dirty="0"/>
        </a:p>
      </dsp:txBody>
      <dsp:txXfrm>
        <a:off x="1700894" y="11177"/>
        <a:ext cx="1429755" cy="344885"/>
      </dsp:txXfrm>
    </dsp:sp>
    <dsp:sp modelId="{993233AA-2ABE-410A-9DBD-9BFA85A54AC2}">
      <dsp:nvSpPr>
        <dsp:cNvPr id="0" name=""/>
        <dsp:cNvSpPr/>
      </dsp:nvSpPr>
      <dsp:spPr>
        <a:xfrm rot="5400000">
          <a:off x="2347082" y="375951"/>
          <a:ext cx="137379" cy="164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366315" y="389689"/>
        <a:ext cx="98913" cy="96165"/>
      </dsp:txXfrm>
    </dsp:sp>
    <dsp:sp modelId="{2961F22E-2EAB-4CA9-8D19-E348526B66AF}">
      <dsp:nvSpPr>
        <dsp:cNvPr id="0" name=""/>
        <dsp:cNvSpPr/>
      </dsp:nvSpPr>
      <dsp:spPr>
        <a:xfrm>
          <a:off x="1690164" y="549965"/>
          <a:ext cx="1451215" cy="366345"/>
        </a:xfrm>
        <a:prstGeom prst="roundRect">
          <a:avLst>
            <a:gd name="adj" fmla="val 10000"/>
          </a:avLst>
        </a:prstGeom>
        <a:solidFill>
          <a:schemeClr val="accent2">
            <a:hueOff val="-2790496"/>
            <a:satOff val="4842"/>
            <a:lumOff val="3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i="0" kern="1200" dirty="0"/>
            <a:t>PR</a:t>
          </a:r>
          <a:endParaRPr lang="en-US" sz="1300" kern="1200" dirty="0"/>
        </a:p>
      </dsp:txBody>
      <dsp:txXfrm>
        <a:off x="1700894" y="560695"/>
        <a:ext cx="1429755" cy="344885"/>
      </dsp:txXfrm>
    </dsp:sp>
    <dsp:sp modelId="{382B3338-D64C-41C4-BCEA-92536DC23141}">
      <dsp:nvSpPr>
        <dsp:cNvPr id="0" name=""/>
        <dsp:cNvSpPr/>
      </dsp:nvSpPr>
      <dsp:spPr>
        <a:xfrm rot="5400000">
          <a:off x="2347082" y="925470"/>
          <a:ext cx="137379" cy="164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3348595"/>
            <a:satOff val="5810"/>
            <a:lumOff val="4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366315" y="939208"/>
        <a:ext cx="98913" cy="96165"/>
      </dsp:txXfrm>
    </dsp:sp>
    <dsp:sp modelId="{C95C51D5-16EA-4060-815D-647E99DF0A77}">
      <dsp:nvSpPr>
        <dsp:cNvPr id="0" name=""/>
        <dsp:cNvSpPr/>
      </dsp:nvSpPr>
      <dsp:spPr>
        <a:xfrm>
          <a:off x="1690164" y="1099484"/>
          <a:ext cx="1451215" cy="366345"/>
        </a:xfrm>
        <a:prstGeom prst="roundRect">
          <a:avLst>
            <a:gd name="adj" fmla="val 10000"/>
          </a:avLst>
        </a:prstGeom>
        <a:solidFill>
          <a:schemeClr val="accent2">
            <a:hueOff val="-5580992"/>
            <a:satOff val="9683"/>
            <a:lumOff val="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i="0" kern="1200" dirty="0"/>
            <a:t>CI</a:t>
          </a:r>
          <a:endParaRPr lang="en-US" sz="1300" kern="1200" dirty="0"/>
        </a:p>
      </dsp:txBody>
      <dsp:txXfrm>
        <a:off x="1700894" y="1110214"/>
        <a:ext cx="1429755" cy="344885"/>
      </dsp:txXfrm>
    </dsp:sp>
    <dsp:sp modelId="{80BCFA6E-03BB-492D-8BFB-A7203A7A1EB6}">
      <dsp:nvSpPr>
        <dsp:cNvPr id="0" name=""/>
        <dsp:cNvSpPr/>
      </dsp:nvSpPr>
      <dsp:spPr>
        <a:xfrm rot="5400000">
          <a:off x="2347082" y="1474988"/>
          <a:ext cx="137379" cy="164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6697190"/>
            <a:satOff val="11620"/>
            <a:lumOff val="8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366315" y="1488726"/>
        <a:ext cx="98913" cy="96165"/>
      </dsp:txXfrm>
    </dsp:sp>
    <dsp:sp modelId="{7416E9CA-2754-496B-BC0A-4A0433009FF9}">
      <dsp:nvSpPr>
        <dsp:cNvPr id="0" name=""/>
        <dsp:cNvSpPr/>
      </dsp:nvSpPr>
      <dsp:spPr>
        <a:xfrm>
          <a:off x="1690164" y="1649002"/>
          <a:ext cx="1451215" cy="366345"/>
        </a:xfrm>
        <a:prstGeom prst="roundRect">
          <a:avLst>
            <a:gd name="adj" fmla="val 10000"/>
          </a:avLst>
        </a:prstGeom>
        <a:solidFill>
          <a:schemeClr val="accent2">
            <a:hueOff val="-8371487"/>
            <a:satOff val="14525"/>
            <a:lumOff val="10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i="0" kern="1200" dirty="0" err="1"/>
            <a:t>Build y tests</a:t>
          </a:r>
          <a:endParaRPr lang="en-US" sz="1300" kern="1200" dirty="0"/>
        </a:p>
      </dsp:txBody>
      <dsp:txXfrm>
        <a:off x="1700894" y="1659732"/>
        <a:ext cx="1429755" cy="344885"/>
      </dsp:txXfrm>
    </dsp:sp>
    <dsp:sp modelId="{895CAA9A-A26E-46BC-8F84-1C0FC7008C47}">
      <dsp:nvSpPr>
        <dsp:cNvPr id="0" name=""/>
        <dsp:cNvSpPr/>
      </dsp:nvSpPr>
      <dsp:spPr>
        <a:xfrm rot="5400000">
          <a:off x="2347082" y="2024506"/>
          <a:ext cx="137379" cy="164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0045785"/>
            <a:satOff val="17430"/>
            <a:lumOff val="1305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366315" y="2038244"/>
        <a:ext cx="98913" cy="96165"/>
      </dsp:txXfrm>
    </dsp:sp>
    <dsp:sp modelId="{91C687A2-0C61-41A9-A36F-9D29F8203F0E}">
      <dsp:nvSpPr>
        <dsp:cNvPr id="0" name=""/>
        <dsp:cNvSpPr/>
      </dsp:nvSpPr>
      <dsp:spPr>
        <a:xfrm>
          <a:off x="1690164" y="2198521"/>
          <a:ext cx="1451215" cy="366345"/>
        </a:xfrm>
        <a:prstGeom prst="roundRect">
          <a:avLst>
            <a:gd name="adj" fmla="val 10000"/>
          </a:avLst>
        </a:prstGeom>
        <a:solidFill>
          <a:schemeClr val="accent2">
            <a:hueOff val="-11161983"/>
            <a:satOff val="19367"/>
            <a:lumOff val="1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i="0" kern="1200" dirty="0"/>
            <a:t>Análisis de Sonar</a:t>
          </a:r>
          <a:endParaRPr lang="en-US" sz="1300" kern="1200" dirty="0"/>
        </a:p>
      </dsp:txBody>
      <dsp:txXfrm>
        <a:off x="1700894" y="2209251"/>
        <a:ext cx="1429755" cy="344885"/>
      </dsp:txXfrm>
    </dsp:sp>
    <dsp:sp modelId="{1D7292FE-DE03-45AE-8B0D-582A4464797C}">
      <dsp:nvSpPr>
        <dsp:cNvPr id="0" name=""/>
        <dsp:cNvSpPr/>
      </dsp:nvSpPr>
      <dsp:spPr>
        <a:xfrm rot="5400000">
          <a:off x="2347082" y="2574025"/>
          <a:ext cx="137379" cy="164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3394379"/>
            <a:satOff val="23240"/>
            <a:lumOff val="1741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366315" y="2587763"/>
        <a:ext cx="98913" cy="96165"/>
      </dsp:txXfrm>
    </dsp:sp>
    <dsp:sp modelId="{C1B0E46C-B3C0-4DC9-88EE-2A48CB52695D}">
      <dsp:nvSpPr>
        <dsp:cNvPr id="0" name=""/>
        <dsp:cNvSpPr/>
      </dsp:nvSpPr>
      <dsp:spPr>
        <a:xfrm>
          <a:off x="1690164" y="2748039"/>
          <a:ext cx="1451215" cy="366345"/>
        </a:xfrm>
        <a:prstGeom prst="roundRect">
          <a:avLst>
            <a:gd name="adj" fmla="val 10000"/>
          </a:avLst>
        </a:prstGeom>
        <a:solidFill>
          <a:schemeClr val="accent2">
            <a:hueOff val="-13952477"/>
            <a:satOff val="24208"/>
            <a:lumOff val="18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1" i="0" kern="1200" dirty="0" err="1"/>
            <a:t>Quality gate</a:t>
          </a:r>
          <a:endParaRPr lang="en-US" sz="1300" kern="1200" dirty="0"/>
        </a:p>
      </dsp:txBody>
      <dsp:txXfrm>
        <a:off x="1700894" y="2758769"/>
        <a:ext cx="1429755" cy="344885"/>
      </dsp:txXfrm>
    </dsp:sp>
    <dsp:sp modelId="{38399BBF-99A5-47D4-8DA4-A56D0D6F4D21}">
      <dsp:nvSpPr>
        <dsp:cNvPr id="0" name=""/>
        <dsp:cNvSpPr/>
      </dsp:nvSpPr>
      <dsp:spPr>
        <a:xfrm rot="5400000">
          <a:off x="2347082" y="3123543"/>
          <a:ext cx="137379" cy="164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6742974"/>
            <a:satOff val="29050"/>
            <a:lumOff val="2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 rot="-5400000">
        <a:off x="2366315" y="3137281"/>
        <a:ext cx="98913" cy="96165"/>
      </dsp:txXfrm>
    </dsp:sp>
    <dsp:sp modelId="{E414FAAE-6EED-413C-8241-6B6560D3FA8C}">
      <dsp:nvSpPr>
        <dsp:cNvPr id="0" name=""/>
        <dsp:cNvSpPr/>
      </dsp:nvSpPr>
      <dsp:spPr>
        <a:xfrm>
          <a:off x="1690164" y="3297558"/>
          <a:ext cx="1451215" cy="366345"/>
        </a:xfrm>
        <a:prstGeom prst="roundRect">
          <a:avLst>
            <a:gd name="adj" fmla="val 10000"/>
          </a:avLst>
        </a:prstGeom>
        <a:solidFill>
          <a:schemeClr val="accent2">
            <a:hueOff val="-16742974"/>
            <a:satOff val="29050"/>
            <a:lumOff val="2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b="0" i="0" kern="1200" dirty="0" err="1"/>
            <a:t>Merge o rechazo</a:t>
          </a:r>
          <a:endParaRPr lang="en-US" sz="1300" kern="1200" dirty="0"/>
        </a:p>
      </dsp:txBody>
      <dsp:txXfrm>
        <a:off x="1700894" y="3308288"/>
        <a:ext cx="1429755" cy="3448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03526-7925-44D6-8364-A13CF91F951C}">
      <dsp:nvSpPr>
        <dsp:cNvPr id="0" name=""/>
        <dsp:cNvSpPr/>
      </dsp:nvSpPr>
      <dsp:spPr>
        <a:xfrm>
          <a:off x="424367" y="0"/>
          <a:ext cx="5513832" cy="5513832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20F06-4E64-43C4-A49F-D67CE846F03F}">
      <dsp:nvSpPr>
        <dsp:cNvPr id="0" name=""/>
        <dsp:cNvSpPr/>
      </dsp:nvSpPr>
      <dsp:spPr>
        <a:xfrm>
          <a:off x="782766" y="358399"/>
          <a:ext cx="2205532" cy="220553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VS Code: dotnet new, extensiones y un paquete NuGet</a:t>
          </a:r>
        </a:p>
      </dsp:txBody>
      <dsp:txXfrm>
        <a:off x="890431" y="466064"/>
        <a:ext cx="1990202" cy="1990202"/>
      </dsp:txXfrm>
    </dsp:sp>
    <dsp:sp modelId="{68804495-C3CB-410F-9B96-9774303C25C9}">
      <dsp:nvSpPr>
        <dsp:cNvPr id="0" name=""/>
        <dsp:cNvSpPr/>
      </dsp:nvSpPr>
      <dsp:spPr>
        <a:xfrm>
          <a:off x="3374267" y="358399"/>
          <a:ext cx="2205532" cy="2205532"/>
        </a:xfrm>
        <a:prstGeom prst="roundRect">
          <a:avLst/>
        </a:prstGeom>
        <a:solidFill>
          <a:schemeClr val="accent5">
            <a:hueOff val="-6673337"/>
            <a:satOff val="5061"/>
            <a:lumOff val="22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Docker Desktop: SQL Server en un contenedor (demo)</a:t>
          </a:r>
        </a:p>
      </dsp:txBody>
      <dsp:txXfrm>
        <a:off x="3481932" y="466064"/>
        <a:ext cx="1990202" cy="1990202"/>
      </dsp:txXfrm>
    </dsp:sp>
    <dsp:sp modelId="{AF8F8E20-8708-4C2C-8005-CBD329F0194A}">
      <dsp:nvSpPr>
        <dsp:cNvPr id="0" name=""/>
        <dsp:cNvSpPr/>
      </dsp:nvSpPr>
      <dsp:spPr>
        <a:xfrm>
          <a:off x="782766" y="2949900"/>
          <a:ext cx="2205532" cy="2205532"/>
        </a:xfrm>
        <a:prstGeom prst="roundRect">
          <a:avLst/>
        </a:prstGeom>
        <a:solidFill>
          <a:schemeClr val="accent5">
            <a:hueOff val="-13346674"/>
            <a:satOff val="10123"/>
            <a:lumOff val="457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Extensión mssql o SSMS: conectar y ejecutar consultas</a:t>
          </a:r>
        </a:p>
      </dsp:txBody>
      <dsp:txXfrm>
        <a:off x="890431" y="3057565"/>
        <a:ext cx="1990202" cy="1990202"/>
      </dsp:txXfrm>
    </dsp:sp>
    <dsp:sp modelId="{F9E602D3-C2E0-4811-8A14-AE44723F7D54}">
      <dsp:nvSpPr>
        <dsp:cNvPr id="0" name=""/>
        <dsp:cNvSpPr/>
      </dsp:nvSpPr>
      <dsp:spPr>
        <a:xfrm>
          <a:off x="3374267" y="2949900"/>
          <a:ext cx="2205532" cy="2205532"/>
        </a:xfrm>
        <a:prstGeom prst="roundRect">
          <a:avLst/>
        </a:prstGeom>
        <a:solidFill>
          <a:schemeClr val="accent5">
            <a:hueOff val="-20020010"/>
            <a:satOff val="15184"/>
            <a:lumOff val="6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GitHub Actions: build + tests + SonarQube Cloud</a:t>
          </a:r>
        </a:p>
      </dsp:txBody>
      <dsp:txXfrm>
        <a:off x="3481932" y="3057565"/>
        <a:ext cx="1990202" cy="1990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931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 de la sesión:</a:t>
            </a:r>
          </a:p>
          <a:p>
            <a:r>
              <a:t>- Dar una visión general del ecosistema .NET y de cómo vamos a trabajar.</a:t>
            </a:r>
          </a:p>
          <a:p>
            <a:r>
              <a:t>- Presentar el uso de la IA en el reto y el propio reto CourtConnect.</a:t>
            </a:r>
          </a:p>
          <a:p>
            <a:r>
              <a:t>- Es un mapa: arquitectura, contenedores e IA se verán a fondo en masterclasses específicas.</a:t>
            </a:r>
          </a:p>
          <a:p>
            <a:endParaRPr/>
          </a:p>
          <a:p>
            <a:r>
              <a:t>Consejo: empezar enseñando el repo de formación y el plan del reto para situar al alumno.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Objetivos prácticos: al terminar, Driss sabe qué piezas hay, cómo se trabaja en el equipo (ramas, PR, CI, calidad), cómo usar la IA con criterio y qué tiene que hacer en el Día 1 del reto.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demo tiene su diapositiva justo después de la teoría que la sostiene, con los pasos, qué observar y la preparación en las notas.</a:t>
            </a:r>
          </a:p>
          <a:p>
            <a:r>
              <a:t>Pedir a Driss que tome notas y que añada al glosario los términos nuevos.</a:t>
            </a:r>
          </a:p>
          <a:p>
            <a:r>
              <a:t>No hacer en directo nada que resuelva ejercicios del reto: las demos 2, 3 y 4 con un repo o un proyecto de prueba, no con CourtConnect.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Puntos clave:</a:t>
            </a:r>
          </a:p>
          <a:p>
            <a:r>
              <a:t>- .NET Framework: solo Windows, maduro, muy presente en empresas (legacy). La 4.8.x sigue con el soporte de Windows.</a:t>
            </a:r>
          </a:p>
          <a:p>
            <a:r>
              <a:t>- .NET Core (2016): modular, multiplataforma, mucho más rápido.</a:t>
            </a:r>
          </a:p>
          <a:p>
            <a:r>
              <a:t>- .NET 5 (2020) unifica la plataforma; desde entonces, una versión nueva cada noviembre.</a:t>
            </a:r>
          </a:p>
          <a:p>
            <a:r>
              <a:t>- Versiones pares: LTS. Impares: STS. .NET 10 (noviembre de 2025) es LTS y es la de las partes I y II del reto; la Parte III empieza migrando a .NET 11.</a:t>
            </a:r>
          </a:p>
          <a:p>
            <a:r>
              <a:t>- .NET Conf 2026 (10–13 de noviembre) es el lanzamiento oficial de .NET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Datos de la política oficial de soporte de .NET, consultada el 29/10/2026.</a:t>
            </a:r>
          </a:p>
          <a:p>
            <a:r>
              <a:t>- .NET 8 (LTS) y .NET 9 (STS) terminan soporte el 10/11/2026.</a:t>
            </a:r>
          </a:p>
          <a:p>
            <a:r>
              <a:t>- .NET 10 (LTS) hasta el 14/11/2028.</a:t>
            </a:r>
          </a:p>
          <a:p>
            <a:r>
              <a:t>- .NET 11 (STS) se lanza en .NET Conf 2026 (10–13 de noviembre): buen momento para enseñar las novedades.</a:t>
            </a:r>
          </a:p>
          <a:p>
            <a:r>
              <a:t>Idea para Driss: en un proyecto de cliente se elige LTS para no tener que migrar cada año.</a:t>
            </a:r>
          </a:p>
          <a:p>
            <a:r>
              <a:t>En el reto: partes I y II en .NET 10; la Parte III migra a .NET 11 (STS, ahora con 24 meses de soporte) para usar TempData y sesión en Static SSR en el asistente de inscripción del equipo.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Para cada tecnología, un ejemplo de uso y cuándo elegirla.</a:t>
            </a:r>
          </a:p>
          <a:p>
            <a:r>
              <a:t>- En el reto: Minimal APIs, EF Core, Blazor Web App (Static SSR + Interactive Server).</a:t>
            </a:r>
          </a:p>
          <a:p>
            <a:r>
              <a:t>- WebForms, WCF y jQuery son legacy, pero aparecen en empresas.</a:t>
            </a:r>
          </a:p>
          <a:p>
            <a:r>
              <a:t>- Xamarin dejó de tener soporte en mayo de 2024; su sucesor es .NET MAUI.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Pros y contras:</a:t>
            </a:r>
          </a:p>
          <a:p>
            <a:r>
              <a:t>- On-premise: control total, más coste operativo, típico de aplicaciones legacy.</a:t>
            </a:r>
          </a:p>
          <a:p>
            <a:r>
              <a:t>- App Service (PaaS): no gestionas infraestructura, escalado automático.</a:t>
            </a:r>
          </a:p>
          <a:p>
            <a:r>
              <a:t>- Container Apps: portabilidad de los contenedores sin la complejidad de Kubernetes. Es lo que usaremos en la Parte III del reto, con Azure SQL.</a:t>
            </a:r>
          </a:p>
          <a:p>
            <a:r>
              <a:t>- AKS: Kubernetes gestionado; no lo necesitamos.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Duración orientativa: 8 minutos.</a:t>
            </a:r>
          </a:p>
          <a:p>
            <a:r>
              <a:t>Preparación:</a:t>
            </a:r>
          </a:p>
          <a:p>
            <a:r>
              <a:t>- Suscripción de pruebas con un grupo de recursos de ejemplo creado antes, sin datos reales.</a:t>
            </a:r>
          </a:p>
          <a:p>
            <a:r>
              <a:t>- No crear recursos de pago en directo; si se crea algo, borrarlo al terminar.</a:t>
            </a:r>
          </a:p>
          <a:p>
            <a:r>
              <a:t>Qué contar:</a:t>
            </a:r>
          </a:p>
          <a:p>
            <a:r>
              <a:t>- Container Apps: entorno, apps, revisiones, ingress y escalado a cero.</a:t>
            </a:r>
          </a:p>
          <a:p>
            <a:r>
              <a:t>- Azure SQL: servidor lógico y base de datos; la oferta gratuita con la opción de pausarse al llegar al límite.</a:t>
            </a:r>
          </a:p>
          <a:p>
            <a:r>
              <a:t>- Key Vault e identidad gestionada: la app lee secretos sin contraseñas en el código.</a:t>
            </a:r>
          </a:p>
          <a:p>
            <a:r>
              <a:t>- Cost Management y alertas de presupuesto.</a:t>
            </a:r>
          </a:p>
          <a:p>
            <a:r>
              <a:t>El despliegue de CourtConnect llega en la Parte III (ejercicio 4), después de la masterclass de contenedores, Aspire y Azure.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Flujo de trabajo del equipo:</a:t>
            </a:r>
          </a:p>
          <a:p>
            <a:r>
              <a:t>1. Issue con la tarea.</a:t>
            </a:r>
          </a:p>
          <a:p>
            <a:r>
              <a:t>2. Rama corta (feature/, fix/, docs/).</a:t>
            </a:r>
          </a:p>
          <a:p>
            <a:r>
              <a:t>3. PR con Qué / Por qué / Cómo se ha comprobado / Uso de IA.</a:t>
            </a:r>
          </a:p>
          <a:p>
            <a:r>
              <a:t>4. La CI ejecuta build, tests y análisis de SonarQube Cloud.</a:t>
            </a:r>
          </a:p>
          <a:p>
            <a:r>
              <a:t>5. Revisión y merge.</a:t>
            </a:r>
          </a:p>
          <a:p>
            <a:endParaRPr/>
          </a:p>
          <a:p>
            <a:r>
              <a:t>Mientras no hay nada en producción, las ramas cortas van directas a main (así empieza el reto).</a:t>
            </a:r>
          </a:p>
          <a:p>
            <a:r>
              <a:t>Cuando hay código en producción, se separa el desarrollo en curso de lo productivo: feature/ → develop (rama de integración de la iteración) → main (versión en producción, etiquetada). Es una versión simplificada de Git flow; los hotfix salen de main y vuelven a develop.</a:t>
            </a:r>
          </a:p>
          <a:p>
            <a:r>
              <a:t>Los nombres pueden variar (integration en lugar de develop), la idea es la misma: el repo de formación ya lo hace con drissbego/integration.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Enseñar el workflow YAML: disparadores (pull_request y push a las ramas principales: main y, con código en producción, develop), un job con restore, build, test y análisis.</a:t>
            </a:r>
          </a:p>
          <a:p>
            <a:r>
              <a:t>- La versión del SDK sale del global.json (setup-dotnet con global-json-file).</a:t>
            </a:r>
          </a:p>
          <a:p>
            <a:r>
              <a:t>- Secretos y variables del repo: nunca en el YAML.</a:t>
            </a:r>
          </a:p>
          <a:p>
            <a:r>
              <a:t>- El despliegue a Azure Container Apps llega en la Parte 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Duración orientativa: 6 minutos.</a:t>
            </a:r>
          </a:p>
          <a:p>
            <a:r>
              <a:t>Preparación: un repo de prueba con un proyecto, un test y el workflow (de modelo, .github/workflows/build.yml de este repo), y un ruleset en main con el check obligatorio. Rama de prueba con el cambio ya hecha.</a:t>
            </a:r>
          </a:p>
          <a:p>
            <a:r>
              <a:t>No usar court-connect: la CI es el ejercicio 4 de la Parte I.</a:t>
            </a:r>
          </a:p>
          <a:p>
            <a:r>
              <a:t>Enseñar dónde están los secretos: Settings → Secrets and variables → Actions.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Quality gate «Sonar way» sobre el código nuevo; la demo 3 (siguiente diapositiva) lo enseña en SonarQube Cloud (antes SonarCloud).</a:t>
            </a:r>
          </a:p>
          <a:p>
            <a:r>
              <a:t>- En el reto el gate es bloqueante y son DOS checks: el job de la CI y «SonarCloud Code Analysis». La Action en verde no basta.</a:t>
            </a:r>
          </a:p>
          <a:p>
            <a:r>
              <a:t>- SonarQube for IDE (antes SonarLint) en VS Code para arreglar issues mientras se escribe.</a:t>
            </a:r>
          </a:p>
          <a:p>
            <a:r>
              <a:t>- Detalle en docs/court-connect/calidad.md.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Duración orientativa: 6 minutos.</a:t>
            </a:r>
          </a:p>
          <a:p>
            <a:r>
              <a:t>Preparación: un proyecto ya analizado en SonarQube Cloud con algún issue y algún hotspot (sirve el repo de prueba de la demo 2).</a:t>
            </a:r>
          </a:p>
          <a:p>
            <a:r>
              <a:t>Driss tiene que haber entrado una vez con su cuenta de GitHub para que le den de alta en la organización.</a:t>
            </a:r>
          </a:p>
          <a:p>
            <a:r>
              <a:t>Umbrales y cómo cumplirlos: docs/court-connect/calidad.md.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Estos puntos son los riesgos que aparecen en el PR trampa del final del reto: secreto en la configuración, IDOR (ver o cambiar datos de otro), datos personales en los logs, dependencia con problemas, consultas N+1, pago no idempotente y tests sin aserciones.</a:t>
            </a:r>
          </a:p>
          <a:p>
            <a:r>
              <a:t>La seguridad a fondo se verá en el proyecto real.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Herramienta principal: VS Code con C# Dev Kit (extensiones recomendadas en .vscode/extensions.json). Visual Studio como alternativa.</a:t>
            </a:r>
          </a:p>
          <a:p>
            <a:r>
              <a:t>La demo 4 (siguiente diapositiva) lo enseña: dotnet new, un paquete NuGet y, si da tiempo, SQL Server en Docker con la extensión mssql o SSMS.</a:t>
            </a:r>
          </a:p>
          <a:p>
            <a:r>
              <a:t>El recorrido por Azure es la demo 1 y la CI, la demo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Duración orientativa: 10 minutos.</a:t>
            </a:r>
          </a:p>
          <a:p>
            <a:r>
              <a:t>Preparación: Docker Desktop arrancado y la imagen mcr.microsoft.com/mssql/server:2022-latest descargada antes (ocupa más de 1 GB).</a:t>
            </a:r>
          </a:p>
          <a:p>
            <a:r>
              <a:t>Ejemplo: docker run -e "ACCEPT_EULA=Y" -e "MSSQL_SA_PASSWORD=&lt;contraseña de prueba&gt;" -p 1433:1433 --name sql-demo -d mcr.microsoft.com/mssql/server:2022-latest</a:t>
            </a:r>
          </a:p>
          <a:p>
            <a:r>
              <a:t>Al terminar: docker stop sql-demo y docker rm sql-demo.</a:t>
            </a:r>
          </a:p>
          <a:p>
            <a:r>
              <a:t>Proyecto de prueba, nunca CourtConnect: SQL Server en Docker con volumen es el ejercicio 2 de la Parte I.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Bloque nuevo: cómo usamos la IA en el reto, qué son los tokens, cómo escribir buenos prompts y una primera idea de agentes, MCP, RAG y SDD. La masterclass de IA lo verá a fondo.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Insistir: el objetivo del reto es que Driss pueda supervisar código generado por IA. Por eso primero lo hace él.</a:t>
            </a:r>
          </a:p>
          <a:p>
            <a:r>
              <a:t>Enseñar el AGENTS.md de la plantilla (docs/court-connect/plantilla-repo/AGENTS.md) y la sección «Estilo de C#».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rápida: escribir la misma pregunta con y sin contexto innecesario y comparar el consumo.</a:t>
            </a:r>
          </a:p>
          <a:p>
            <a:r>
              <a:t>Relación con el piloto SDD: en la Parte III se mide el consumo por fase (docs/court-connect/sdd-piloto.md).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Referencias: guía de prompts de GitHub Copilot y guía de prompts de Claude (enlaces en Recursos).</a:t>
            </a:r>
          </a:p>
          <a:p>
            <a:r>
              <a:t>Ejemplo: comparar «hazme los tests» con un prompt que da contexto, casos a cubrir, framework (xUnit, [Theory]) y criterio de terminado.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ejemplo está fuera del reto a propósito, para no resolver ningún ejercicio.</a:t>
            </a:r>
          </a:p>
          <a:p>
            <a:r>
              <a:t>Idea: hacerlo en directo con Claude (Cowork) para generar el prompt y con Copilot para ejecutarlo, y comparar el consumo de cada paso.</a:t>
            </a:r>
          </a:p>
          <a:p>
            <a:r>
              <a:t>Preparación: rama de prueba en un repo de prueba; Copilot (modo agente) y Claude Code abiertos.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Solo definiciones y para qué sirven en el reto. En la masterclass de IA: cómo funcionan, cómo configurar servidores MCP en VS Code y riesgos (inyección de prompts, permisos).</a:t>
            </a:r>
          </a:p>
          <a:p>
            <a:r>
              <a:t>Fuente MCP: modelcontextprotocol.io.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Curso de referencia: módulo de Microsoft Learn «Implementación del desarrollo Spec-Driven mediante GitHub Spec Kit».</a:t>
            </a:r>
          </a:p>
          <a:p>
            <a:r>
              <a:t>La herramienta del piloto (Claude Code o Copilot) se decide al final de la Parte II.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53668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CourtConnect no es un producto real: es el dominio sobre el que se practica. Driss juega al baloncesto callejero, así que es usuario del dominio y puede hablar con su grupo (descubrimiento con usuarios reales).</a:t>
            </a:r>
          </a:p>
          <a:p>
            <a:r>
              <a:t>La pregunta de todo el reto: ¿puede supervisar código .NET generado por una IA en estas tecnologías?</a:t>
            </a:r>
          </a:p>
          <a:p>
            <a:r>
              <a:t>Fuentes: docs/court-connect/Readme.md, reto/Parte1/README.md y docs/court-connect/calendario.md.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plan va en días relativos: docs/court-connect/calendario.md guarda la fecha real de cada día.</a:t>
            </a:r>
          </a:p>
          <a:p>
            <a:r>
              <a:t>Enunciados en reto/Parte1, Parte2 y Parte3; el código en el repo DeemSoft/court-connect, que Driss crea el Día 1.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Enseñar en directo cada sitio: el repo de formación (enunciados y material), el repo court-connect que crea el Día 1 y los canales de Discord.</a:t>
            </a:r>
          </a:p>
          <a:p>
            <a:r>
              <a:t>Insistir en que las decisiones y lo aprendido se guardan en el repo (domain.md, retro, glosario), no en el chat.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 el ciclo de cada ejercicio; la demo 6 (siguiente diapositiva) lo enseña en GitHub.</a:t>
            </a:r>
          </a:p>
          <a:p>
            <a:r>
              <a:t>- «Antes de empezar» (30 min a 1 h): conceptos nuevos para el glosario y una lectura corta (los enlaces están en cada enunciado).</a:t>
            </a:r>
          </a:p>
          <a:p>
            <a:r>
              <a:t>- Issues y milestones: docs/court-connect/issues-reto.md. Driss crea a mano la issue del ejercicio 1.</a:t>
            </a:r>
          </a:p>
          <a:p>
            <a:r>
              <a:t>- Al abrir el PR, pide a la IA su versión y anota las diferencias en «Comparación con IA».</a:t>
            </a:r>
          </a:p>
          <a:p>
            <a:r>
              <a:t>- Dos checks obligatorios en cada PR: la CI y «SonarCloud Code Analysis».</a:t>
            </a:r>
          </a:p>
          <a:p>
            <a:r>
              <a:t>- Desde la Parte III: feature/* → develop con squash; release develop → main con merge commit y etiqueta.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Duración orientativa: 8 minutos.</a:t>
            </a:r>
          </a:p>
          <a:p>
            <a:r>
              <a:t>Preparación: un repo de prueba con las plantillas de .github/ de este repo (ISSUE_TEMPLATE y pull_request_template.md), una issue y un PR de ejemplo con algún comentario.</a:t>
            </a:r>
          </a:p>
          <a:p>
            <a:r>
              <a:t>No crear court-connect en directo: es la primera tarea de Driss el Día 1, con la checklist de docs/court-connect/plantilla-repo/README.md.</a:t>
            </a:r>
          </a:p>
          <a:p>
            <a:r>
              <a:t>Las issues del reto están en docs/court-connect/issues-reto.md: Driss crea a mano la del ejercicio 1 y el resto se crean después con gh.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Reglas completas en reto/Parte1/README.md (las partes II y III las heredan).</a:t>
            </a:r>
          </a:p>
          <a:p>
            <a:r>
              <a:t>Orden de recorte de cada parte:</a:t>
            </a:r>
          </a:p>
          <a:p>
            <a:r>
              <a:t>- Parte I: Extra → tests de integración más allá del mínimo → endpoints de alta de canchas y partidos.</a:t>
            </a:r>
          </a:p>
          <a:p>
            <a:r>
              <a:t>- Parte II: Extra → tests de componentes más allá del mínimo → edición de partidos en el panel.</a:t>
            </a:r>
          </a:p>
          <a:p>
            <a:r>
              <a:t>- Parte III: Extra → ejercicio 3 (segunda funcionalidad SDD) → ejercicio 4 (despliegue).</a:t>
            </a:r>
          </a:p>
          <a:p>
            <a:r>
              <a:t>Lo que no se recorta también está en cada README; en la Parte III, la primera funcionalidad SDD con sus métricas.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Formación que acompaña al reto, ejercicio a ejercicio (enlaces en la sección «Antes de empezar» de cada enunciado y en Recursos):</a:t>
            </a:r>
          </a:p>
          <a:p>
            <a:r>
              <a:t>- Parte I: records (Ej. 1), módulo de Learn de EF Core con API mínima y Docker (Ej. 2), tutorial de API mínima (Ej. 3), introducción a GitHub Actions (Ej. 4), calidad.md (Ej. 5).</a:t>
            </a:r>
          </a:p>
          <a:p>
            <a:r>
              <a:t>- Parte II: ruta de Learn de Blazor, módulos «Introducción al desarrollo web con Blazor», «Compilación de su primera aplicación web con Blazor» y «Creación de componentes reutilizables con Blazor», y modos de render (Ej. 1); Identity para API web, autorización por roles y políticas y OWASP A01 (Ej. 2); Docker Compose (Ej. 4); módulo de Learn «Implementación del desarrollo Spec-Driven mediante GitHub Spec Kit» el Día 16 (Ej. 5).</a:t>
            </a:r>
          </a:p>
          <a:p>
            <a:r>
              <a:t>- Parte III: Spec Kit en la práctica; slices y BackgroundService (masterclass de arquitectura); Container Apps, Azure SQL, Key Vault e identidad gestionada (masterclass de contenedores, Aspire y Azure).</a:t>
            </a:r>
          </a:p>
          <a:p>
            <a:r>
              <a:t>Las masterclasses solo se hacen si hay tema (docs/court-connect/calendario.md).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Criterios completos en docs/court-connect/evaluacion.md.</a:t>
            </a:r>
          </a:p>
          <a:p>
            <a:r>
              <a:t>- Yamel completa la rúbrica en cada demo a partir de las preguntas de «explícame esta pieza». Tecnologías: Git y PR, dominio y xUnit, EF Core, SQL Server, API e inyección de dependencias, tests de integración, GitHub Actions, SonarCloud; después Blazor, Identity, Docker; al final SDD, slices y BackgroundService, Azure; y vocabulario profesional.</a:t>
            </a:r>
          </a:p>
          <a:p>
            <a:r>
              <a:t>- PR trampa: defectos de tipos como dependencia cautiva, IDOR, datos personales en logs, secretos, N+1, pago no idempotente y tests sin aserciones (los riesgos de «Seguridad y datos desde el primer día»).</a:t>
            </a:r>
          </a:p>
          <a:p>
            <a:r>
              <a:t>- Valoración final en la retro del Día 23: en qué está listo, qué necesita refuerzo y qué conclusiones del piloto SDD se llevan al proyecto real.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Mapa de lo que se va a construir: quién lo usa (actores), qué piezas hay y dónde se ejecutan, y cómo llega el código desde GitHub hasta Azure.</a:t>
            </a:r>
          </a:p>
          <a:p>
            <a:r>
              <a:t>- La web no accede a la base de datos: solo habla con la API.</a:t>
            </a:r>
          </a:p>
          <a:p>
            <a:r>
              <a:t>- Identity vive en la API; la web guarda la sesión y manda el token en cada llamada.</a:t>
            </a:r>
          </a:p>
          <a:p>
            <a:r>
              <a:t>- El BackgroundService caduca las inscripciones pendientes de pago (Parte III).</a:t>
            </a:r>
          </a:p>
          <a:p>
            <a:r>
              <a:t>- En Azure: Container Apps (web y API), Azure SQL, secretos en Container Apps o Key Vault, imágenes en ACR o GHCR.</a:t>
            </a:r>
          </a:p>
          <a:p>
            <a:r>
              <a:t>- La arquitectura interna (capas, slices) se ve en la masterclass de arquitectura.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Vista lógica: qué capas hay, qué proyectos forman cada una y en qué dirección van las dependencias.</a:t>
            </a:r>
          </a:p>
          <a:p>
            <a:r>
              <a:t>- Presentación: Ui.Web (host Blazor) usa Ui.Components. La web NO referencia a la API: la llama por HTTP en ejecución.</a:t>
            </a:r>
          </a:p>
          <a:p>
            <a:r>
              <a:t>- Negocio: Api → Application → Domain. Api es la raíz de composición: registra en la inyección de dependencias las implementaciones de Infrastructure.</a:t>
            </a:r>
          </a:p>
          <a:p>
            <a:r>
              <a:t>- Infraestructura (transversal): implementa las interfaces que define Application (repositorios, pasarela de pago) y usa EF Core contra SQL Server.</a:t>
            </a:r>
          </a:p>
          <a:p>
            <a:r>
              <a:t>- Domain no depende de nadie: por eso las reglas se pueden probar sin base de datos.</a:t>
            </a:r>
          </a:p>
          <a:p>
            <a:r>
              <a:t>Detalle en docs/court-connect/architecture/README.md; a fondo en la masterclass de arquitectura.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Solo un adelanto. Proyectos CourtConnect.&lt;Capa&gt; con namespaces DeemSoft.CourtConnect.&lt;Capa&gt; (docs/court-connect/architecture/README.md).</a:t>
            </a:r>
          </a:p>
          <a:p>
            <a:r>
              <a:t>Desde la Parte III, los casos de uso nuevos se organizan en slices verticales con handlers inyectados.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Detalle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docs/court-connect/enunciado-dominio.md.</a:t>
            </a:r>
          </a:p>
          <a:p>
            <a:r>
              <a:rPr dirty="0" err="1"/>
              <a:t>Actividad</a:t>
            </a:r>
            <a:r>
              <a:rPr dirty="0"/>
              <a:t>: antes de la demo 1, Driss </a:t>
            </a:r>
            <a:r>
              <a:rPr dirty="0" err="1"/>
              <a:t>habla</a:t>
            </a:r>
            <a:r>
              <a:rPr dirty="0"/>
              <a:t> con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grupo</a:t>
            </a:r>
            <a:r>
              <a:rPr dirty="0"/>
              <a:t> de juego (30–45 min) y </a:t>
            </a:r>
            <a:r>
              <a:rPr dirty="0" err="1"/>
              <a:t>apunta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docs/discovery.md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necesitan</a:t>
            </a:r>
            <a:r>
              <a:rPr dirty="0"/>
              <a:t> de </a:t>
            </a:r>
            <a:r>
              <a:rPr dirty="0" err="1"/>
              <a:t>verdad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 algo falla al instalar, se resuelve antes del Día 1: el Día 1 es para el repo y el dominio, no para pelearse con el entorno.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Recordar dónde está todo: enunciados en reto/, material en docs/court-connect/ y docs/masterclasses/.</a:t>
            </a:r>
          </a:p>
          <a:p>
            <a:r>
              <a:t>Entorno local: SDK de .NET 10, VS Code con las extensiones recomendadas, Docker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Enlaces </a:t>
            </a:r>
            <a:r>
              <a:rPr dirty="0" err="1"/>
              <a:t>comprobados</a:t>
            </a:r>
            <a:r>
              <a:rPr dirty="0"/>
              <a:t> el 29/10/2026. Las </a:t>
            </a:r>
            <a:r>
              <a:rPr dirty="0" err="1"/>
              <a:t>lecturas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ejercicio</a:t>
            </a:r>
            <a:r>
              <a:rPr dirty="0"/>
              <a:t>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sección</a:t>
            </a:r>
            <a:r>
              <a:rPr dirty="0"/>
              <a:t> «Antes de </a:t>
            </a:r>
            <a:r>
              <a:rPr dirty="0" err="1"/>
              <a:t>empezar</a:t>
            </a:r>
            <a:r>
              <a:rPr dirty="0"/>
              <a:t>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3E06-252D-C94E-5068-DA1624253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957DD-C71B-1642-CD34-18BD0AC91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30FCE-7CDC-A997-5C0E-5B2AE9915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Objetivo de la sesión:</a:t>
            </a:r>
          </a:p>
          <a:p>
            <a:r>
              <a:t>- Dar una visión general del ecosistema .NET y de cómo vamos a trabajar.</a:t>
            </a:r>
          </a:p>
          <a:p>
            <a:r>
              <a:t>- Presentar el uso de la IA en el reto y el propio reto CourtConnect.</a:t>
            </a:r>
          </a:p>
          <a:p>
            <a:r>
              <a:t>- Es un mapa: arquitectura, contenedores e IA se verán a fondo en masterclasses específicas.</a:t>
            </a:r>
          </a:p>
          <a:p>
            <a:endParaRPr/>
          </a:p>
          <a:p>
            <a:r>
              <a:t>Consejo: empezar enseñando el repo de formación y el plan del reto para situar al alumno.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E6DAD-E930-0BAE-869F-565BD5C89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167927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25" y="1"/>
            <a:ext cx="12216250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3620" y="1820487"/>
            <a:ext cx="479935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799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3621" y="4714821"/>
            <a:ext cx="3829876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3620" y="219456"/>
            <a:ext cx="270307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3035" y="219456"/>
            <a:ext cx="14949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6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5052" y="214858"/>
            <a:ext cx="148551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14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1" y="11899"/>
            <a:ext cx="12188826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3" y="459254"/>
            <a:ext cx="5656994" cy="2691359"/>
          </a:xfrm>
        </p:spPr>
        <p:txBody>
          <a:bodyPr/>
          <a:lstStyle>
            <a:lvl1pPr>
              <a:defRPr sz="45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0347" y="516600"/>
            <a:ext cx="2593139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0348" y="219456"/>
            <a:ext cx="250339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0502" y="219456"/>
            <a:ext cx="1146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717" y="219456"/>
            <a:ext cx="55580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99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577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4"/>
            <a:ext cx="12185778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3999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8807" y="4463844"/>
            <a:ext cx="3386971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542" y="219456"/>
            <a:ext cx="2739902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3786" y="219456"/>
            <a:ext cx="195748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59237" y="219456"/>
            <a:ext cx="44868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89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7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74" y="4311805"/>
            <a:ext cx="8583101" cy="2368300"/>
          </a:xfrm>
        </p:spPr>
        <p:txBody>
          <a:bodyPr anchor="b">
            <a:normAutofit/>
          </a:bodyPr>
          <a:lstStyle>
            <a:lvl1pPr>
              <a:defRPr sz="6898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991" y="219456"/>
            <a:ext cx="26554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808" y="219456"/>
            <a:ext cx="19127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718" y="219456"/>
            <a:ext cx="55580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76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88825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272" y="2138777"/>
            <a:ext cx="6431591" cy="1962149"/>
          </a:xfrm>
        </p:spPr>
        <p:txBody>
          <a:bodyPr anchor="t">
            <a:normAutofit/>
          </a:bodyPr>
          <a:lstStyle>
            <a:lvl1pPr>
              <a:defRPr sz="8797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385" y="214858"/>
            <a:ext cx="148551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1386" y="2138776"/>
            <a:ext cx="3717452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063" indent="-457063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329" indent="-342797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799860" indent="-342797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023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79" y="2555751"/>
            <a:ext cx="12188825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50" y="3481713"/>
            <a:ext cx="5494995" cy="2092272"/>
          </a:xfrm>
        </p:spPr>
        <p:txBody>
          <a:bodyPr anchor="t">
            <a:normAutofit/>
          </a:bodyPr>
          <a:lstStyle>
            <a:lvl1pPr>
              <a:defRPr sz="7598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88825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547" y="2734068"/>
            <a:ext cx="272662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3540" y="2734068"/>
            <a:ext cx="158629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667" y="2734068"/>
            <a:ext cx="5265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3540" y="3481714"/>
            <a:ext cx="3915083" cy="2765887"/>
          </a:xfrm>
        </p:spPr>
        <p:txBody>
          <a:bodyPr vert="horz" lIns="91440" tIns="45720" rIns="91440" bIns="45720" rtlCol="0">
            <a:normAutofit/>
          </a:bodyPr>
          <a:lstStyle>
            <a:lvl1pPr marL="342797" indent="-342797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329" indent="-342797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799860" indent="-342797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531" lvl="0" indent="-228531"/>
            <a:r>
              <a:rPr lang="es-ES"/>
              <a:t>Haga clic para modificar los estilos de texto del patrón</a:t>
            </a:r>
          </a:p>
          <a:p>
            <a:pPr marL="228531" lvl="1" indent="-228531"/>
            <a:r>
              <a:rPr lang="es-ES"/>
              <a:t>Segundo nivel</a:t>
            </a:r>
          </a:p>
          <a:p>
            <a:pPr marL="228531" lvl="2" indent="-228531"/>
            <a:r>
              <a:rPr lang="es-ES"/>
              <a:t>Tercer nivel</a:t>
            </a:r>
          </a:p>
          <a:p>
            <a:pPr marL="228531" lvl="3" indent="-228531"/>
            <a:r>
              <a:rPr lang="es-ES"/>
              <a:t>Cuarto nivel</a:t>
            </a:r>
          </a:p>
          <a:p>
            <a:pPr marL="228531" lvl="4" indent="-228531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63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2954" y="1"/>
            <a:ext cx="58797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43" y="1276990"/>
            <a:ext cx="5376866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280" y="214858"/>
            <a:ext cx="272566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808" y="214858"/>
            <a:ext cx="194133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355" y="214858"/>
            <a:ext cx="55580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66" y="2471736"/>
            <a:ext cx="5376867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20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1619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414" y="1886712"/>
            <a:ext cx="3507075" cy="3233928"/>
          </a:xfrm>
        </p:spPr>
        <p:txBody>
          <a:bodyPr anchor="t">
            <a:normAutofit/>
          </a:bodyPr>
          <a:lstStyle>
            <a:lvl1pPr>
              <a:defRPr sz="3199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991" y="208394"/>
            <a:ext cx="25314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5872" y="208394"/>
            <a:ext cx="201702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646" y="208394"/>
            <a:ext cx="55301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5873" y="1886712"/>
            <a:ext cx="4494629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039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24" y="1115568"/>
            <a:ext cx="2504612" cy="1624122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56" y="219456"/>
            <a:ext cx="2683349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3185" y="215823"/>
            <a:ext cx="148551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5300" y="215823"/>
            <a:ext cx="549129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324" y="3028523"/>
            <a:ext cx="2504612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3185" y="1181100"/>
            <a:ext cx="8815640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561527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1" y="1115568"/>
            <a:ext cx="3999458" cy="1352516"/>
          </a:xfrm>
        </p:spPr>
        <p:txBody>
          <a:bodyPr anchor="t">
            <a:normAutofit/>
          </a:bodyPr>
          <a:lstStyle>
            <a:lvl1pPr>
              <a:defRPr sz="29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991" y="219456"/>
            <a:ext cx="272722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6636" y="219456"/>
            <a:ext cx="1747319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008" y="216280"/>
            <a:ext cx="550969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636" y="1104900"/>
            <a:ext cx="6923199" cy="1352516"/>
          </a:xfrm>
        </p:spPr>
        <p:txBody>
          <a:bodyPr>
            <a:normAutofit/>
          </a:bodyPr>
          <a:lstStyle>
            <a:lvl1pPr marL="285664" indent="-285664">
              <a:buFont typeface="Arial" panose="020B0604020202020204" pitchFamily="34" charset="0"/>
              <a:buNone/>
              <a:defRPr sz="1400"/>
            </a:lvl1pPr>
            <a:lvl2pPr marL="514196" indent="-285664">
              <a:buFont typeface="Arial" panose="020B0604020202020204" pitchFamily="34" charset="0"/>
              <a:buNone/>
              <a:defRPr sz="1400"/>
            </a:lvl2pPr>
            <a:lvl3pPr marL="742727" indent="-285664">
              <a:buFont typeface="Arial" panose="020B0604020202020204" pitchFamily="34" charset="0"/>
              <a:buNone/>
              <a:defRPr sz="1400"/>
            </a:lvl3pPr>
            <a:lvl4pPr marL="856993" indent="-171399">
              <a:buFont typeface="Arial" panose="020B0604020202020204" pitchFamily="34" charset="0"/>
              <a:buNone/>
              <a:defRPr sz="1400"/>
            </a:lvl4pPr>
            <a:lvl5pPr marL="1085524" indent="-171399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10"/>
            <a:ext cx="12188825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22545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1" y="1115569"/>
            <a:ext cx="2513945" cy="2918919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280" y="214858"/>
            <a:ext cx="25139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2856" y="1"/>
            <a:ext cx="8765970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1927" y="4077628"/>
            <a:ext cx="19197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717" y="4077628"/>
            <a:ext cx="55580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1927" y="4423576"/>
            <a:ext cx="8417907" cy="1824824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206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808" y="1115569"/>
            <a:ext cx="5246210" cy="994131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56" y="219456"/>
            <a:ext cx="293293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5043" y="209088"/>
            <a:ext cx="184356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1234" y="209088"/>
            <a:ext cx="55580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181100"/>
            <a:ext cx="5246210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79808" y="2133600"/>
            <a:ext cx="5246210" cy="4114800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476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46" y="1115569"/>
            <a:ext cx="3606731" cy="3170545"/>
          </a:xfrm>
        </p:spPr>
        <p:txBody>
          <a:bodyPr anchor="t">
            <a:normAutofit/>
          </a:bodyPr>
          <a:lstStyle>
            <a:lvl1pPr>
              <a:defRPr sz="29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656" y="214858"/>
            <a:ext cx="25964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4647" y="214858"/>
            <a:ext cx="158629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4668" y="214858"/>
            <a:ext cx="55580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4648" y="1112672"/>
            <a:ext cx="6925187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531" indent="0">
              <a:buFont typeface="Arial" panose="020B0604020202020204" pitchFamily="34" charset="0"/>
              <a:buNone/>
              <a:defRPr sz="1400"/>
            </a:lvl2pPr>
            <a:lvl3pPr marL="457063" indent="0">
              <a:buFont typeface="Arial" panose="020B0604020202020204" pitchFamily="34" charset="0"/>
              <a:buNone/>
              <a:defRPr sz="1400"/>
            </a:lvl3pPr>
            <a:lvl4pPr marL="685594" indent="0">
              <a:buFont typeface="Arial" panose="020B0604020202020204" pitchFamily="34" charset="0"/>
              <a:buNone/>
              <a:defRPr sz="1400"/>
            </a:lvl4pPr>
            <a:lvl5pPr marL="914126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1803" y="3500204"/>
            <a:ext cx="7287023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82431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81" y="3429001"/>
            <a:ext cx="2500656" cy="2551982"/>
          </a:xfrm>
        </p:spPr>
        <p:txBody>
          <a:bodyPr anchor="t">
            <a:normAutofit/>
          </a:bodyPr>
          <a:lstStyle>
            <a:lvl1pPr>
              <a:defRPr sz="29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"/>
            <a:ext cx="12188825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280" y="2865290"/>
            <a:ext cx="272566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1926" y="2865290"/>
            <a:ext cx="1966833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717" y="2865290"/>
            <a:ext cx="55580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1927" y="3429000"/>
            <a:ext cx="8208066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531" indent="0">
              <a:buFont typeface="Arial" panose="020B0604020202020204" pitchFamily="34" charset="0"/>
              <a:buNone/>
              <a:defRPr sz="1400"/>
            </a:lvl2pPr>
            <a:lvl3pPr marL="457063" indent="0">
              <a:buFont typeface="Arial" panose="020B0604020202020204" pitchFamily="34" charset="0"/>
              <a:buNone/>
              <a:defRPr sz="1400"/>
            </a:lvl3pPr>
            <a:lvl4pPr marL="685594" indent="0">
              <a:buFont typeface="Arial" panose="020B0604020202020204" pitchFamily="34" charset="0"/>
              <a:buNone/>
              <a:defRPr sz="1400"/>
            </a:lvl4pPr>
            <a:lvl5pPr marL="914126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385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114" y="1115568"/>
            <a:ext cx="3602318" cy="1409878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7440" y="209088"/>
            <a:ext cx="25139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3080" y="219456"/>
            <a:ext cx="56419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114" y="2705100"/>
            <a:ext cx="3602318" cy="3695700"/>
          </a:xfrm>
        </p:spPr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3984" y="1175658"/>
            <a:ext cx="725484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76866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1" y="4607626"/>
            <a:ext cx="4418449" cy="1640774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1"/>
            <a:ext cx="483552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39832" y="209088"/>
            <a:ext cx="272566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808" y="214858"/>
            <a:ext cx="190475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9833" y="1104900"/>
            <a:ext cx="5748884" cy="5143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361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2" y="1115568"/>
            <a:ext cx="3104526" cy="1636510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280" y="214858"/>
            <a:ext cx="272566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4466" y="214858"/>
            <a:ext cx="2536327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899" y="214858"/>
            <a:ext cx="555803" cy="33832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01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4466" y="1104902"/>
            <a:ext cx="7474624" cy="53339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452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88825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0376" y="5082379"/>
            <a:ext cx="3999458" cy="1169230"/>
          </a:xfrm>
        </p:spPr>
        <p:txBody>
          <a:bodyPr anchor="b">
            <a:normAutofit/>
          </a:bodyPr>
          <a:lstStyle>
            <a:lvl1pPr>
              <a:defRPr sz="1999" spc="-5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0376" y="209088"/>
            <a:ext cx="19701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15" y="1063626"/>
            <a:ext cx="10425571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5992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622047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1"/>
            <a:ext cx="12188825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-1133856"/>
            <a:ext cx="10649986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8990" y="2885607"/>
            <a:ext cx="8798809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5998" b="0" spc="-50" baseline="0">
                <a:solidFill>
                  <a:schemeClr val="tx1"/>
                </a:solidFill>
              </a:defRPr>
            </a:lvl1pPr>
            <a:lvl2pPr marL="228531" indent="0">
              <a:lnSpc>
                <a:spcPct val="85000"/>
              </a:lnSpc>
              <a:buNone/>
              <a:defRPr sz="4399" b="0" spc="-50" baseline="0">
                <a:solidFill>
                  <a:schemeClr val="tx1"/>
                </a:solidFill>
              </a:defRPr>
            </a:lvl2pPr>
            <a:lvl3pPr marL="457063" indent="0">
              <a:lnSpc>
                <a:spcPct val="85000"/>
              </a:lnSpc>
              <a:buNone/>
              <a:defRPr sz="3999" b="0" spc="-50" baseline="0">
                <a:solidFill>
                  <a:schemeClr val="tx1"/>
                </a:solidFill>
              </a:defRPr>
            </a:lvl3pPr>
            <a:lvl4pPr marL="685594" indent="0">
              <a:lnSpc>
                <a:spcPct val="85000"/>
              </a:lnSpc>
              <a:buNone/>
              <a:defRPr sz="3599" b="0" spc="-50" baseline="0">
                <a:solidFill>
                  <a:schemeClr val="tx1"/>
                </a:solidFill>
              </a:defRPr>
            </a:lvl4pPr>
            <a:lvl5pPr marL="914126" indent="0">
              <a:lnSpc>
                <a:spcPct val="85000"/>
              </a:lnSpc>
              <a:buNone/>
              <a:defRPr sz="3199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80937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88825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413" y="4874219"/>
            <a:ext cx="8504352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413" y="1856096"/>
            <a:ext cx="8504352" cy="2855388"/>
          </a:xfrm>
        </p:spPr>
        <p:txBody>
          <a:bodyPr anchor="ctr">
            <a:normAutofit/>
          </a:bodyPr>
          <a:lstStyle>
            <a:lvl1pPr marL="164543" indent="-164543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999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254974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91" y="1115569"/>
            <a:ext cx="8379817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688" y="1900238"/>
            <a:ext cx="4923143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7293" y="1900238"/>
            <a:ext cx="4923143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882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47" y="932098"/>
            <a:ext cx="10832717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98808" y="214858"/>
            <a:ext cx="1919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546" y="1675614"/>
            <a:ext cx="491263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688" y="2285022"/>
            <a:ext cx="4899497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4863" y="1675614"/>
            <a:ext cx="496640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7766" y="2285022"/>
            <a:ext cx="4981464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2628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2" y="1113511"/>
            <a:ext cx="8378127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217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160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81" y="758952"/>
            <a:ext cx="7607686" cy="1734866"/>
          </a:xfrm>
        </p:spPr>
        <p:txBody>
          <a:bodyPr anchor="t">
            <a:noAutofit/>
          </a:bodyPr>
          <a:lstStyle>
            <a:lvl1pPr>
              <a:defRPr sz="7198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91" y="2705101"/>
            <a:ext cx="8798808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561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2" y="2704772"/>
            <a:ext cx="5464237" cy="2733384"/>
          </a:xfrm>
        </p:spPr>
        <p:txBody>
          <a:bodyPr/>
          <a:lstStyle>
            <a:lvl1pPr>
              <a:defRPr sz="7198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3908" y="2705100"/>
            <a:ext cx="4408927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038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2" y="1113511"/>
            <a:ext cx="9939820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06" y="2133600"/>
            <a:ext cx="9939820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280" y="214858"/>
            <a:ext cx="272566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98808" y="214858"/>
            <a:ext cx="19197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717" y="214858"/>
            <a:ext cx="555803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869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2999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1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3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594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26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jpeg"/><Relationship Id="rId4" Type="http://schemas.openxmlformats.org/officeDocument/2006/relationships/image" Target="../media/image28.png"/><Relationship Id="rId5" Type="http://schemas.openxmlformats.org/officeDocument/2006/relationships/diagramData" Target="../diagrams/data3.xml"/><Relationship Id="rId6" Type="http://schemas.openxmlformats.org/officeDocument/2006/relationships/diagramLayout" Target="../diagrams/layout3.xml"/><Relationship Id="rId7" Type="http://schemas.openxmlformats.org/officeDocument/2006/relationships/diagramQuickStyle" Target="../diagrams/quickStyle3.xml"/><Relationship Id="rId8" Type="http://schemas.openxmlformats.org/officeDocument/2006/relationships/diagramColors" Target="../diagrams/colors3.xml"/><Relationship Id="rId9" Type="http://schemas.microsoft.com/office/2007/relationships/diagramDrawing" Target="../diagrams/drawing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tnet.microsoft.com/en-us/platform/support/policy/dotnet-core" TargetMode="External"/><Relationship Id="rId4" Type="http://schemas.openxmlformats.org/officeDocument/2006/relationships/hyperlink" Target="https://learn.microsoft.com/es-es/dotnet/" TargetMode="External"/><Relationship Id="rId5" Type="http://schemas.openxmlformats.org/officeDocument/2006/relationships/hyperlink" Target="https://learn.microsoft.com/es-es/aspnet/core/tutorials/min-web-api" TargetMode="External"/><Relationship Id="rId6" Type="http://schemas.openxmlformats.org/officeDocument/2006/relationships/hyperlink" Target="https://learn.microsoft.com/es-es/training/modules/build-web-api-minimal-database/" TargetMode="External"/><Relationship Id="rId7" Type="http://schemas.openxmlformats.org/officeDocument/2006/relationships/hyperlink" Target="https://learn.microsoft.com/es-es/training/paths/build-web-apps-with-blazor/" TargetMode="External"/><Relationship Id="rId8" Type="http://schemas.openxmlformats.org/officeDocument/2006/relationships/hyperlink" Target="https://learn.microsoft.com/es-es/training/modules/introduction-to-github-actions/" TargetMode="External"/><Relationship Id="rId9" Type="http://schemas.openxmlformats.org/officeDocument/2006/relationships/hyperlink" Target="https://docs.docker.com/get-started/" TargetMode="External"/><Relationship Id="rId10" Type="http://schemas.openxmlformats.org/officeDocument/2006/relationships/hyperlink" Target="https://learn.microsoft.com/es-es/training/modules/spec-driven-development-github-spec-kit-enterprise-developers/" TargetMode="External"/><Relationship Id="rId11" Type="http://schemas.openxmlformats.org/officeDocument/2006/relationships/hyperlink" Target="https://learn.microsoft.com/es-es/aspnet/core/security/authentication/identity-api-authorization" TargetMode="External"/><Relationship Id="rId12" Type="http://schemas.openxmlformats.org/officeDocument/2006/relationships/hyperlink" Target="https://docs.github.com/en/copilot/concepts/prompting-and-context/prompt-engineering" TargetMode="External"/><Relationship Id="rId13" Type="http://schemas.openxmlformats.org/officeDocument/2006/relationships/hyperlink" Target="https://docs.claude.com/en/docs/build-with-claude/prompt-engineering/overview" TargetMode="External"/><Relationship Id="rId14" Type="http://schemas.openxmlformats.org/officeDocument/2006/relationships/hyperlink" Target="https://modelcontextprotocol.io/" TargetMode="External"/><Relationship Id="rId15" Type="http://schemas.openxmlformats.org/officeDocument/2006/relationships/hyperlink" Target="https://sonarcloud.io/" TargetMode="External"/><Relationship Id="rId16" Type="http://schemas.openxmlformats.org/officeDocument/2006/relationships/hyperlink" Target="https://www.youtube.com/dotnet" TargetMode="External"/><Relationship Id="rId17" Type="http://schemas.openxmlformats.org/officeDocument/2006/relationships/hyperlink" Target="https://dotnet.microsoft.com/en-us/conf" TargetMode="External"/><Relationship Id="rId18" Type="http://schemas.openxmlformats.org/officeDocument/2006/relationships/hyperlink" Target="https://github.com/microsoft/Generative-AI-for-beginners-dotnet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6" y="1999615"/>
            <a:ext cx="9141618" cy="2764028"/>
          </a:xfrm>
        </p:spPr>
        <p:txBody>
          <a:bodyPr anchor="ctr">
            <a:normAutofit/>
          </a:bodyPr>
          <a:lstStyle/>
          <a:p>
            <a:r>
              <a:rPr lang="es-ES" sz="7100" dirty="0"/>
              <a:t>Masterclass: .NET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6399" y="5645150"/>
            <a:ext cx="8256026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1500"/>
              <a:t>Overview: ecosistema .NET, forma de trabajar, IA y el reto CourtConnect</a:t>
            </a:r>
          </a:p>
          <a:p>
            <a:pPr>
              <a:lnSpc>
                <a:spcPct val="90000"/>
              </a:lnSpc>
            </a:pPr>
            <a:r>
              <a:rPr lang="es-ES" sz="1500"/>
              <a:t>Duración: unas 2 horas, con las demos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630" y="1161288"/>
            <a:ext cx="3601797" cy="4526280"/>
          </a:xfrm>
        </p:spPr>
        <p:txBody>
          <a:bodyPr>
            <a:normAutofit/>
          </a:bodyPr>
          <a:lstStyle/>
          <a:p>
            <a:r>
              <a:rPr lang="es-ES" sz="4000"/>
              <a:t>🎯 Objetivos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4F76AA08-5C16-907F-AB29-A59F79461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24568"/>
              </p:ext>
            </p:extLst>
          </p:nvPr>
        </p:nvGraphicFramePr>
        <p:xfrm>
          <a:off x="5302138" y="676656"/>
          <a:ext cx="6362567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69BCD-4CEB-FFD6-063B-4F106588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Contenidos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2714D7-1AD4-4412-D696-AB41106B7F7A}"/>
              </a:ext>
            </a:extLst>
          </p:cNvPr>
          <p:cNvSpPr txBox="1"/>
          <p:nvPr/>
        </p:nvSpPr>
        <p:spPr>
          <a:xfrm>
            <a:off x="431688" y="1783080"/>
            <a:ext cx="5120640" cy="4754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1" i="0">
                <a:effectLst/>
              </a:rPr>
              <a:t>1.  Historia .NET y visión general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De </a:t>
            </a:r>
            <a:r>
              <a:rPr lang="en-US" sz="1500" b="1" i="0">
                <a:effectLst/>
              </a:rPr>
              <a:t>.NET Framework</a:t>
            </a:r>
            <a:r>
              <a:rPr lang="en-US" sz="1500" b="0" i="0">
                <a:effectLst/>
              </a:rPr>
              <a:t> a </a:t>
            </a:r>
            <a:r>
              <a:rPr lang="en-US" sz="1500" b="1" i="0">
                <a:effectLst/>
              </a:rPr>
              <a:t>.NET 10</a:t>
            </a:r>
            <a:r>
              <a:rPr lang="en-US" sz="1500" b="0" i="0">
                <a:effectLst/>
              </a:rPr>
              <a:t> (LTS y STS)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Ecosistema .NET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Estrategias de despliegue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endParaRPr lang="en-US" sz="1500"/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1" i="0">
                <a:effectLst/>
              </a:rPr>
              <a:t>2.  Metodologías, herramientas y entornos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Scrum y nuestro </a:t>
            </a:r>
            <a:r>
              <a:rPr lang="en-US" sz="1500" b="1" i="0">
                <a:effectLst/>
              </a:rPr>
              <a:t>flujo de ramas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CI/CD con </a:t>
            </a:r>
            <a:r>
              <a:rPr lang="en-US" sz="1500" b="1" i="0">
                <a:effectLst/>
              </a:rPr>
              <a:t>GitHub Actions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Calidad con </a:t>
            </a:r>
            <a:r>
              <a:rPr lang="en-US" sz="1500" b="1" i="0">
                <a:effectLst/>
              </a:rPr>
              <a:t>SonarQube Cloud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Seguridad y datos desde el primer día</a:t>
            </a:r>
          </a:p>
          <a:p>
            <a:pPr defTabSz="914126" fontAlgn="base">
              <a:lnSpc>
                <a:spcPct val="11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Herramientas: VS Code, Docker, SQL Server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8B63F44-99C4-425A-6B15-7E2F1E9446F5}"/>
              </a:ext>
            </a:extLst>
          </p:cNvPr>
          <p:cNvSpPr txBox="1"/>
          <p:nvPr/>
        </p:nvSpPr>
        <p:spPr>
          <a:xfrm>
            <a:off x="5877293" y="1783080"/>
            <a:ext cx="5120640" cy="4754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1" i="0">
                <a:effectLst/>
              </a:rPr>
              <a:t>3.  Desarrollo asistido por IA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Cómo usamos la IA en el reto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1" i="0">
                <a:effectLst/>
              </a:rPr>
              <a:t>Tokens</a:t>
            </a:r>
            <a:r>
              <a:rPr lang="en-US" sz="1500" b="0" i="0">
                <a:effectLst/>
              </a:rPr>
              <a:t> y </a:t>
            </a:r>
            <a:r>
              <a:rPr lang="en-US" sz="1500" b="1" i="0">
                <a:effectLst/>
              </a:rPr>
              <a:t>prompts efectivos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Agentes, MCP, RAG y </a:t>
            </a:r>
            <a:r>
              <a:rPr lang="en-US" sz="1500" b="1" i="0">
                <a:effectLst/>
              </a:rPr>
              <a:t>SDD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endParaRPr lang="en-US" sz="1500"/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1" i="0">
                <a:effectLst/>
              </a:rPr>
              <a:t>4.  Reto CourtConnect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Qué es, mapa y dónde está cada cosa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Cómo trabajas, reglas y formación en paralelo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Cómo se evalúa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Visión general, capas, componentes y dominio</a:t>
            </a:r>
          </a:p>
          <a:p>
            <a:pPr defTabSz="914126" fontAlgn="base">
              <a:lnSpc>
                <a:spcPct val="120000"/>
              </a:lnSpc>
              <a:spcBef>
                <a:spcPts val="1000"/>
              </a:spcBef>
              <a:spcAft>
                <a:spcPts val="300"/>
              </a:spcAft>
            </a:pPr>
            <a:r>
              <a:rPr lang="en-US" sz="1500" b="0" i="0">
                <a:effectLst/>
              </a:rPr>
              <a:t>Entorno y siguientes pasos</a:t>
            </a:r>
          </a:p>
        </p:txBody>
      </p:sp>
    </p:spTree>
    <p:extLst>
      <p:ext uri="{BB962C8B-B14F-4D97-AF65-F5344CB8AC3E}">
        <p14:creationId xmlns:p14="http://schemas.microsoft.com/office/powerpoint/2010/main" val="155330183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2331720"/>
            <a:ext cx="2651760" cy="2011680"/>
          </a:xfrm>
        </p:spPr>
        <p:txBody>
          <a:bodyPr>
            <a:normAutofit/>
          </a:bodyPr>
          <a:lstStyle/>
          <a:p>
            <a:r>
              <a:rPr dirty="0"/>
              <a:t>Demos </a:t>
            </a:r>
            <a:r>
              <a:rPr dirty="0" err="1"/>
              <a:t>planificadas</a:t>
            </a:r>
            <a:endParaRPr dirty="0"/>
          </a:p>
        </p:txBody>
      </p:sp>
      <p:sp>
        <p:nvSpPr>
          <p:cNvPr id="3" name="Demo 1"/>
          <p:cNvSpPr/>
          <p:nvPr/>
        </p:nvSpPr>
        <p:spPr>
          <a:xfrm>
            <a:off x="3246120" y="704088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401568" y="841248"/>
            <a:ext cx="512064" cy="512064"/>
          </a:xfrm>
          <a:prstGeom prst="ellipse">
            <a:avLst/>
          </a:prstGeom>
          <a:solidFill>
            <a:srgbClr val="A5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 dirty="0">
                <a:solidFill>
                  <a:srgbClr val="FFFFFF"/>
                </a:solidFill>
              </a:rPr>
              <a:t>1</a:t>
            </a:r>
            <a:endParaRPr lang="es-ES" sz="1700" dirty="0"/>
          </a:p>
        </p:txBody>
      </p:sp>
      <p:sp>
        <p:nvSpPr>
          <p:cNvPr id="5" name="TextBox 4"/>
          <p:cNvSpPr txBox="1"/>
          <p:nvPr/>
        </p:nvSpPr>
        <p:spPr>
          <a:xfrm>
            <a:off x="4069080" y="704088"/>
            <a:ext cx="617220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Demo 1 · Azure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>
                <a:solidFill>
                  <a:srgbClr val="B9B6C2"/>
                </a:solidFill>
              </a:rPr>
              <a:t>El portal: grupos de recursos, Container Apps, Azure SQL y costes</a:t>
            </a:r>
            <a:endParaRPr lang="es-ES" sz="1350"/>
          </a:p>
        </p:txBody>
      </p:sp>
      <p:sp>
        <p:nvSpPr>
          <p:cNvPr id="6" name="Rounded Rectangle 5"/>
          <p:cNvSpPr/>
          <p:nvPr/>
        </p:nvSpPr>
        <p:spPr>
          <a:xfrm>
            <a:off x="10378440" y="905256"/>
            <a:ext cx="123444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A562D6"/>
                </a:solidFill>
              </a:rPr>
              <a:t>Bloque 1</a:t>
            </a:r>
            <a:endParaRPr lang="es-ES" sz="1200"/>
          </a:p>
        </p:txBody>
      </p:sp>
      <p:sp>
        <p:nvSpPr>
          <p:cNvPr id="7" name="Demo 2"/>
          <p:cNvSpPr/>
          <p:nvPr/>
        </p:nvSpPr>
        <p:spPr>
          <a:xfrm>
            <a:off x="3246120" y="1636776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01568" y="1773936"/>
            <a:ext cx="512064" cy="512064"/>
          </a:xfrm>
          <a:prstGeom prst="ellipse">
            <a:avLst/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2</a:t>
            </a:r>
            <a:endParaRPr lang="es-ES" sz="1700"/>
          </a:p>
        </p:txBody>
      </p:sp>
      <p:sp>
        <p:nvSpPr>
          <p:cNvPr id="9" name="TextBox 8"/>
          <p:cNvSpPr txBox="1"/>
          <p:nvPr/>
        </p:nvSpPr>
        <p:spPr>
          <a:xfrm>
            <a:off x="4069080" y="1636776"/>
            <a:ext cx="617220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Demo 2 · GitHub Actions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>
                <a:solidFill>
                  <a:srgbClr val="B9B6C2"/>
                </a:solidFill>
              </a:rPr>
              <a:t>Lanzar la CI (build, tests y análisis) desde un PR</a:t>
            </a:r>
            <a:endParaRPr lang="es-ES" sz="1350"/>
          </a:p>
        </p:txBody>
      </p:sp>
      <p:sp>
        <p:nvSpPr>
          <p:cNvPr id="10" name="Rounded Rectangle 9"/>
          <p:cNvSpPr/>
          <p:nvPr/>
        </p:nvSpPr>
        <p:spPr>
          <a:xfrm>
            <a:off x="10378440" y="1837944"/>
            <a:ext cx="123444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CB49B2"/>
                </a:solidFill>
              </a:rPr>
              <a:t>Bloque 2</a:t>
            </a:r>
            <a:endParaRPr lang="es-ES" sz="1200"/>
          </a:p>
        </p:txBody>
      </p:sp>
      <p:sp>
        <p:nvSpPr>
          <p:cNvPr id="11" name="Demo 3"/>
          <p:cNvSpPr/>
          <p:nvPr/>
        </p:nvSpPr>
        <p:spPr>
          <a:xfrm>
            <a:off x="3246120" y="2569464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1568" y="2706624"/>
            <a:ext cx="512064" cy="512064"/>
          </a:xfrm>
          <a:prstGeom prst="ellipse">
            <a:avLst/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3</a:t>
            </a:r>
            <a:endParaRPr lang="es-ES" sz="1700"/>
          </a:p>
        </p:txBody>
      </p:sp>
      <p:sp>
        <p:nvSpPr>
          <p:cNvPr id="13" name="TextBox 12"/>
          <p:cNvSpPr txBox="1"/>
          <p:nvPr/>
        </p:nvSpPr>
        <p:spPr>
          <a:xfrm>
            <a:off x="4069080" y="2569464"/>
            <a:ext cx="617220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Demo 3 · SonarQube Cloud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>
                <a:solidFill>
                  <a:srgbClr val="B9B6C2"/>
                </a:solidFill>
              </a:rPr>
              <a:t>Abrir un proyecto, filtrar issues por severidad y ver el quality gate</a:t>
            </a:r>
            <a:endParaRPr lang="es-ES" sz="1350"/>
          </a:p>
        </p:txBody>
      </p:sp>
      <p:sp>
        <p:nvSpPr>
          <p:cNvPr id="14" name="Rounded Rectangle 13"/>
          <p:cNvSpPr/>
          <p:nvPr/>
        </p:nvSpPr>
        <p:spPr>
          <a:xfrm>
            <a:off x="10378440" y="2770632"/>
            <a:ext cx="123444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CB49B2"/>
                </a:solidFill>
              </a:rPr>
              <a:t>Bloque 2</a:t>
            </a:r>
            <a:endParaRPr lang="es-ES" sz="1200"/>
          </a:p>
        </p:txBody>
      </p:sp>
      <p:sp>
        <p:nvSpPr>
          <p:cNvPr id="15" name="Demo 4"/>
          <p:cNvSpPr/>
          <p:nvPr/>
        </p:nvSpPr>
        <p:spPr>
          <a:xfrm>
            <a:off x="3246120" y="3502152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01568" y="3639312"/>
            <a:ext cx="512064" cy="512064"/>
          </a:xfrm>
          <a:prstGeom prst="ellipse">
            <a:avLst/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4</a:t>
            </a:r>
            <a:endParaRPr lang="es-ES" sz="1700"/>
          </a:p>
        </p:txBody>
      </p:sp>
      <p:sp>
        <p:nvSpPr>
          <p:cNvPr id="17" name="TextBox 16"/>
          <p:cNvSpPr txBox="1"/>
          <p:nvPr/>
        </p:nvSpPr>
        <p:spPr>
          <a:xfrm>
            <a:off x="4069080" y="3502152"/>
            <a:ext cx="617220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Demo 4 · VS Code y Docker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>
                <a:solidFill>
                  <a:srgbClr val="B9B6C2"/>
                </a:solidFill>
              </a:rPr>
              <a:t>dotnet new, extensiones, NuGet y, si da tiempo, SQL Server en Docker</a:t>
            </a:r>
            <a:endParaRPr lang="es-ES" sz="1350"/>
          </a:p>
        </p:txBody>
      </p:sp>
      <p:sp>
        <p:nvSpPr>
          <p:cNvPr id="18" name="Rounded Rectangle 17"/>
          <p:cNvSpPr/>
          <p:nvPr/>
        </p:nvSpPr>
        <p:spPr>
          <a:xfrm>
            <a:off x="10378440" y="3703320"/>
            <a:ext cx="123444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CB49B2"/>
                </a:solidFill>
              </a:rPr>
              <a:t>Bloque 2</a:t>
            </a:r>
            <a:endParaRPr lang="es-ES" sz="1200"/>
          </a:p>
        </p:txBody>
      </p:sp>
      <p:sp>
        <p:nvSpPr>
          <p:cNvPr id="19" name="Demo 5"/>
          <p:cNvSpPr/>
          <p:nvPr/>
        </p:nvSpPr>
        <p:spPr>
          <a:xfrm>
            <a:off x="3246120" y="4434840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01568" y="4572000"/>
            <a:ext cx="512064" cy="512064"/>
          </a:xfrm>
          <a:prstGeom prst="ellipse">
            <a:avLst/>
          </a:prstGeom>
          <a:solidFill>
            <a:srgbClr val="D9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5</a:t>
            </a:r>
            <a:endParaRPr lang="es-ES" sz="1700"/>
          </a:p>
        </p:txBody>
      </p:sp>
      <p:sp>
        <p:nvSpPr>
          <p:cNvPr id="21" name="TextBox 20"/>
          <p:cNvSpPr txBox="1"/>
          <p:nvPr/>
        </p:nvSpPr>
        <p:spPr>
          <a:xfrm>
            <a:off x="4069080" y="4434840"/>
            <a:ext cx="617220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Demo 5 · IA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>
                <a:solidFill>
                  <a:srgbClr val="B9B6C2"/>
                </a:solidFill>
              </a:rPr>
              <a:t>Pedir un prompt efectivo, revisarlo, ejecutarlo y ver el consumo</a:t>
            </a:r>
            <a:endParaRPr lang="es-ES" sz="1350"/>
          </a:p>
        </p:txBody>
      </p:sp>
      <p:sp>
        <p:nvSpPr>
          <p:cNvPr id="22" name="Rounded Rectangle 21"/>
          <p:cNvSpPr/>
          <p:nvPr/>
        </p:nvSpPr>
        <p:spPr>
          <a:xfrm>
            <a:off x="10378440" y="4636007"/>
            <a:ext cx="123444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D93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D93752"/>
                </a:solidFill>
              </a:rPr>
              <a:t>Bloque 3</a:t>
            </a:r>
            <a:endParaRPr lang="es-ES" sz="1200"/>
          </a:p>
        </p:txBody>
      </p:sp>
      <p:sp>
        <p:nvSpPr>
          <p:cNvPr id="23" name="Demo 6"/>
          <p:cNvSpPr/>
          <p:nvPr/>
        </p:nvSpPr>
        <p:spPr>
          <a:xfrm>
            <a:off x="3246120" y="5367527"/>
            <a:ext cx="8503920" cy="786384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401568" y="5504688"/>
            <a:ext cx="512064" cy="512064"/>
          </a:xfrm>
          <a:prstGeom prst="ellipse">
            <a:avLst/>
          </a:prstGeom>
          <a:solidFill>
            <a:srgbClr val="EE7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6</a:t>
            </a:r>
            <a:endParaRPr lang="es-ES" sz="1700"/>
          </a:p>
        </p:txBody>
      </p:sp>
      <p:sp>
        <p:nvSpPr>
          <p:cNvPr id="25" name="TextBox 24"/>
          <p:cNvSpPr txBox="1"/>
          <p:nvPr/>
        </p:nvSpPr>
        <p:spPr>
          <a:xfrm>
            <a:off x="4069080" y="5367527"/>
            <a:ext cx="6172200" cy="7863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Demo 6 · GitHub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50" b="0">
                <a:solidFill>
                  <a:srgbClr val="B9B6C2"/>
                </a:solidFill>
              </a:rPr>
              <a:t>Repo, issues, milestones y PR con «Uso de IA» y «Comparación con IA»</a:t>
            </a:r>
            <a:endParaRPr lang="es-ES" sz="1350"/>
          </a:p>
        </p:txBody>
      </p:sp>
      <p:sp>
        <p:nvSpPr>
          <p:cNvPr id="26" name="Rounded Rectangle 25"/>
          <p:cNvSpPr/>
          <p:nvPr/>
        </p:nvSpPr>
        <p:spPr>
          <a:xfrm>
            <a:off x="10378440" y="5568695"/>
            <a:ext cx="123444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EE7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EE7345"/>
                </a:solidFill>
              </a:rPr>
              <a:t>Bloque 4</a:t>
            </a:r>
            <a:endParaRPr lang="es-ES"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401A9-50DD-B8BE-52A2-A2AD20063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6200" b="1" kern="1200" dirty="0"/>
              <a:t>1. Historia .NET y </a:t>
            </a:r>
            <a:r>
              <a:rPr lang="en-US" sz="6200" b="1" kern="1200" dirty="0" err="1"/>
              <a:t>visión</a:t>
            </a:r>
            <a:r>
              <a:rPr lang="en-US" sz="6200" b="1" kern="1200" dirty="0"/>
              <a:t> general</a:t>
            </a:r>
            <a:endParaRPr lang="en-US" sz="6200" kern="1200" dirty="0"/>
          </a:p>
        </p:txBody>
      </p:sp>
      <p:pic>
        <p:nvPicPr>
          <p:cNvPr id="6" name="Graphic 5" descr="Libros">
            <a:extLst>
              <a:ext uri="{FF2B5EF4-FFF2-40B4-BE49-F238E27FC236}">
                <a16:creationId xmlns:a16="http://schemas.microsoft.com/office/drawing/2014/main" id="{9A1FBBF5-91B2-47EE-BE11-205B6A4F4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1386" y="2334862"/>
            <a:ext cx="3717452" cy="371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02675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497312" cy="1143000"/>
          </a:xfrm>
        </p:spPr>
        <p:txBody>
          <a:bodyPr>
            <a:normAutofit/>
          </a:bodyPr>
          <a:lstStyle/>
          <a:p>
            <a:r>
              <a:rPr lang="es-ES"/>
              <a:t>Historia: de .NET Framework a .NET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463040"/>
            <a:ext cx="10881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lang="es-ES"/>
              <a:t>2002: .NET Framework (solo Windows)  →  2016: .NET Core (multiplataforma)  →  2020: .NET 5 (plataforma unificada)  →  2023: .NET 8 (LTS)</a:t>
            </a:r>
          </a:p>
        </p:txBody>
      </p:sp>
      <p:pic>
        <p:nvPicPr>
          <p:cNvPr id="1026" name="Picture 2" descr="Learning .NET, C#. is it worth it? | by Билигүн.Б (Програмч аав) | 2B +1%  better 2day | Medium">
            <a:extLst>
              <a:ext uri="{FF2B5EF4-FFF2-40B4-BE49-F238E27FC236}">
                <a16:creationId xmlns:a16="http://schemas.microsoft.com/office/drawing/2014/main" id="{E78A74D9-B66B-407C-95F9-C6CFE89E4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12" y="2088683"/>
            <a:ext cx="10380927" cy="3945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Callout versiones recientes"/>
          <p:cNvSpPr/>
          <p:nvPr/>
        </p:nvSpPr>
        <p:spPr>
          <a:xfrm>
            <a:off x="667512" y="6108192"/>
            <a:ext cx="10378440" cy="548640"/>
          </a:xfrm>
          <a:prstGeom prst="roundRect">
            <a:avLst/>
          </a:prstGeom>
          <a:solidFill>
            <a:srgbClr val="512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Después: </a:t>
            </a:r>
            <a:r>
              <a:rPr sz="1600" b="0">
                <a:solidFill>
                  <a:srgbClr val="FFFFFF"/>
                </a:solidFill>
              </a:rPr>
              <a:t>2024 · .NET 9 (STS)   ·   2025 · .NET 10 (LTS, partes I y II del reto)   ·   nov. 2026 · .NET 11 (STS, Parte III del reto)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998" y="377379"/>
            <a:ext cx="10801941" cy="1143000"/>
          </a:xfrm>
        </p:spPr>
        <p:txBody>
          <a:bodyPr>
            <a:normAutofit/>
          </a:bodyPr>
          <a:lstStyle/>
          <a:p>
            <a:r>
              <a:rPr lang="es-ES"/>
              <a:t>Versiones de .NET y soporte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783080"/>
            <a:ext cx="3154680" cy="1188720"/>
          </a:xfrm>
          <a:prstGeom prst="rect">
            <a:avLst/>
          </a:prstGeom>
          <a:solidFill>
            <a:srgbClr val="17151D"/>
          </a:solidFill>
          <a:ln w="19050">
            <a:solidFill>
              <a:srgbClr val="8A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600" b="1">
                <a:solidFill>
                  <a:srgbClr val="8A8794"/>
                </a:solidFill>
              </a:rPr>
              <a:t>.NET Framework 4.8.x</a:t>
            </a:r>
          </a:p>
          <a:p>
            <a:r>
              <a:rPr sz="1500">
                <a:solidFill>
                  <a:srgbClr val="EDEDED"/>
                </a:solidFill>
              </a:rPr>
              <a:t>Solo Windows · legacy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87952" y="1783080"/>
            <a:ext cx="3154680" cy="1188720"/>
          </a:xfrm>
          <a:prstGeom prst="rect">
            <a:avLst/>
          </a:prstGeom>
          <a:solidFill>
            <a:srgbClr val="17151D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600" b="1">
                <a:solidFill>
                  <a:srgbClr val="CB49B2"/>
                </a:solidFill>
              </a:rPr>
              <a:t>.NET 8 · LTS</a:t>
            </a:r>
          </a:p>
          <a:p>
            <a:r>
              <a:rPr sz="1500">
                <a:solidFill>
                  <a:srgbClr val="EDEDED"/>
                </a:solidFill>
              </a:rPr>
              <a:t>Nov. 2023 → 10 nov.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16952" y="1783080"/>
            <a:ext cx="3154680" cy="1188720"/>
          </a:xfrm>
          <a:prstGeom prst="rect">
            <a:avLst/>
          </a:prstGeom>
          <a:solidFill>
            <a:srgbClr val="17151D"/>
          </a:solidFill>
          <a:ln w="19050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600" b="1">
                <a:solidFill>
                  <a:srgbClr val="A562D6"/>
                </a:solidFill>
              </a:rPr>
              <a:t>.NET 9 · STS</a:t>
            </a:r>
          </a:p>
          <a:p>
            <a:r>
              <a:rPr sz="1500">
                <a:solidFill>
                  <a:srgbClr val="EDEDED"/>
                </a:solidFill>
              </a:rPr>
              <a:t>Nov. 2024 → 10 nov.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399032" y="3291840"/>
            <a:ext cx="3154680" cy="1188720"/>
          </a:xfrm>
          <a:prstGeom prst="rect">
            <a:avLst/>
          </a:prstGeom>
          <a:solidFill>
            <a:srgbClr val="CB49B2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</a:rPr>
              <a:t>.NET 10 · LTS</a:t>
            </a:r>
          </a:p>
          <a:p>
            <a:r>
              <a:rPr sz="1500">
                <a:solidFill>
                  <a:srgbClr val="FFFFFF"/>
                </a:solidFill>
              </a:rPr>
              <a:t>Nov. 2025 → 14 nov. 2028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8032" y="3291840"/>
            <a:ext cx="3154680" cy="1188720"/>
          </a:xfrm>
          <a:prstGeom prst="rect">
            <a:avLst/>
          </a:prstGeom>
          <a:solidFill>
            <a:srgbClr val="17151D"/>
          </a:solidFill>
          <a:ln w="19050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600" b="1">
                <a:solidFill>
                  <a:srgbClr val="A562D6"/>
                </a:solidFill>
              </a:rPr>
              <a:t>.NET 11 · STS</a:t>
            </a:r>
          </a:p>
          <a:p>
            <a:r>
              <a:rPr sz="1500">
                <a:solidFill>
                  <a:srgbClr val="EDEDED"/>
                </a:solidFill>
              </a:rPr>
              <a:t>Lanzamiento: .NET Conf, 10–13 nov.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57031" y="3291840"/>
            <a:ext cx="3154680" cy="1188720"/>
          </a:xfrm>
          <a:prstGeom prst="rect">
            <a:avLst/>
          </a:prstGeom>
          <a:solidFill>
            <a:srgbClr val="17151D"/>
          </a:solidFill>
          <a:ln w="19050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600" b="1">
                <a:solidFill>
                  <a:srgbClr val="E95D48"/>
                </a:solidFill>
              </a:rPr>
              <a:t>Nuestra regla</a:t>
            </a:r>
          </a:p>
          <a:p>
            <a:r>
              <a:rPr sz="1500">
                <a:solidFill>
                  <a:srgbClr val="EDEDED"/>
                </a:solidFill>
              </a:rPr>
              <a:t>En proyectos de cliente, LTS</a:t>
            </a:r>
          </a:p>
        </p:txBody>
      </p:sp>
      <p:sp>
        <p:nvSpPr>
          <p:cNvPr id="9" name="Nota soporte"/>
          <p:cNvSpPr txBox="1"/>
          <p:nvPr/>
        </p:nvSpPr>
        <p:spPr>
          <a:xfrm>
            <a:off x="758952" y="48463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/>
              <a:t>LTS</a:t>
            </a:r>
            <a:r>
              <a:rPr sz="1600" b="0"/>
              <a:t>: 3 años de soporte gratuito · </a:t>
            </a:r>
            <a:r>
              <a:rPr sz="1600" b="1"/>
              <a:t>STS</a:t>
            </a:r>
            <a:r>
              <a:rPr sz="1600" b="0"/>
              <a:t>: 2 años · una versión nueva cada noviembre. Fuente: política de soporte de .NET (dotnet.microsoft.com).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erece la pena .NET en 2025">
            <a:extLst>
              <a:ext uri="{FF2B5EF4-FFF2-40B4-BE49-F238E27FC236}">
                <a16:creationId xmlns:a16="http://schemas.microsoft.com/office/drawing/2014/main" id="{59D1B99F-47D1-E73C-170A-D1AA4EDED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562" y="68263"/>
            <a:ext cx="11489701" cy="6721475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256549565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1350844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dirty="0"/>
              <a:t>Ecosistema .NET — Resumen de tecnologías clave para el curso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828800"/>
            <a:ext cx="3063240" cy="978408"/>
          </a:xfrm>
          <a:prstGeom prst="roundRect">
            <a:avLst>
              <a:gd name="adj" fmla="val 14000"/>
            </a:avLst>
          </a:prstGeom>
          <a:solidFill>
            <a:srgbClr val="7C3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Tecnologías para desarrollo web y APIs</a:t>
            </a:r>
            <a:endParaRPr lang="es-ES" sz="1800"/>
          </a:p>
        </p:txBody>
      </p:sp>
      <p:sp>
        <p:nvSpPr>
          <p:cNvPr id="4" name="Rounded Rectangle 3"/>
          <p:cNvSpPr/>
          <p:nvPr/>
        </p:nvSpPr>
        <p:spPr>
          <a:xfrm>
            <a:off x="4041648" y="1828800"/>
            <a:ext cx="7296912" cy="978408"/>
          </a:xfrm>
          <a:prstGeom prst="roundRect">
            <a:avLst>
              <a:gd name="adj" fmla="val 14000"/>
            </a:avLst>
          </a:prstGeom>
          <a:solidFill>
            <a:srgbClr val="17151D"/>
          </a:solidFill>
          <a:ln w="15875">
            <a:solidFill>
              <a:srgbClr val="7C31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45720" rIns="182880" bIns="45720" rtlCol="0" anchor="ctr">
            <a:noAutofit/>
          </a:bodyPr>
          <a:lstStyle/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7C3191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Legacy: WebForms, AJAX, jQuery</a:t>
            </a:r>
            <a:endParaRPr lang="es-ES" sz="1500"/>
          </a:p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7C3191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ASP.NET Core: Minimal APIs, controladores, MVC, Razor Pages</a:t>
            </a:r>
            <a:endParaRPr lang="es-ES" sz="1500"/>
          </a:p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7C3191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Blazor (Static SSR, Server, WebAssembly): UI con C#</a:t>
            </a:r>
            <a:endParaRPr lang="es-ES" sz="1500"/>
          </a:p>
        </p:txBody>
      </p:sp>
      <p:sp>
        <p:nvSpPr>
          <p:cNvPr id="5" name="Rounded Rectangle 4"/>
          <p:cNvSpPr/>
          <p:nvPr/>
        </p:nvSpPr>
        <p:spPr>
          <a:xfrm>
            <a:off x="841248" y="2990088"/>
            <a:ext cx="3063240" cy="978408"/>
          </a:xfrm>
          <a:prstGeom prst="roundRect">
            <a:avLst>
              <a:gd name="adj" fmla="val 14000"/>
            </a:avLst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Comunicaciones</a:t>
            </a:r>
            <a:endParaRPr lang="es-ES" sz="1800"/>
          </a:p>
        </p:txBody>
      </p:sp>
      <p:sp>
        <p:nvSpPr>
          <p:cNvPr id="6" name="Rounded Rectangle 5"/>
          <p:cNvSpPr/>
          <p:nvPr/>
        </p:nvSpPr>
        <p:spPr>
          <a:xfrm>
            <a:off x="4041648" y="2990088"/>
            <a:ext cx="7296912" cy="978408"/>
          </a:xfrm>
          <a:prstGeom prst="roundRect">
            <a:avLst>
              <a:gd name="adj" fmla="val 14000"/>
            </a:avLst>
          </a:prstGeom>
          <a:solidFill>
            <a:srgbClr val="17151D"/>
          </a:solidFill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45720" rIns="182880" bIns="45720" rtlCol="0" anchor="ctr">
            <a:noAutofit/>
          </a:bodyPr>
          <a:lstStyle/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APIs REST (HTTP y JSON)</a:t>
            </a:r>
            <a:endParaRPr lang="es-ES" sz="1500"/>
          </a:p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WCF y SOAP (legacy)</a:t>
            </a:r>
            <a:endParaRPr lang="es-ES" sz="1500"/>
          </a:p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gRPC</a:t>
            </a:r>
            <a:endParaRPr lang="es-ES" sz="1500"/>
          </a:p>
        </p:txBody>
      </p:sp>
      <p:sp>
        <p:nvSpPr>
          <p:cNvPr id="7" name="Rounded Rectangle 6"/>
          <p:cNvSpPr/>
          <p:nvPr/>
        </p:nvSpPr>
        <p:spPr>
          <a:xfrm>
            <a:off x="841248" y="4151376"/>
            <a:ext cx="3063240" cy="978408"/>
          </a:xfrm>
          <a:prstGeom prst="roundRect">
            <a:avLst>
              <a:gd name="adj" fmla="val 14000"/>
            </a:avLst>
          </a:prstGeom>
          <a:solidFill>
            <a:srgbClr val="D9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Acceso a datos</a:t>
            </a:r>
            <a:endParaRPr lang="es-ES" sz="1800"/>
          </a:p>
        </p:txBody>
      </p:sp>
      <p:sp>
        <p:nvSpPr>
          <p:cNvPr id="8" name="Rounded Rectangle 7"/>
          <p:cNvSpPr/>
          <p:nvPr/>
        </p:nvSpPr>
        <p:spPr>
          <a:xfrm>
            <a:off x="4041648" y="4151376"/>
            <a:ext cx="7296912" cy="978408"/>
          </a:xfrm>
          <a:prstGeom prst="roundRect">
            <a:avLst>
              <a:gd name="adj" fmla="val 14000"/>
            </a:avLst>
          </a:prstGeom>
          <a:solidFill>
            <a:srgbClr val="17151D"/>
          </a:solidFill>
          <a:ln w="15875">
            <a:solidFill>
              <a:srgbClr val="D93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45720" rIns="182880" bIns="45720" rtlCol="0" anchor="ctr">
            <a:noAutofit/>
          </a:bodyPr>
          <a:lstStyle/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D93752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ADO.NET y Dapper (SQL a mano)</a:t>
            </a:r>
            <a:endParaRPr lang="es-ES" sz="1500"/>
          </a:p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D93752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Entity Framework Core: ORM</a:t>
            </a:r>
            <a:endParaRPr lang="es-ES" sz="1500"/>
          </a:p>
        </p:txBody>
      </p:sp>
      <p:sp>
        <p:nvSpPr>
          <p:cNvPr id="9" name="Rounded Rectangle 8"/>
          <p:cNvSpPr/>
          <p:nvPr/>
        </p:nvSpPr>
        <p:spPr>
          <a:xfrm>
            <a:off x="841248" y="5312664"/>
            <a:ext cx="3063240" cy="978408"/>
          </a:xfrm>
          <a:prstGeom prst="roundRect">
            <a:avLst>
              <a:gd name="adj" fmla="val 14000"/>
            </a:avLst>
          </a:prstGeom>
          <a:solidFill>
            <a:srgbClr val="EE7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Desarrollo multiplataforma</a:t>
            </a:r>
            <a:endParaRPr lang="es-ES" sz="1800"/>
          </a:p>
        </p:txBody>
      </p:sp>
      <p:sp>
        <p:nvSpPr>
          <p:cNvPr id="10" name="Rounded Rectangle 9"/>
          <p:cNvSpPr/>
          <p:nvPr/>
        </p:nvSpPr>
        <p:spPr>
          <a:xfrm>
            <a:off x="4041648" y="5312664"/>
            <a:ext cx="7296912" cy="978408"/>
          </a:xfrm>
          <a:prstGeom prst="roundRect">
            <a:avLst>
              <a:gd name="adj" fmla="val 14000"/>
            </a:avLst>
          </a:prstGeom>
          <a:solidFill>
            <a:srgbClr val="17151D"/>
          </a:solidFill>
          <a:ln w="15875">
            <a:solidFill>
              <a:srgbClr val="EE7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45720" rIns="182880" bIns="45720" rtlCol="0" anchor="ctr">
            <a:noAutofit/>
          </a:bodyPr>
          <a:lstStyle/>
          <a:p>
            <a:pPr marL="201168" indent="-201168" algn="l">
              <a:spcBef>
                <a:spcPts val="0"/>
              </a:spcBef>
              <a:spcAft>
                <a:spcPts val="200"/>
              </a:spcAft>
              <a:buClr>
                <a:srgbClr val="EE7345"/>
              </a:buClr>
              <a:buFont typeface="Arial"/>
              <a:buChar char="•"/>
            </a:pPr>
            <a:r>
              <a:rPr lang="es-ES" sz="1500" b="0">
                <a:solidFill>
                  <a:srgbClr val="EDEDED"/>
                </a:solidFill>
              </a:rPr>
              <a:t>.NET MAUI y MAUI Blazor Hybrid (Xamarin, sin soporte desde mayo de 2024)</a:t>
            </a:r>
            <a:endParaRPr lang="es-ES" sz="15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659438" cy="1143000"/>
          </a:xfrm>
        </p:spPr>
        <p:txBody>
          <a:bodyPr>
            <a:normAutofit/>
          </a:bodyPr>
          <a:lstStyle/>
          <a:p>
            <a:r>
              <a:rPr lang="es-ES"/>
              <a:t>Estrategias de despliegue: on-premise y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23613" y="1528908"/>
            <a:ext cx="5059039" cy="1143000"/>
          </a:xfrm>
          <a:prstGeom prst="rect">
            <a:avLst/>
          </a:prstGeom>
          <a:solidFill>
            <a:srgbClr val="17151D"/>
          </a:solidFill>
          <a:ln w="19050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defRPr sz="1200"/>
            </a:pPr>
            <a:r>
              <a:rPr lang="es-ES" sz="1500" b="1">
                <a:solidFill>
                  <a:srgbClr val="A562D6"/>
                </a:solidFill>
              </a:rPr>
              <a:t>On-premise</a:t>
            </a:r>
          </a:p>
          <a:p>
            <a:pPr>
              <a:defRPr sz="1200"/>
            </a:pPr>
            <a:r>
              <a:rPr lang="es-ES" sz="1400">
                <a:solidFill>
                  <a:srgbClr val="EDEDED"/>
                </a:solidFill>
              </a:rPr>
              <a:t>- IIS y Windows Server</a:t>
            </a:r>
          </a:p>
          <a:p>
            <a:pPr>
              <a:defRPr sz="1200"/>
            </a:pPr>
            <a:r>
              <a:rPr lang="es-ES" sz="1400">
                <a:solidFill>
                  <a:srgbClr val="EDEDED"/>
                </a:solidFill>
              </a:rPr>
              <a:t>- Control total de la infraestructura</a:t>
            </a:r>
          </a:p>
          <a:p>
            <a:pPr>
              <a:defRPr sz="1200"/>
            </a:pPr>
            <a:r>
              <a:rPr lang="es-ES" sz="1400">
                <a:solidFill>
                  <a:srgbClr val="EDEDED"/>
                </a:solidFill>
              </a:rPr>
              <a:t>- Más coste de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4411" y="1528908"/>
            <a:ext cx="5783163" cy="1143000"/>
          </a:xfrm>
          <a:prstGeom prst="rect">
            <a:avLst/>
          </a:prstGeom>
          <a:solidFill>
            <a:srgbClr val="17151D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defRPr sz="1200"/>
            </a:pPr>
            <a:r>
              <a:rPr sz="1500" b="1" dirty="0">
                <a:solidFill>
                  <a:srgbClr val="CB49B2"/>
                </a:solidFill>
              </a:rPr>
              <a:t>Cloud (Azure)</a:t>
            </a:r>
          </a:p>
          <a:p>
            <a:pPr>
              <a:defRPr sz="1200"/>
            </a:pPr>
            <a:r>
              <a:rPr sz="1400" dirty="0">
                <a:solidFill>
                  <a:srgbClr val="EDEDED"/>
                </a:solidFill>
              </a:rPr>
              <a:t>- App Service (PaaS)</a:t>
            </a:r>
          </a:p>
          <a:p>
            <a:pPr>
              <a:defRPr sz="1200"/>
            </a:pPr>
            <a:r>
              <a:rPr sz="1400" dirty="0">
                <a:solidFill>
                  <a:srgbClr val="EDEDED"/>
                </a:solidFill>
              </a:rPr>
              <a:t>- Container Apps: </a:t>
            </a:r>
            <a:r>
              <a:rPr sz="1400" dirty="0" err="1">
                <a:solidFill>
                  <a:srgbClr val="EDEDED"/>
                </a:solidFill>
              </a:rPr>
              <a:t>contenedores</a:t>
            </a:r>
            <a:r>
              <a:rPr sz="1400" dirty="0">
                <a:solidFill>
                  <a:srgbClr val="EDEDED"/>
                </a:solidFill>
              </a:rPr>
              <a:t> sin </a:t>
            </a:r>
            <a:r>
              <a:rPr sz="1400" dirty="0" err="1">
                <a:solidFill>
                  <a:srgbClr val="EDEDED"/>
                </a:solidFill>
              </a:rPr>
              <a:t>gestionar</a:t>
            </a:r>
            <a:r>
              <a:rPr sz="1400" dirty="0">
                <a:solidFill>
                  <a:srgbClr val="EDEDED"/>
                </a:solidFill>
              </a:rPr>
              <a:t> Kubernetes</a:t>
            </a:r>
          </a:p>
          <a:p>
            <a:pPr>
              <a:defRPr sz="1200"/>
            </a:pPr>
            <a:r>
              <a:rPr sz="1400" dirty="0">
                <a:solidFill>
                  <a:srgbClr val="EDEDED"/>
                </a:solidFill>
              </a:rPr>
              <a:t>- </a:t>
            </a:r>
            <a:r>
              <a:rPr lang="es-ES" sz="1400" dirty="0">
                <a:solidFill>
                  <a:srgbClr val="EDEDED"/>
                </a:solidFill>
              </a:rPr>
              <a:t>Azure </a:t>
            </a:r>
            <a:r>
              <a:rPr lang="es-ES" sz="1400" dirty="0" err="1">
                <a:solidFill>
                  <a:srgbClr val="EDEDED"/>
                </a:solidFill>
              </a:rPr>
              <a:t>KeyVault</a:t>
            </a:r>
            <a:r>
              <a:rPr lang="es-ES" sz="1400" dirty="0">
                <a:solidFill>
                  <a:srgbClr val="EDEDED"/>
                </a:solidFill>
              </a:rPr>
              <a:t> </a:t>
            </a:r>
            <a:r>
              <a:rPr sz="1400" dirty="0">
                <a:solidFill>
                  <a:srgbClr val="EDEDED"/>
                </a:solidFill>
              </a:rPr>
              <a:t>· Azure SQL</a:t>
            </a:r>
            <a:r>
              <a:rPr lang="es-ES" sz="1400" dirty="0">
                <a:solidFill>
                  <a:srgbClr val="EDEDED"/>
                </a:solidFill>
              </a:rPr>
              <a:t> – </a:t>
            </a:r>
            <a:r>
              <a:rPr lang="es-ES" sz="1400" dirty="0" err="1">
                <a:solidFill>
                  <a:srgbClr val="EDEDED"/>
                </a:solidFill>
              </a:rPr>
              <a:t>Application</a:t>
            </a:r>
            <a:r>
              <a:rPr lang="es-ES" sz="1400" dirty="0">
                <a:solidFill>
                  <a:srgbClr val="EDEDED"/>
                </a:solidFill>
              </a:rPr>
              <a:t> </a:t>
            </a:r>
            <a:r>
              <a:rPr lang="es-ES" sz="1400" dirty="0" err="1">
                <a:solidFill>
                  <a:srgbClr val="EDEDED"/>
                </a:solidFill>
              </a:rPr>
              <a:t>Insights</a:t>
            </a:r>
            <a:endParaRPr sz="1300" dirty="0"/>
          </a:p>
        </p:txBody>
      </p:sp>
      <p:pic>
        <p:nvPicPr>
          <p:cNvPr id="4098" name="Picture 2" descr="Deploy ASP.NET Core Web Application to IIS in 5 Easy Steps | Bipin Joshi . NET">
            <a:extLst>
              <a:ext uri="{FF2B5EF4-FFF2-40B4-BE49-F238E27FC236}">
                <a16:creationId xmlns:a16="http://schemas.microsoft.com/office/drawing/2014/main" id="{92EDF9C2-6B34-AA36-6D6E-D3D707864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10" y="3977334"/>
            <a:ext cx="4910809" cy="212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ow to deploy an application on a cloud platform?">
            <a:extLst>
              <a:ext uri="{FF2B5EF4-FFF2-40B4-BE49-F238E27FC236}">
                <a16:creationId xmlns:a16="http://schemas.microsoft.com/office/drawing/2014/main" id="{2CD53410-BBCE-B893-E666-281C49BE2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1" y="2738437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ow to deploy an application on a cloud platform?">
            <a:extLst>
              <a:ext uri="{FF2B5EF4-FFF2-40B4-BE49-F238E27FC236}">
                <a16:creationId xmlns:a16="http://schemas.microsoft.com/office/drawing/2014/main" id="{AE5D5DB3-44EC-F370-4C44-699744E3E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1" y="4119562"/>
            <a:ext cx="5067934" cy="267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1051560"/>
            <a:ext cx="11338560" cy="877824"/>
          </a:xfrm>
        </p:spPr>
        <p:txBody>
          <a:bodyPr/>
          <a:lstStyle/>
          <a:p>
            <a:r>
              <a:rPr lang="es-ES"/>
              <a:t>Demo 1 · Azure: recorrido por el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7178040" cy="4389120"/>
          </a:xfrm>
        </p:spPr>
        <p:txBody>
          <a:bodyPr wrap="square" lIns="45720" tIns="45720" rIns="91440" bIns="45720" anchor="t">
            <a:noAutofit/>
          </a:bodyPr>
          <a:lstStyle/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A562D6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Entra en el portal con la suscripción de pruebas y abre un grupo de recursos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A562D6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Container Apps: el entorno, una app, sus revisiones, el escalado y los secretos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A562D6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Azure SQL: servidor, base de datos, firewall y cadena de conexión (sin enseñar la contraseña)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A562D6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Key Vault e identidad gestionada: quién puede leer cada secreto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A562D6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Costes: Cost Management, la calculadora de precios y una alerta de presupuesto</a:t>
            </a:r>
            <a:endParaRPr lang="es-ES" sz="1800"/>
          </a:p>
        </p:txBody>
      </p:sp>
      <p:sp>
        <p:nvSpPr>
          <p:cNvPr id="4" name="Etiqueta demo"/>
          <p:cNvSpPr/>
          <p:nvPr/>
        </p:nvSpPr>
        <p:spPr>
          <a:xfrm>
            <a:off x="457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A5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FFFF"/>
                </a:solidFill>
              </a:rPr>
              <a:t>DEMO 1 DE 6</a:t>
            </a:r>
            <a:endParaRPr lang="es-ES" sz="1200"/>
          </a:p>
        </p:txBody>
      </p:sp>
      <p:sp>
        <p:nvSpPr>
          <p:cNvPr id="5" name="Qué observar"/>
          <p:cNvSpPr/>
          <p:nvPr/>
        </p:nvSpPr>
        <p:spPr>
          <a:xfrm>
            <a:off x="8001000" y="2103120"/>
            <a:ext cx="3749039" cy="31546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1800" b="1">
                <a:solidFill>
                  <a:srgbClr val="A562D6"/>
                </a:solidFill>
              </a:rPr>
              <a:t>Qué observar</a:t>
            </a:r>
            <a:endParaRPr lang="es-ES" sz="18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A562D6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Todo cuelga de un grupo de recursos y se borra junto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A562D6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Los secretos no están en el código ni en la imagen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A562D6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Lo que no se usa, se para o se borra</a:t>
            </a:r>
            <a:endParaRPr lang="es-ES" sz="160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584A9-F1F0-9A17-3312-0FD95E52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4800" b="1" kern="1200"/>
              <a:t>2. Metodologías, herramientas y entornos</a:t>
            </a:r>
            <a:endParaRPr lang="en-US" sz="4800" kern="1200"/>
          </a:p>
        </p:txBody>
      </p:sp>
      <p:pic>
        <p:nvPicPr>
          <p:cNvPr id="6" name="Graphic 5" descr="Herramientas">
            <a:extLst>
              <a:ext uri="{FF2B5EF4-FFF2-40B4-BE49-F238E27FC236}">
                <a16:creationId xmlns:a16="http://schemas.microsoft.com/office/drawing/2014/main" id="{9BE4009C-31E6-180A-A835-189FD196F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51386" y="2334862"/>
            <a:ext cx="3717452" cy="371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287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/>
              <a:t>Scrum y flujo de ramas: cómo trabajamos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828800"/>
            <a:ext cx="4846320" cy="420624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56032" rIns="27432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2000" b="1">
                <a:solidFill>
                  <a:srgbClr val="A562D6"/>
                </a:solidFill>
              </a:rPr>
              <a:t>Scrum, en breve</a:t>
            </a:r>
            <a:endParaRPr lang="es-ES" sz="2000"/>
          </a:p>
          <a:p>
            <a:pPr marL="201168" indent="-201168" algn="l">
              <a:spcBef>
                <a:spcPts val="0"/>
              </a:spcBef>
              <a:spcAft>
                <a:spcPts val="800"/>
              </a:spcAft>
              <a:buClr>
                <a:srgbClr val="A562D6"/>
              </a:buClr>
              <a:buFont typeface="Arial"/>
              <a:buChar char="•"/>
            </a:pPr>
            <a:r>
              <a:rPr lang="es-ES" sz="1700" b="1">
                <a:solidFill>
                  <a:srgbClr val="EDEDED"/>
                </a:solidFill>
              </a:rPr>
              <a:t>Roles</a:t>
            </a:r>
            <a:r>
              <a:rPr lang="es-ES" sz="1700" b="0">
                <a:solidFill>
                  <a:srgbClr val="EDEDED"/>
                </a:solidFill>
              </a:rPr>
              <a:t>: Product Owner, Scrum Master y equipo de desarrollo</a:t>
            </a:r>
            <a:endParaRPr lang="es-ES" sz="1700"/>
          </a:p>
          <a:p>
            <a:pPr marL="201168" indent="-201168" algn="l">
              <a:spcBef>
                <a:spcPts val="0"/>
              </a:spcBef>
              <a:spcAft>
                <a:spcPts val="800"/>
              </a:spcAft>
              <a:buClr>
                <a:srgbClr val="A562D6"/>
              </a:buClr>
              <a:buFont typeface="Arial"/>
              <a:buChar char="•"/>
            </a:pPr>
            <a:r>
              <a:rPr lang="es-ES" sz="1700" b="1">
                <a:solidFill>
                  <a:srgbClr val="EDEDED"/>
                </a:solidFill>
              </a:rPr>
              <a:t>Sprints</a:t>
            </a:r>
            <a:r>
              <a:rPr lang="es-ES" sz="1700" b="0">
                <a:solidFill>
                  <a:srgbClr val="EDEDED"/>
                </a:solidFill>
              </a:rPr>
              <a:t> cortos sobre un backlog priorizado del producto</a:t>
            </a:r>
            <a:endParaRPr lang="es-ES" sz="1700"/>
          </a:p>
          <a:p>
            <a:pPr marL="201168" indent="-201168" algn="l">
              <a:spcBef>
                <a:spcPts val="0"/>
              </a:spcBef>
              <a:spcAft>
                <a:spcPts val="800"/>
              </a:spcAft>
              <a:buClr>
                <a:srgbClr val="A562D6"/>
              </a:buClr>
              <a:buFont typeface="Arial"/>
              <a:buChar char="•"/>
            </a:pPr>
            <a:r>
              <a:rPr lang="es-ES" sz="1700" b="1">
                <a:solidFill>
                  <a:srgbClr val="EDEDED"/>
                </a:solidFill>
              </a:rPr>
              <a:t>Reuniones</a:t>
            </a:r>
            <a:r>
              <a:rPr lang="es-ES" sz="1700" b="0">
                <a:solidFill>
                  <a:srgbClr val="EDEDED"/>
                </a:solidFill>
              </a:rPr>
              <a:t>: planificación, daily, review y retrospectiva</a:t>
            </a:r>
            <a:endParaRPr lang="es-ES" sz="1700"/>
          </a:p>
          <a:p>
            <a:pPr marL="201168" indent="-201168" algn="l">
              <a:spcBef>
                <a:spcPts val="0"/>
              </a:spcBef>
              <a:spcAft>
                <a:spcPts val="800"/>
              </a:spcAft>
              <a:buClr>
                <a:srgbClr val="A562D6"/>
              </a:buClr>
              <a:buFont typeface="Arial"/>
              <a:buChar char="•"/>
            </a:pPr>
            <a:r>
              <a:rPr lang="es-ES" sz="1700" b="1">
                <a:solidFill>
                  <a:srgbClr val="EDEDED"/>
                </a:solidFill>
              </a:rPr>
              <a:t>En el reto</a:t>
            </a:r>
            <a:r>
              <a:rPr lang="es-ES" sz="1700" b="0">
                <a:solidFill>
                  <a:srgbClr val="EDEDED"/>
                </a:solidFill>
              </a:rPr>
              <a:t>: cada parte termina con su demo (la review) y su retro</a:t>
            </a:r>
            <a:endParaRPr lang="es-ES" sz="1700"/>
          </a:p>
        </p:txBody>
      </p:sp>
      <p:sp>
        <p:nvSpPr>
          <p:cNvPr id="4" name="Rounded Rectangle 3"/>
          <p:cNvSpPr/>
          <p:nvPr/>
        </p:nvSpPr>
        <p:spPr>
          <a:xfrm>
            <a:off x="5943600" y="1828800"/>
            <a:ext cx="5394960" cy="420624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44768" y="1993392"/>
            <a:ext cx="5029200" cy="411480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E95D48"/>
                </a:solidFill>
              </a:rPr>
              <a:t>Flujo de ramas</a:t>
            </a:r>
            <a:endParaRPr lang="es-ES" sz="2000"/>
          </a:p>
        </p:txBody>
      </p:sp>
      <p:sp>
        <p:nvSpPr>
          <p:cNvPr id="6" name="TextBox 5"/>
          <p:cNvSpPr txBox="1"/>
          <p:nvPr/>
        </p:nvSpPr>
        <p:spPr>
          <a:xfrm>
            <a:off x="6144768" y="2468880"/>
            <a:ext cx="5029200" cy="347472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EDEDED"/>
                </a:solidFill>
              </a:rPr>
              <a:t>Partes I y II</a:t>
            </a:r>
            <a:r>
              <a:rPr lang="es-ES" sz="1400" b="0">
                <a:solidFill>
                  <a:srgbClr val="B9B6C2"/>
                </a:solidFill>
              </a:rPr>
              <a:t>: aún no hay nada en producción</a:t>
            </a:r>
            <a:endParaRPr lang="es-ES" sz="1400"/>
          </a:p>
        </p:txBody>
      </p:sp>
      <p:sp>
        <p:nvSpPr>
          <p:cNvPr id="7" name="Rounded Rectangle 6"/>
          <p:cNvSpPr/>
          <p:nvPr/>
        </p:nvSpPr>
        <p:spPr>
          <a:xfrm>
            <a:off x="6263640" y="2880360"/>
            <a:ext cx="2971800" cy="420624"/>
          </a:xfrm>
          <a:prstGeom prst="roundRect">
            <a:avLst>
              <a:gd name="adj" fmla="val 50000"/>
            </a:avLst>
          </a:prstGeom>
          <a:solidFill>
            <a:srgbClr val="201C28"/>
          </a:solidFill>
          <a:ln w="12700">
            <a:solidFill>
              <a:srgbClr val="8A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>
                <a:solidFill>
                  <a:srgbClr val="EDEDED"/>
                </a:solidFill>
                <a:latin typeface="Consolas"/>
              </a:rPr>
              <a:t>feature/ · fix/ · docs/</a:t>
            </a:r>
            <a:endParaRPr lang="es-ES" sz="1400"/>
          </a:p>
        </p:txBody>
      </p:sp>
      <p:cxnSp>
        <p:nvCxnSpPr>
          <p:cNvPr id="8" name="Connector 7"/>
          <p:cNvCxnSpPr/>
          <p:nvPr/>
        </p:nvCxnSpPr>
        <p:spPr>
          <a:xfrm>
            <a:off x="9281160" y="3090672"/>
            <a:ext cx="502920" cy="0"/>
          </a:xfrm>
          <a:prstGeom prst="line">
            <a:avLst/>
          </a:prstGeom>
          <a:ln w="22225">
            <a:solidFill>
              <a:srgbClr val="B9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829800" y="288036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CB49B2"/>
          </a:solidFill>
          <a:ln w="1270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>
                <a:solidFill>
                  <a:srgbClr val="FFFFFF"/>
                </a:solidFill>
                <a:latin typeface="Consolas"/>
              </a:rPr>
              <a:t>main</a:t>
            </a:r>
            <a:endParaRPr lang="es-ES" sz="1400"/>
          </a:p>
        </p:txBody>
      </p:sp>
      <p:sp>
        <p:nvSpPr>
          <p:cNvPr id="10" name="TextBox 9"/>
          <p:cNvSpPr txBox="1"/>
          <p:nvPr/>
        </p:nvSpPr>
        <p:spPr>
          <a:xfrm>
            <a:off x="6144768" y="3364992"/>
            <a:ext cx="5029200" cy="347472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>
                <a:solidFill>
                  <a:srgbClr val="B9B6C2"/>
                </a:solidFill>
              </a:rPr>
              <a:t>PR con «Uso de IA» y merge commit</a:t>
            </a:r>
            <a:endParaRPr lang="es-ES" sz="1300"/>
          </a:p>
        </p:txBody>
      </p:sp>
      <p:sp>
        <p:nvSpPr>
          <p:cNvPr id="11" name="TextBox 10"/>
          <p:cNvSpPr txBox="1"/>
          <p:nvPr/>
        </p:nvSpPr>
        <p:spPr>
          <a:xfrm>
            <a:off x="6144768" y="3886200"/>
            <a:ext cx="5029200" cy="347472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EDEDED"/>
                </a:solidFill>
              </a:rPr>
              <a:t>Desde la Parte III</a:t>
            </a:r>
            <a:r>
              <a:rPr lang="es-ES" sz="1400" b="0">
                <a:solidFill>
                  <a:srgbClr val="B9B6C2"/>
                </a:solidFill>
              </a:rPr>
              <a:t>: ya hay un MVP en producción</a:t>
            </a:r>
            <a:endParaRPr lang="es-ES" sz="1400"/>
          </a:p>
        </p:txBody>
      </p:sp>
      <p:sp>
        <p:nvSpPr>
          <p:cNvPr id="12" name="Rounded Rectangle 11"/>
          <p:cNvSpPr/>
          <p:nvPr/>
        </p:nvSpPr>
        <p:spPr>
          <a:xfrm>
            <a:off x="6263640" y="429768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201C28"/>
          </a:solidFill>
          <a:ln w="12700">
            <a:solidFill>
              <a:srgbClr val="8A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>
                <a:solidFill>
                  <a:srgbClr val="EDEDED"/>
                </a:solidFill>
                <a:latin typeface="Consolas"/>
              </a:rPr>
              <a:t>feature/*</a:t>
            </a:r>
            <a:endParaRPr lang="es-ES" sz="1400"/>
          </a:p>
        </p:txBody>
      </p:sp>
      <p:cxnSp>
        <p:nvCxnSpPr>
          <p:cNvPr id="13" name="Connector 12"/>
          <p:cNvCxnSpPr/>
          <p:nvPr/>
        </p:nvCxnSpPr>
        <p:spPr>
          <a:xfrm>
            <a:off x="7616952" y="4507992"/>
            <a:ext cx="411479" cy="0"/>
          </a:xfrm>
          <a:prstGeom prst="line">
            <a:avLst/>
          </a:prstGeom>
          <a:ln w="22225">
            <a:solidFill>
              <a:srgbClr val="B9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65008" y="4297680"/>
            <a:ext cx="1325880" cy="420624"/>
          </a:xfrm>
          <a:prstGeom prst="roundRect">
            <a:avLst>
              <a:gd name="adj" fmla="val 50000"/>
            </a:avLst>
          </a:prstGeom>
          <a:solidFill>
            <a:srgbClr val="7C3191"/>
          </a:solidFill>
          <a:ln w="12700">
            <a:solidFill>
              <a:srgbClr val="7C31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>
                <a:solidFill>
                  <a:srgbClr val="FFFFFF"/>
                </a:solidFill>
                <a:latin typeface="Consolas"/>
              </a:rPr>
              <a:t>develop</a:t>
            </a:r>
            <a:endParaRPr lang="es-ES" sz="1400"/>
          </a:p>
        </p:txBody>
      </p:sp>
      <p:cxnSp>
        <p:nvCxnSpPr>
          <p:cNvPr id="15" name="Connector 14"/>
          <p:cNvCxnSpPr/>
          <p:nvPr/>
        </p:nvCxnSpPr>
        <p:spPr>
          <a:xfrm>
            <a:off x="9418320" y="4507992"/>
            <a:ext cx="411480" cy="0"/>
          </a:xfrm>
          <a:prstGeom prst="line">
            <a:avLst/>
          </a:prstGeom>
          <a:ln w="22225">
            <a:solidFill>
              <a:srgbClr val="B9B6C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57232" y="4297680"/>
            <a:ext cx="1188720" cy="420624"/>
          </a:xfrm>
          <a:prstGeom prst="roundRect">
            <a:avLst>
              <a:gd name="adj" fmla="val 50000"/>
            </a:avLst>
          </a:prstGeom>
          <a:solidFill>
            <a:srgbClr val="CB49B2"/>
          </a:solidFill>
          <a:ln w="1270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>
                <a:solidFill>
                  <a:srgbClr val="FFFFFF"/>
                </a:solidFill>
                <a:latin typeface="Consolas"/>
              </a:rPr>
              <a:t>main</a:t>
            </a:r>
            <a:endParaRPr lang="es-ES" sz="1400"/>
          </a:p>
        </p:txBody>
      </p:sp>
      <p:sp>
        <p:nvSpPr>
          <p:cNvPr id="17" name="TextBox 16"/>
          <p:cNvSpPr txBox="1"/>
          <p:nvPr/>
        </p:nvSpPr>
        <p:spPr>
          <a:xfrm>
            <a:off x="6144768" y="4773168"/>
            <a:ext cx="5074920" cy="566928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0">
                <a:solidFill>
                  <a:srgbClr val="B9B6C2"/>
                </a:solidFill>
              </a:rPr>
              <a:t>Squash a develop · release a main con merge commit y etiqueta (v0.1.0, v0.2.0…)</a:t>
            </a:r>
            <a:endParaRPr lang="es-ES" sz="1300"/>
          </a:p>
        </p:txBody>
      </p:sp>
      <p:sp>
        <p:nvSpPr>
          <p:cNvPr id="18" name="TextBox 17"/>
          <p:cNvSpPr txBox="1"/>
          <p:nvPr/>
        </p:nvSpPr>
        <p:spPr>
          <a:xfrm>
            <a:off x="6144768" y="5376672"/>
            <a:ext cx="5074920" cy="457200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b="1">
                <a:solidFill>
                  <a:srgbClr val="EDEDED"/>
                </a:solidFill>
              </a:rPr>
              <a:t>hotfix/*</a:t>
            </a:r>
            <a:r>
              <a:rPr lang="es-ES" sz="1300" b="0">
                <a:solidFill>
                  <a:srgbClr val="B9B6C2"/>
                </a:solidFill>
              </a:rPr>
              <a:t> sale de main y vuelve a main y a develop</a:t>
            </a:r>
            <a:endParaRPr lang="es-ES" sz="13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4B6C6-7993-BDCE-51C1-9E9BA86D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6F8E61-1C65-A79E-702F-B3A1BF356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122" name="Picture 2" descr="Automating Java Application Deployment with GitHub Actions | by Khouloud  Haddad Amamou | Stackademic">
            <a:extLst>
              <a:ext uri="{FF2B5EF4-FFF2-40B4-BE49-F238E27FC236}">
                <a16:creationId xmlns:a16="http://schemas.microsoft.com/office/drawing/2014/main" id="{850FDBED-ABFD-807E-1C99-4AB864D61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2704" y="-96253"/>
            <a:ext cx="12363116" cy="695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913006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834" y="640823"/>
            <a:ext cx="3417769" cy="5583148"/>
          </a:xfrm>
        </p:spPr>
        <p:txBody>
          <a:bodyPr anchor="ctr">
            <a:normAutofit/>
          </a:bodyPr>
          <a:lstStyle/>
          <a:p>
            <a:r>
              <a:rPr lang="es-ES" sz="5300" dirty="0"/>
              <a:t>CI/CD con GitHub </a:t>
            </a:r>
            <a:r>
              <a:rPr lang="es-ES" sz="5300" dirty="0" err="1"/>
              <a:t>Actions</a:t>
            </a:r>
            <a:r>
              <a:rPr lang="es-ES" sz="5300" dirty="0"/>
              <a:t>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E52C33-5C4C-4F07-DD86-8305F5683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422476"/>
              </p:ext>
            </p:extLst>
          </p:nvPr>
        </p:nvGraphicFramePr>
        <p:xfrm>
          <a:off x="4646807" y="640822"/>
          <a:ext cx="6898715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1051560"/>
            <a:ext cx="11338560" cy="877824"/>
          </a:xfrm>
        </p:spPr>
        <p:txBody>
          <a:bodyPr/>
          <a:lstStyle/>
          <a:p>
            <a:r>
              <a:rPr lang="es-ES"/>
              <a:t>Demo 2 · GitHub Actions: lanzar la CI desde un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7178040" cy="4389120"/>
          </a:xfrm>
        </p:spPr>
        <p:txBody>
          <a:bodyPr wrap="square" lIns="45720" tIns="45720" rIns="91440" bIns="45720" anchor="t">
            <a:noAutofit/>
          </a:bodyPr>
          <a:lstStyle/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Abre el workflow (.github/workflows): disparadores, job y pasos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Crea una rama de prueba con un cambio pequeño y abre un PR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Sigue la ejecución en Actions: restore, build, test y análisis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Rompe un test a propósito: el check se pone en rojo y el PR no se puede fusionar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Arréglalo, vuelve a subir y mira cómo se repite la ejecución</a:t>
            </a:r>
            <a:endParaRPr lang="es-ES" sz="1800"/>
          </a:p>
        </p:txBody>
      </p:sp>
      <p:sp>
        <p:nvSpPr>
          <p:cNvPr id="4" name="Etiqueta demo"/>
          <p:cNvSpPr/>
          <p:nvPr/>
        </p:nvSpPr>
        <p:spPr>
          <a:xfrm>
            <a:off x="457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FFFF"/>
                </a:solidFill>
              </a:rPr>
              <a:t>DEMO 2 DE 6</a:t>
            </a:r>
            <a:endParaRPr lang="es-ES" sz="1200"/>
          </a:p>
        </p:txBody>
      </p:sp>
      <p:sp>
        <p:nvSpPr>
          <p:cNvPr id="5" name="Qué observar"/>
          <p:cNvSpPr/>
          <p:nvPr/>
        </p:nvSpPr>
        <p:spPr>
          <a:xfrm>
            <a:off x="8001000" y="2103120"/>
            <a:ext cx="3749039" cy="31546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1800" b="1">
                <a:solidFill>
                  <a:srgbClr val="CB49B2"/>
                </a:solidFill>
              </a:rPr>
              <a:t>Qué observar</a:t>
            </a:r>
            <a:endParaRPr lang="es-ES" sz="18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La versión del SDK sale del global.json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Los secretos se leen de Settings, nunca del YAML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El ruleset hace obligatorio el check para fusionar</a:t>
            </a:r>
            <a:endParaRPr lang="es-ES" sz="160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798" y="859536"/>
            <a:ext cx="5307484" cy="11704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s-ES" sz="3400"/>
              <a:t>Calidad: SonarQube Cloud</a:t>
            </a:r>
          </a:p>
        </p:txBody>
      </p:sp>
      <p:pic>
        <p:nvPicPr>
          <p:cNvPr id="5124" name="Picture 4" descr="Setting up a GitHub App | Sonar Documentation">
            <a:extLst>
              <a:ext uri="{FF2B5EF4-FFF2-40B4-BE49-F238E27FC236}">
                <a16:creationId xmlns:a16="http://schemas.microsoft.com/office/drawing/2014/main" id="{D5805823-8F67-9A7A-98FB-74B7D79C7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7144" y="601132"/>
            <a:ext cx="6125925" cy="245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Automate Code Analysis with SonarQube Cloud &amp; Github Actions | by Kanchana  Ranmuthu | Level Up Coding">
            <a:extLst>
              <a:ext uri="{FF2B5EF4-FFF2-40B4-BE49-F238E27FC236}">
                <a16:creationId xmlns:a16="http://schemas.microsoft.com/office/drawing/2014/main" id="{58F90504-E55B-37F5-CDB7-A09C4BA6D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1076" y="4067554"/>
            <a:ext cx="5644055" cy="162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uadroTexto 3">
            <a:extLst>
              <a:ext uri="{FF2B5EF4-FFF2-40B4-BE49-F238E27FC236}">
                <a16:creationId xmlns:a16="http://schemas.microsoft.com/office/drawing/2014/main" id="{C20085AD-158F-0B7C-7A39-0732FA737D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8107701"/>
              </p:ext>
            </p:extLst>
          </p:nvPr>
        </p:nvGraphicFramePr>
        <p:xfrm>
          <a:off x="438797" y="2512611"/>
          <a:ext cx="4831545" cy="3664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140" name="Nota quality gate"/>
          <p:cNvSpPr txBox="1"/>
          <p:nvPr/>
        </p:nvSpPr>
        <p:spPr>
          <a:xfrm>
            <a:off x="6126480" y="3127248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/>
              <a:t>Quality gate «Sonar way»</a:t>
            </a:r>
            <a:r>
              <a:rPr sz="1300" b="0"/>
              <a:t>, solo código nuevo: fiabilidad, seguridad y mantenibilidad A · cobertura ≥ 80 % · duplicación ≤ 3 % · hotspots revisados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1051560"/>
            <a:ext cx="11338560" cy="877824"/>
          </a:xfrm>
        </p:spPr>
        <p:txBody>
          <a:bodyPr/>
          <a:lstStyle/>
          <a:p>
            <a:r>
              <a:rPr lang="es-ES"/>
              <a:t>Demo 3 · SonarQube Cloud: issues y quality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7178040" cy="4389120"/>
          </a:xfrm>
        </p:spPr>
        <p:txBody>
          <a:bodyPr wrap="square" lIns="45720" tIns="45720" rIns="91440" bIns="45720" anchor="t">
            <a:noAutofit/>
          </a:bodyPr>
          <a:lstStyle/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Desde el check del PR, abre el análisis en SonarQube Cloud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Overview: quality gate, cobertura y duplicación del código nuevo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Issues: filtra por tipo y severidad y abre uno para ver la regla y cómo arreglarlo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Security hotspots: revisa uno y márcalo como seguro o como pendiente de corregir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En VS Code, SonarQube for IDE señala el mismo problema mientras escribes</a:t>
            </a:r>
            <a:endParaRPr lang="es-ES" sz="1800"/>
          </a:p>
        </p:txBody>
      </p:sp>
      <p:sp>
        <p:nvSpPr>
          <p:cNvPr id="4" name="Etiqueta demo"/>
          <p:cNvSpPr/>
          <p:nvPr/>
        </p:nvSpPr>
        <p:spPr>
          <a:xfrm>
            <a:off x="457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FFFF"/>
                </a:solidFill>
              </a:rPr>
              <a:t>DEMO 3 DE 6</a:t>
            </a:r>
            <a:endParaRPr lang="es-ES" sz="1200"/>
          </a:p>
        </p:txBody>
      </p:sp>
      <p:sp>
        <p:nvSpPr>
          <p:cNvPr id="5" name="Qué observar"/>
          <p:cNvSpPr/>
          <p:nvPr/>
        </p:nvSpPr>
        <p:spPr>
          <a:xfrm>
            <a:off x="8001000" y="2103120"/>
            <a:ext cx="3749039" cy="31546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1800" b="1">
                <a:solidFill>
                  <a:srgbClr val="CB49B2"/>
                </a:solidFill>
              </a:rPr>
              <a:t>Qué observar</a:t>
            </a:r>
            <a:endParaRPr lang="es-ES" sz="18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El gate solo mira el código nuevo o cambiado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Son dos checks en el PR: la CI y «SonarCloud Code Analysis»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Un issue se arregla en el código; no se descarta sin motivo</a:t>
            </a:r>
            <a:endParaRPr lang="es-ES" sz="160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Seguridad y datos desde el primer día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2103120"/>
            <a:ext cx="914400" cy="914400"/>
          </a:xfrm>
          <a:prstGeom prst="ellipse">
            <a:avLst/>
          </a:prstGeom>
          <a:solidFill>
            <a:srgbClr val="F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860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2011679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rgbClr val="FFFFFF"/>
                </a:solidFill>
              </a:rPr>
              <a:t>Secretos</a:t>
            </a:r>
            <a:r>
              <a:rPr lang="es-ES" sz="1500" b="0" dirty="0">
                <a:solidFill>
                  <a:srgbClr val="EDEDED"/>
                </a:solidFill>
              </a:rPr>
              <a:t>: nunca en el repo. En local, </a:t>
            </a:r>
            <a:r>
              <a:rPr lang="es-ES" sz="1500" b="0" dirty="0" err="1">
                <a:solidFill>
                  <a:srgbClr val="EDEDED"/>
                </a:solidFill>
              </a:rPr>
              <a:t>dotnet</a:t>
            </a:r>
            <a:r>
              <a:rPr lang="es-ES" sz="1500" b="0" dirty="0">
                <a:solidFill>
                  <a:srgbClr val="EDEDED"/>
                </a:solidFill>
              </a:rPr>
              <a:t> </a:t>
            </a:r>
            <a:r>
              <a:rPr lang="es-ES" sz="1500" b="0" dirty="0" err="1">
                <a:solidFill>
                  <a:srgbClr val="EDEDED"/>
                </a:solidFill>
              </a:rPr>
              <a:t>user-secrets</a:t>
            </a:r>
            <a:r>
              <a:rPr lang="es-ES" sz="1500" b="0" dirty="0">
                <a:solidFill>
                  <a:srgbClr val="EDEDED"/>
                </a:solidFill>
              </a:rPr>
              <a:t>; en la CI, secretos de GitHub; en Azure, Key Vault o secretos de Container Apps</a:t>
            </a:r>
            <a:endParaRPr lang="es-ES" sz="1500" dirty="0"/>
          </a:p>
        </p:txBody>
      </p:sp>
      <p:sp>
        <p:nvSpPr>
          <p:cNvPr id="6" name="Oval 5"/>
          <p:cNvSpPr/>
          <p:nvPr/>
        </p:nvSpPr>
        <p:spPr>
          <a:xfrm>
            <a:off x="6355080" y="2103120"/>
            <a:ext cx="914400" cy="914400"/>
          </a:xfrm>
          <a:prstGeom prst="ellipse">
            <a:avLst/>
          </a:prstGeom>
          <a:solidFill>
            <a:srgbClr val="F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8600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2011679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Datos ficticios y mínimos</a:t>
            </a:r>
            <a:r>
              <a:rPr lang="es-ES" sz="1500" b="0">
                <a:solidFill>
                  <a:srgbClr val="EDEDED"/>
                </a:solidFill>
              </a:rPr>
              <a:t>: solo lo necesario de cada jugador (16 años o más, sin teléfono, foto ni datos de salud)</a:t>
            </a:r>
            <a:endParaRPr lang="es-ES" sz="1500"/>
          </a:p>
        </p:txBody>
      </p:sp>
      <p:sp>
        <p:nvSpPr>
          <p:cNvPr id="9" name="Oval 8"/>
          <p:cNvSpPr/>
          <p:nvPr/>
        </p:nvSpPr>
        <p:spPr>
          <a:xfrm>
            <a:off x="777240" y="3474720"/>
            <a:ext cx="914400" cy="914400"/>
          </a:xfrm>
          <a:prstGeom prst="ellipse">
            <a:avLst/>
          </a:prstGeom>
          <a:solidFill>
            <a:srgbClr val="F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65760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3383279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Autorización en el servidor</a:t>
            </a:r>
            <a:r>
              <a:rPr lang="es-ES" sz="1500" b="0">
                <a:solidFill>
                  <a:srgbClr val="EDEDED"/>
                </a:solidFill>
              </a:rPr>
              <a:t>: cada uno solo ve y cambia lo suyo (R7 y R8); ocultar un botón no basta</a:t>
            </a:r>
            <a:endParaRPr lang="es-ES" sz="1500"/>
          </a:p>
        </p:txBody>
      </p:sp>
      <p:sp>
        <p:nvSpPr>
          <p:cNvPr id="12" name="Oval 11"/>
          <p:cNvSpPr/>
          <p:nvPr/>
        </p:nvSpPr>
        <p:spPr>
          <a:xfrm>
            <a:off x="6355080" y="3474720"/>
            <a:ext cx="914400" cy="914400"/>
          </a:xfrm>
          <a:prstGeom prst="ellipse">
            <a:avLst/>
          </a:prstGeom>
          <a:solidFill>
            <a:srgbClr val="F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657600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79" y="3383279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Dependencias</a:t>
            </a:r>
            <a:r>
              <a:rPr lang="es-ES" sz="1500" b="0">
                <a:solidFill>
                  <a:srgbClr val="EDEDED"/>
                </a:solidFill>
              </a:rPr>
              <a:t>: paquetes NuGet conocidos y sin vulnerabilidades (dotnet list package --vulnerable)</a:t>
            </a:r>
            <a:endParaRPr lang="es-ES" sz="1500"/>
          </a:p>
        </p:txBody>
      </p:sp>
      <p:sp>
        <p:nvSpPr>
          <p:cNvPr id="15" name="Oval 14"/>
          <p:cNvSpPr/>
          <p:nvPr/>
        </p:nvSpPr>
        <p:spPr>
          <a:xfrm>
            <a:off x="777240" y="4846320"/>
            <a:ext cx="914400" cy="914400"/>
          </a:xfrm>
          <a:prstGeom prst="ellipse">
            <a:avLst/>
          </a:prstGeom>
          <a:solidFill>
            <a:srgbClr val="F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02920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20240" y="4754880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Logs</a:t>
            </a:r>
            <a:r>
              <a:rPr lang="es-ES" sz="1500" b="0">
                <a:solidFill>
                  <a:srgbClr val="EDEDED"/>
                </a:solidFill>
              </a:rPr>
              <a:t>: sin datos personales ni secretos</a:t>
            </a:r>
            <a:endParaRPr lang="es-ES" sz="1500"/>
          </a:p>
        </p:txBody>
      </p:sp>
      <p:sp>
        <p:nvSpPr>
          <p:cNvPr id="18" name="Oval 17"/>
          <p:cNvSpPr/>
          <p:nvPr/>
        </p:nvSpPr>
        <p:spPr>
          <a:xfrm>
            <a:off x="6355080" y="4846320"/>
            <a:ext cx="914400" cy="914400"/>
          </a:xfrm>
          <a:prstGeom prst="ellipse">
            <a:avLst/>
          </a:prstGeom>
          <a:solidFill>
            <a:srgbClr val="F6BE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029200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98079" y="4754880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Código generado por IA</a:t>
            </a:r>
            <a:r>
              <a:rPr lang="es-ES" sz="1500" b="0">
                <a:solidFill>
                  <a:srgbClr val="EDEDED"/>
                </a:solidFill>
              </a:rPr>
              <a:t>: se revisa como el de cualquiera; el PR trampa del final lo pone a prueba</a:t>
            </a:r>
            <a:endParaRPr lang="es-ES" sz="15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630" y="1161288"/>
            <a:ext cx="3601797" cy="4526280"/>
          </a:xfrm>
        </p:spPr>
        <p:txBody>
          <a:bodyPr>
            <a:normAutofit/>
          </a:bodyPr>
          <a:lstStyle/>
          <a:p>
            <a:r>
              <a:rPr lang="es-ES" sz="4000"/>
              <a:t>Herramientas prácticas y demos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02DF6DC-2A72-3E84-12A0-685B5515C5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077724"/>
              </p:ext>
            </p:extLst>
          </p:nvPr>
        </p:nvGraphicFramePr>
        <p:xfrm>
          <a:off x="5302138" y="676656"/>
          <a:ext cx="6362567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1051560"/>
            <a:ext cx="11338560" cy="877824"/>
          </a:xfrm>
        </p:spPr>
        <p:txBody>
          <a:bodyPr/>
          <a:lstStyle/>
          <a:p>
            <a:r>
              <a:rPr lang="es-ES"/>
              <a:t>Demo 4 · VS Code y SQL Server en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7178040" cy="4389120"/>
          </a:xfrm>
        </p:spPr>
        <p:txBody>
          <a:bodyPr wrap="square" lIns="45720" tIns="45720" rIns="91440" bIns="45720" anchor="t">
            <a:noAutofit/>
          </a:bodyPr>
          <a:lstStyle/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dotnet new console en una carpeta de prueba y ábrela en VS Code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Extensiones recomendadas: C# Dev Kit y las de .vscode/extensions.json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dotnet add package con un paquete NuGet y míralo en el .csproj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Compila, ejecuta y depura con un punto de interrupción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CB49B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Si da tiempo: SQL Server en Docker, conectarse con la extensión mssql y lanzar una consulta</a:t>
            </a:r>
            <a:endParaRPr lang="es-ES" sz="1800"/>
          </a:p>
        </p:txBody>
      </p:sp>
      <p:sp>
        <p:nvSpPr>
          <p:cNvPr id="4" name="Etiqueta demo"/>
          <p:cNvSpPr/>
          <p:nvPr/>
        </p:nvSpPr>
        <p:spPr>
          <a:xfrm>
            <a:off x="457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FFFF"/>
                </a:solidFill>
              </a:rPr>
              <a:t>DEMO 4 DE 6</a:t>
            </a:r>
            <a:endParaRPr lang="es-ES" sz="1200"/>
          </a:p>
        </p:txBody>
      </p:sp>
      <p:sp>
        <p:nvSpPr>
          <p:cNvPr id="5" name="Qué observar"/>
          <p:cNvSpPr/>
          <p:nvPr/>
        </p:nvSpPr>
        <p:spPr>
          <a:xfrm>
            <a:off x="8001000" y="2103120"/>
            <a:ext cx="3749039" cy="31546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1800" b="1">
                <a:solidFill>
                  <a:srgbClr val="CB49B2"/>
                </a:solidFill>
              </a:rPr>
              <a:t>Qué observar</a:t>
            </a:r>
            <a:endParaRPr lang="es-ES" sz="18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Todo se puede hacer desde la terminal: VS Code lo facilita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La contraseña de sa nunca va al repositorio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Sin volumen, al borrar el contenedor se pierden los datos</a:t>
            </a:r>
            <a:endParaRPr lang="es-ES" sz="160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5E664-0923-593E-070B-3DCADDCD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2" y="2704772"/>
            <a:ext cx="8024675" cy="27333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s-ES" sz="6700" b="1" kern="1200" dirty="0"/>
              <a:t>3. Desarrollo asistido por IA</a:t>
            </a:r>
          </a:p>
        </p:txBody>
      </p:sp>
    </p:spTree>
    <p:extLst>
      <p:ext uri="{BB962C8B-B14F-4D97-AF65-F5344CB8AC3E}">
        <p14:creationId xmlns:p14="http://schemas.microsoft.com/office/powerpoint/2010/main" val="23058560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Cómo usamos la IA en el reto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2103120"/>
            <a:ext cx="914400" cy="914400"/>
          </a:xfrm>
          <a:prstGeom prst="ellipse">
            <a:avLst/>
          </a:prstGeom>
          <a:solidFill>
            <a:srgbClr val="D7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860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0240" y="2011679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AGENTS.md</a:t>
            </a:r>
            <a:r>
              <a:rPr lang="es-ES" sz="1500" b="0">
                <a:solidFill>
                  <a:srgbClr val="EDEDED"/>
                </a:solidFill>
              </a:rPr>
              <a:t>: instrucciones únicas para Claude y Copilot (CLAUDE.md y copilot-instructions.md apuntan ahí)</a:t>
            </a:r>
            <a:endParaRPr lang="es-ES" sz="1500"/>
          </a:p>
        </p:txBody>
      </p:sp>
      <p:sp>
        <p:nvSpPr>
          <p:cNvPr id="6" name="Oval 5"/>
          <p:cNvSpPr/>
          <p:nvPr/>
        </p:nvSpPr>
        <p:spPr>
          <a:xfrm>
            <a:off x="6355080" y="2103120"/>
            <a:ext cx="914400" cy="914400"/>
          </a:xfrm>
          <a:prstGeom prst="ellipse">
            <a:avLst/>
          </a:prstGeom>
          <a:solidFill>
            <a:srgbClr val="D7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28600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2011679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Modo tutor</a:t>
            </a:r>
            <a:r>
              <a:rPr lang="es-ES" sz="1500" b="0">
                <a:solidFill>
                  <a:srgbClr val="EDEDED"/>
                </a:solidFill>
              </a:rPr>
              <a:t>: la IA explica, pregunta y da pistas; no te da la solución hecha</a:t>
            </a:r>
            <a:endParaRPr lang="es-ES" sz="1500"/>
          </a:p>
        </p:txBody>
      </p:sp>
      <p:sp>
        <p:nvSpPr>
          <p:cNvPr id="9" name="Oval 8"/>
          <p:cNvSpPr/>
          <p:nvPr/>
        </p:nvSpPr>
        <p:spPr>
          <a:xfrm>
            <a:off x="777240" y="3474720"/>
            <a:ext cx="914400" cy="914400"/>
          </a:xfrm>
          <a:prstGeom prst="ellipse">
            <a:avLst/>
          </a:prstGeom>
          <a:solidFill>
            <a:srgbClr val="D7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365760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3383279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Primero tú, después la IA</a:t>
            </a:r>
            <a:r>
              <a:rPr lang="es-ES" sz="1500" b="0">
                <a:solidFill>
                  <a:srgbClr val="EDEDED"/>
                </a:solidFill>
              </a:rPr>
              <a:t>: comparas y anotas las diferencias en el PR</a:t>
            </a:r>
            <a:endParaRPr lang="es-ES" sz="1500"/>
          </a:p>
        </p:txBody>
      </p:sp>
      <p:sp>
        <p:nvSpPr>
          <p:cNvPr id="12" name="Oval 11"/>
          <p:cNvSpPr/>
          <p:nvPr/>
        </p:nvSpPr>
        <p:spPr>
          <a:xfrm>
            <a:off x="6355080" y="3474720"/>
            <a:ext cx="914400" cy="914400"/>
          </a:xfrm>
          <a:prstGeom prst="ellipse">
            <a:avLst/>
          </a:prstGeom>
          <a:solidFill>
            <a:srgbClr val="D7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657600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79" y="3383279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«Uso de IA» en cada PR</a:t>
            </a:r>
            <a:r>
              <a:rPr lang="es-ES" sz="1500" b="0">
                <a:solidFill>
                  <a:srgbClr val="EDEDED"/>
                </a:solidFill>
              </a:rPr>
              <a:t>: qué generaste, qué revisaste y cómo</a:t>
            </a:r>
            <a:endParaRPr lang="es-ES" sz="1500"/>
          </a:p>
        </p:txBody>
      </p:sp>
      <p:sp>
        <p:nvSpPr>
          <p:cNvPr id="15" name="Oval 14"/>
          <p:cNvSpPr/>
          <p:nvPr/>
        </p:nvSpPr>
        <p:spPr>
          <a:xfrm>
            <a:off x="777240" y="4846320"/>
            <a:ext cx="914400" cy="914400"/>
          </a:xfrm>
          <a:prstGeom prst="ellipse">
            <a:avLst/>
          </a:prstGeom>
          <a:solidFill>
            <a:srgbClr val="D7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02920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20240" y="4754880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Nada de secretos ni datos reales</a:t>
            </a:r>
            <a:r>
              <a:rPr lang="es-ES" sz="1500" b="0">
                <a:solidFill>
                  <a:srgbClr val="EDEDED"/>
                </a:solidFill>
              </a:rPr>
              <a:t> en los prompts</a:t>
            </a:r>
            <a:endParaRPr lang="es-ES" sz="1500"/>
          </a:p>
        </p:txBody>
      </p:sp>
      <p:sp>
        <p:nvSpPr>
          <p:cNvPr id="18" name="Oval 17"/>
          <p:cNvSpPr/>
          <p:nvPr/>
        </p:nvSpPr>
        <p:spPr>
          <a:xfrm>
            <a:off x="6355080" y="4846320"/>
            <a:ext cx="914400" cy="914400"/>
          </a:xfrm>
          <a:prstGeom prst="ellipse">
            <a:avLst/>
          </a:prstGeom>
          <a:solidFill>
            <a:srgbClr val="D7B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029200"/>
            <a:ext cx="548640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98079" y="4754880"/>
            <a:ext cx="4160520" cy="10972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rgbClr val="FFFFFF"/>
                </a:solidFill>
              </a:rPr>
              <a:t>Excepción</a:t>
            </a:r>
            <a:r>
              <a:rPr lang="es-ES" sz="1500" b="0">
                <a:solidFill>
                  <a:srgbClr val="EDEDED"/>
                </a:solidFill>
              </a:rPr>
              <a:t>: en la Parte III (SDD) la IA escribe el código y tú lo revisas</a:t>
            </a:r>
            <a:endParaRPr lang="es-ES" sz="15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028" y="548640"/>
            <a:ext cx="3599923" cy="5431536"/>
          </a:xfrm>
        </p:spPr>
        <p:txBody>
          <a:bodyPr>
            <a:normAutofit/>
          </a:bodyPr>
          <a:lstStyle/>
          <a:p>
            <a:r>
              <a:rPr lang="es-ES" sz="5300"/>
              <a:t>Tokens y ventana de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5082" y="552091"/>
            <a:ext cx="6222715" cy="5431536"/>
          </a:xfrm>
        </p:spPr>
        <p:txBody>
          <a:bodyPr anchor="ctr">
            <a:noAutofit/>
          </a:bodyPr>
          <a:lstStyle/>
          <a:p>
            <a:r>
              <a:rPr lang="es-ES" sz="1800" b="1"/>
              <a:t>Token</a:t>
            </a:r>
            <a:r>
              <a:rPr lang="es-ES" sz="1800"/>
              <a:t>: el trozo de texto con el que trabaja el modelo. Una palabra puede ser uno o varios; el código y el español suelen gastar más que el inglés</a:t>
            </a:r>
          </a:p>
          <a:p>
            <a:r>
              <a:rPr lang="es-ES" sz="1800" b="1"/>
              <a:t>Ventana de contexto</a:t>
            </a:r>
            <a:r>
              <a:rPr lang="es-ES" sz="1800"/>
              <a:t>: todo lo que el modelo «ve» en cada petición: instrucciones, ficheros, historial y tu mensaje</a:t>
            </a:r>
          </a:p>
          <a:p>
            <a:r>
              <a:rPr lang="es-ES" sz="1800" b="1"/>
              <a:t>Coste</a:t>
            </a:r>
            <a:r>
              <a:rPr lang="es-ES" sz="1800"/>
              <a:t>: se paga (en dinero o en cuota) por tokens de entrada y de salida</a:t>
            </a:r>
          </a:p>
          <a:p>
            <a:r>
              <a:rPr lang="es-ES" sz="1800" b="1"/>
              <a:t>Más contexto no es mejor</a:t>
            </a:r>
            <a:r>
              <a:rPr lang="es-ES" sz="1800"/>
              <a:t>: da lo relevante, abre una sesión nueva para cada tarea, no pegues ficheros enteros sin motivo</a:t>
            </a:r>
          </a:p>
          <a:p>
            <a:r>
              <a:rPr lang="es-ES" sz="1800" b="1"/>
              <a:t>Cómo verlo</a:t>
            </a:r>
            <a:r>
              <a:rPr lang="es-ES" sz="1800"/>
              <a:t>: Claude Code muestra el uso con /cost; Copilot cuenta peticiones premium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rPr lang="es-ES" sz="5300"/>
              <a:t>Cómo escribir un prompt efectivo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981" y="1929384"/>
            <a:ext cx="10512862" cy="4251960"/>
          </a:xfrm>
        </p:spPr>
        <p:txBody>
          <a:bodyPr>
            <a:noAutofit/>
          </a:bodyPr>
          <a:lstStyle/>
          <a:p>
            <a:r>
              <a:rPr lang="es-ES" sz="2200" b="1"/>
              <a:t>Contexto</a:t>
            </a:r>
            <a:r>
              <a:rPr lang="es-ES" sz="2200"/>
              <a:t>: qué proyecto es, qué ficheros importan y qué sabes ya</a:t>
            </a:r>
          </a:p>
          <a:p>
            <a:r>
              <a:rPr lang="es-ES" sz="2200" b="1"/>
              <a:t>Tarea</a:t>
            </a:r>
            <a:r>
              <a:rPr lang="es-ES" sz="2200"/>
              <a:t>: un objetivo concreto y comprobable; si es grande, en pasos</a:t>
            </a:r>
          </a:p>
          <a:p>
            <a:r>
              <a:rPr lang="es-ES" sz="2200" b="1"/>
              <a:t>Restricciones</a:t>
            </a:r>
            <a:r>
              <a:rPr lang="es-ES" sz="2200"/>
              <a:t>: qué no tocar, convenciones, versiones, sin datos reales</a:t>
            </a:r>
          </a:p>
          <a:p>
            <a:r>
              <a:rPr lang="es-ES" sz="2200" b="1"/>
              <a:t>Formato de salida</a:t>
            </a:r>
            <a:r>
              <a:rPr lang="es-ES" sz="2200"/>
              <a:t>: qué entregar y cómo (ficheros, lista, tabla, diff)</a:t>
            </a:r>
          </a:p>
          <a:p>
            <a:r>
              <a:rPr lang="es-ES" sz="2200" b="1"/>
              <a:t>Criterio de terminado</a:t>
            </a:r>
            <a:r>
              <a:rPr lang="es-ES" sz="2200"/>
              <a:t>: cómo sabrás que está bien (compila, tests en verde, checklist)</a:t>
            </a:r>
          </a:p>
          <a:p>
            <a:r>
              <a:rPr lang="es-ES" sz="2200" b="1"/>
              <a:t>Antes de actuar</a:t>
            </a:r>
            <a:r>
              <a:rPr lang="es-ES" sz="2200"/>
              <a:t>: pide un plan y que pregunte si le falta información</a:t>
            </a:r>
          </a:p>
          <a:p>
            <a:r>
              <a:rPr lang="es-ES" sz="2200" b="1"/>
              <a:t>Itera</a:t>
            </a:r>
            <a:r>
              <a:rPr lang="es-ES" sz="2200"/>
              <a:t>: revisa, corrige el prompt y guarda los que funcionan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1051560"/>
            <a:ext cx="11338560" cy="877824"/>
          </a:xfrm>
        </p:spPr>
        <p:txBody>
          <a:bodyPr/>
          <a:lstStyle/>
          <a:p>
            <a:r>
              <a:rPr lang="es-ES"/>
              <a:t>Demo 5 · IA: pedir un prompt y revisarlo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7178040" cy="4389120"/>
          </a:xfrm>
        </p:spPr>
        <p:txBody>
          <a:bodyPr wrap="square" lIns="45720" tIns="45720" rIns="91440" bIns="45720" anchor="t">
            <a:noAutofit/>
          </a:bodyPr>
          <a:lstStyle/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D9375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Explica el objetivo en lenguaje natural. Ejemplo: «un programa de consola que lea un CSV de partidos y muestre cuántos jugadores hubo por cancha»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D9375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Pide a la IA que lo convierta en un prompt con contexto, tarea, restricciones, formato y criterio de terminado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D9375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Revisa el prompt: ¿falta contexto?, ¿hay algo ambiguo?, ¿se puede comprobar el resultado?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D9375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Ejecútalo en Copilot (modo agente) o en Claude Code, en una rama de prueba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D9375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Mira el consumo (tokens o peticiones premium) y el tiempo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D93752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Revisa el resultado como un PR y anótalo en «Uso de IA»</a:t>
            </a:r>
            <a:endParaRPr lang="es-ES" sz="1800"/>
          </a:p>
        </p:txBody>
      </p:sp>
      <p:sp>
        <p:nvSpPr>
          <p:cNvPr id="4" name="Etiqueta demo"/>
          <p:cNvSpPr/>
          <p:nvPr/>
        </p:nvSpPr>
        <p:spPr>
          <a:xfrm>
            <a:off x="457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9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FFFF"/>
                </a:solidFill>
              </a:rPr>
              <a:t>DEMO 5 DE 6</a:t>
            </a:r>
            <a:endParaRPr lang="es-ES" sz="1200"/>
          </a:p>
        </p:txBody>
      </p:sp>
      <p:sp>
        <p:nvSpPr>
          <p:cNvPr id="5" name="Qué observar"/>
          <p:cNvSpPr/>
          <p:nvPr/>
        </p:nvSpPr>
        <p:spPr>
          <a:xfrm>
            <a:off x="8001000" y="2103120"/>
            <a:ext cx="3749039" cy="31546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D93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1800" b="1">
                <a:solidFill>
                  <a:srgbClr val="D93752"/>
                </a:solidFill>
              </a:rPr>
              <a:t>Qué observar</a:t>
            </a:r>
            <a:endParaRPr lang="es-ES" sz="18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D9375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Un buen prompt se puede comprobar: dice qué es «terminado»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D9375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Más contexto no es mejor: solo el relevante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D9375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El resultado se revisa como el PR de otra persona</a:t>
            </a:r>
            <a:endParaRPr lang="es-ES" sz="160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998" y="377379"/>
            <a:ext cx="10801941" cy="1143000"/>
          </a:xfrm>
        </p:spPr>
        <p:txBody>
          <a:bodyPr>
            <a:normAutofit/>
          </a:bodyPr>
          <a:lstStyle/>
          <a:p>
            <a:r>
              <a:rPr lang="es-ES"/>
              <a:t>Agentes, MCP y RAG: lo justo para el reto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58952" y="1783080"/>
            <a:ext cx="3383280" cy="2606040"/>
          </a:xfrm>
          <a:prstGeom prst="rect">
            <a:avLst/>
          </a:prstGeom>
          <a:solidFill>
            <a:srgbClr val="17151D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CB49B2"/>
                </a:solidFill>
              </a:rPr>
              <a:t>Agente</a:t>
            </a:r>
          </a:p>
          <a:p>
            <a:r>
              <a:rPr sz="1800">
                <a:solidFill>
                  <a:srgbClr val="EDEDED"/>
                </a:solidFill>
              </a:rPr>
              <a:t>Una IA que planifica y ejecuta pasos con herramientas: lee ficheros, ejecuta comandos, abre PR. Ej.: Copilot en modo agente,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70832" y="1783080"/>
            <a:ext cx="3383280" cy="2606040"/>
          </a:xfrm>
          <a:prstGeom prst="rect">
            <a:avLst/>
          </a:prstGeom>
          <a:solidFill>
            <a:srgbClr val="17151D"/>
          </a:solidFill>
          <a:ln w="19050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A562D6"/>
                </a:solidFill>
              </a:rPr>
              <a:t>MCP</a:t>
            </a:r>
          </a:p>
          <a:p>
            <a:r>
              <a:rPr sz="1800">
                <a:solidFill>
                  <a:srgbClr val="EDEDED"/>
                </a:solidFill>
              </a:rPr>
              <a:t>Model Context Protocol: estándar abierto para conectar la IA con herramientas y datos (GitHub, bases de datos, navegador). «Un USB-C para la IA»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783080"/>
            <a:ext cx="3383280" cy="2606040"/>
          </a:xfrm>
          <a:prstGeom prst="rect">
            <a:avLst/>
          </a:prstGeom>
          <a:solidFill>
            <a:srgbClr val="17151D"/>
          </a:solidFill>
          <a:ln w="19050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E95D48"/>
                </a:solidFill>
              </a:rPr>
              <a:t>RAG</a:t>
            </a:r>
          </a:p>
          <a:p>
            <a:r>
              <a:rPr sz="1800">
                <a:solidFill>
                  <a:srgbClr val="EDEDED"/>
                </a:solidFill>
              </a:rPr>
              <a:t>Recuperar documentos relevantes y dárselos al modelo antes de responder. Ej.: Copilot indexando tu repo, la documentación de un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4709160"/>
            <a:ext cx="10607040" cy="1005840"/>
          </a:xfrm>
          <a:prstGeom prst="rect">
            <a:avLst/>
          </a:prstGeom>
          <a:solidFill>
            <a:srgbClr val="2A1218"/>
          </a:solidFill>
          <a:ln w="19050">
            <a:solidFill>
              <a:srgbClr val="D93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700" b="1">
                <a:solidFill>
                  <a:srgbClr val="F27A8A"/>
                </a:solidFill>
              </a:rPr>
              <a:t>Cuidado</a:t>
            </a:r>
            <a:r>
              <a:rPr sz="1700">
                <a:solidFill>
                  <a:srgbClr val="EDEDED"/>
                </a:solidFill>
              </a:rPr>
              <a:t>: un agente con permisos puede romper cosas o filtrar datos. Ramas de prueba, mínimos permisos y revisar antes de aceptar. A fondo: masterclass de IA.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SDD con GitHub Spec 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Autofit/>
          </a:bodyPr>
          <a:lstStyle/>
          <a:p>
            <a:r>
              <a:rPr lang="es-ES" sz="2000" b="1"/>
              <a:t>Primero la especificación</a:t>
            </a:r>
            <a:r>
              <a:rPr lang="es-ES" sz="2000"/>
              <a:t>, después el código: la spec vive en Git, junto al código</a:t>
            </a:r>
          </a:p>
          <a:p>
            <a:r>
              <a:rPr lang="es-ES" sz="2000" b="1"/>
              <a:t>Flujo</a:t>
            </a:r>
            <a:r>
              <a:rPr lang="es-ES" sz="2000"/>
              <a:t>: constitución → especificación → aclaraciones → plan → tareas → implementación</a:t>
            </a:r>
          </a:p>
          <a:p>
            <a:r>
              <a:rPr lang="es-ES" sz="2000" b="1"/>
              <a:t>Reparto</a:t>
            </a:r>
            <a:r>
              <a:rPr lang="es-ES" sz="2000"/>
              <a:t>: la IA implementa siguiendo la spec; tú especificas, revisas y corriges</a:t>
            </a:r>
          </a:p>
          <a:p>
            <a:r>
              <a:rPr lang="es-ES" sz="2000" b="1"/>
              <a:t>En el reto</a:t>
            </a:r>
            <a:r>
              <a:rPr lang="es-ES" sz="2000"/>
              <a:t>: Parte III, torneos con pago simulado, midiendo tiempo y consumo de IA</a:t>
            </a:r>
          </a:p>
          <a:p>
            <a:r>
              <a:rPr lang="es-ES" sz="2000" b="1"/>
              <a:t>Para qué</a:t>
            </a:r>
            <a:r>
              <a:rPr lang="es-ES" sz="2000"/>
              <a:t>: es el piloto para decidir cómo trabajaremos con IA en proyectos reales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5E664-0923-593E-070B-3DCADDCD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2" y="2704772"/>
            <a:ext cx="8507561" cy="27333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s-ES" sz="6100" b="1" kern="1200"/>
              <a:t>4. Reto CourtConnect</a:t>
            </a:r>
            <a:endParaRPr lang="es-ES" sz="6100" b="1" kern="1200" dirty="0"/>
          </a:p>
        </p:txBody>
      </p:sp>
    </p:spTree>
    <p:extLst>
      <p:ext uri="{BB962C8B-B14F-4D97-AF65-F5344CB8AC3E}">
        <p14:creationId xmlns:p14="http://schemas.microsoft.com/office/powerpoint/2010/main" val="23058560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/>
          <a:lstStyle/>
          <a:p>
            <a:r>
              <a:t>El reto CourtConnect: qué es y para qué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2000" b="1">
                <a:solidFill>
                  <a:srgbClr val="CB49B2"/>
                </a:solidFill>
              </a:rPr>
              <a:t>Qué es</a:t>
            </a:r>
            <a:endParaRPr lang="es-ES" sz="2000"/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600" b="0">
                <a:solidFill>
                  <a:srgbClr val="EDEDED"/>
                </a:solidFill>
              </a:rPr>
              <a:t>Una aplicación para quedar a jugar a baloncesto callejero: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6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canchas y partidos con plazas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6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jugadores que se apuntan y se borran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6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cuentas y roles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600"/>
              </a:spcAft>
              <a:buClr>
                <a:srgbClr val="CB49B2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torneos por equipos con pago simulado</a:t>
            </a:r>
            <a:endParaRPr lang="es-ES" sz="1600"/>
          </a:p>
        </p:txBody>
      </p:sp>
      <p:sp>
        <p:nvSpPr>
          <p:cNvPr id="4" name="Rounded Rectangle 3"/>
          <p:cNvSpPr/>
          <p:nvPr/>
        </p:nvSpPr>
        <p:spPr>
          <a:xfrm>
            <a:off x="4343400" y="132588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2000" b="1">
                <a:solidFill>
                  <a:srgbClr val="A562D6"/>
                </a:solidFill>
              </a:rPr>
              <a:t>Para qué</a:t>
            </a:r>
            <a:endParaRPr lang="es-ES" sz="2000"/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1600" b="0">
                <a:solidFill>
                  <a:srgbClr val="EDEDED"/>
                </a:solidFill>
              </a:rPr>
              <a:t>Tocar a mano las piezas de una aplicación .NET actual para poder </a:t>
            </a:r>
            <a:r>
              <a:rPr lang="es-ES" sz="1600" b="1">
                <a:solidFill>
                  <a:srgbClr val="FFFFFF"/>
                </a:solidFill>
              </a:rPr>
              <a:t>entender y supervisar</a:t>
            </a:r>
            <a:r>
              <a:rPr lang="es-ES" sz="1600" b="0">
                <a:solidFill>
                  <a:srgbClr val="EDEDED"/>
                </a:solidFill>
              </a:rPr>
              <a:t> el código que genere una IA.</a:t>
            </a:r>
            <a:endParaRPr lang="es-ES" sz="16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>
                <a:solidFill>
                  <a:srgbClr val="B9B6C2"/>
                </a:solidFill>
              </a:rPr>
              <a:t>No hace falta dominarlas: hace falta haberlas usado y saber explicar qué hace cada una.</a:t>
            </a:r>
            <a:endParaRPr lang="es-ES" sz="1600"/>
          </a:p>
        </p:txBody>
      </p:sp>
      <p:sp>
        <p:nvSpPr>
          <p:cNvPr id="5" name="Rounded Rectangle 4"/>
          <p:cNvSpPr/>
          <p:nvPr/>
        </p:nvSpPr>
        <p:spPr>
          <a:xfrm>
            <a:off x="8138160" y="1325880"/>
            <a:ext cx="3520440" cy="36118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2000" b="1">
                <a:solidFill>
                  <a:srgbClr val="E95D48"/>
                </a:solidFill>
              </a:rPr>
              <a:t>Cómo</a:t>
            </a:r>
            <a:endParaRPr lang="es-ES" sz="2000"/>
          </a:p>
          <a:p>
            <a:pPr marL="201168" indent="-201168" algn="l">
              <a:spcBef>
                <a:spcPts val="0"/>
              </a:spcBef>
              <a:spcAft>
                <a:spcPts val="600"/>
              </a:spcAft>
              <a:buClr>
                <a:srgbClr val="E95D48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23 días de unas 4 h, en tres partes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600"/>
              </a:spcAft>
              <a:buClr>
                <a:srgbClr val="E95D48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una demo al final de cada parte (días 8, 16 y 23)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600"/>
              </a:spcAft>
              <a:buClr>
                <a:srgbClr val="E95D48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en tu repo público DeemSoft/court-connect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600"/>
              </a:spcAft>
              <a:buClr>
                <a:srgbClr val="E95D48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como en un proyecto real: issues, PR, CI y quality gate</a:t>
            </a:r>
            <a:endParaRPr lang="es-ES" sz="1600"/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11109960" cy="960120"/>
          </a:xfrm>
          <a:prstGeom prst="roundRect">
            <a:avLst>
              <a:gd name="adj" fmla="val 12000"/>
            </a:avLst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1">
                <a:solidFill>
                  <a:srgbClr val="FFFFFF"/>
                </a:solidFill>
              </a:rPr>
              <a:t>Lo que construyas no tiene que ser bonito: tiene que funcionar y tienes que saber explicar cada pieza.</a:t>
            </a:r>
            <a:endParaRPr lang="es-ES" sz="19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>
            <a:normAutofit/>
          </a:bodyPr>
          <a:lstStyle/>
          <a:p>
            <a:pPr algn="l"/>
            <a:r>
              <a:rPr lang="es-ES"/>
              <a:t>El reto CourtConnect: mapa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783080"/>
            <a:ext cx="2606040" cy="2377440"/>
          </a:xfrm>
          <a:prstGeom prst="rect">
            <a:avLst/>
          </a:prstGeom>
          <a:solidFill>
            <a:srgbClr val="17151D"/>
          </a:solidFill>
          <a:ln w="19050">
            <a:solidFill>
              <a:srgbClr val="8A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700" b="1">
                <a:solidFill>
                  <a:srgbClr val="8A8794"/>
                </a:solidFill>
              </a:rPr>
              <a:t>Día 0</a:t>
            </a:r>
          </a:p>
          <a:p>
            <a:r>
              <a:rPr sz="1700">
                <a:solidFill>
                  <a:srgbClr val="EDEDED"/>
                </a:solidFill>
              </a:rPr>
              <a:t>Arranque con Yamel: plan, horas y primeros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783080"/>
            <a:ext cx="2606040" cy="2377440"/>
          </a:xfrm>
          <a:prstGeom prst="rect">
            <a:avLst/>
          </a:prstGeom>
          <a:solidFill>
            <a:srgbClr val="17151D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700" b="1">
                <a:solidFill>
                  <a:srgbClr val="CB49B2"/>
                </a:solidFill>
              </a:rPr>
              <a:t>Parte I · días 1–8</a:t>
            </a:r>
          </a:p>
          <a:p>
            <a:r>
              <a:rPr sz="1700">
                <a:solidFill>
                  <a:srgbClr val="EDEDED"/>
                </a:solidFill>
              </a:rPr>
              <a:t>Dominio, EF Core, API, CI y SonarQube Cloud · demo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783080"/>
            <a:ext cx="2606040" cy="2377440"/>
          </a:xfrm>
          <a:prstGeom prst="rect">
            <a:avLst/>
          </a:prstGeom>
          <a:solidFill>
            <a:srgbClr val="17151D"/>
          </a:solidFill>
          <a:ln w="19050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700" b="1">
                <a:solidFill>
                  <a:srgbClr val="A562D6"/>
                </a:solidFill>
              </a:rPr>
              <a:t>Parte II · días 9–16</a:t>
            </a:r>
          </a:p>
          <a:p>
            <a:r>
              <a:rPr sz="1700">
                <a:solidFill>
                  <a:srgbClr val="EDEDED"/>
                </a:solidFill>
              </a:rPr>
              <a:t>Blazor, login y roles, panel del organizador, Docker · demo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783080"/>
            <a:ext cx="2606040" cy="2377440"/>
          </a:xfrm>
          <a:prstGeom prst="rect">
            <a:avLst/>
          </a:prstGeom>
          <a:solidFill>
            <a:srgbClr val="17151D"/>
          </a:solidFill>
          <a:ln w="19050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700" b="1">
                <a:solidFill>
                  <a:srgbClr val="E95D48"/>
                </a:solidFill>
              </a:rPr>
              <a:t>Parte III · días 17–23</a:t>
            </a:r>
          </a:p>
          <a:p>
            <a:r>
              <a:rPr sz="1700">
                <a:solidFill>
                  <a:srgbClr val="EDEDED"/>
                </a:solidFill>
              </a:rPr>
              <a:t>SDD: torneos y pago, despliegue en Azure, PR trampa · demo final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526280"/>
            <a:ext cx="11109960" cy="1280160"/>
          </a:xfrm>
          <a:prstGeom prst="rect">
            <a:avLst/>
          </a:prstGeom>
          <a:solidFill>
            <a:srgbClr val="17151D"/>
          </a:solidFill>
          <a:ln w="12700">
            <a:solidFill>
              <a:srgbClr val="8A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700">
                <a:solidFill>
                  <a:srgbClr val="EDEDED"/>
                </a:solidFill>
              </a:rPr>
              <a:t>Unas 4 h al día · si un día no se trabaja, el plan se desplaza</a:t>
            </a:r>
          </a:p>
          <a:p>
            <a:r>
              <a:rPr sz="1700" b="1">
                <a:solidFill>
                  <a:srgbClr val="EDEDED"/>
                </a:solidFill>
              </a:rPr>
              <a:t>Masterclasses</a:t>
            </a:r>
            <a:r>
              <a:rPr sz="1700">
                <a:solidFill>
                  <a:srgbClr val="EDEDED"/>
                </a:solidFill>
              </a:rPr>
              <a:t>: arquitectura (tras el día 3) · contenedores, Aspire y Azure (tras el día 13) · IA (por fijar)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A2DAA-FB72-1BC4-667C-F27D2799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>
            <a:noAutofit/>
          </a:bodyPr>
          <a:lstStyle/>
          <a:p>
            <a:pPr algn="l"/>
            <a:r>
              <a:rPr lang="es-ES"/>
              <a:t>Dónde está cada cosa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51560" rIns="137160" rtlCol="0" anchor="t"/>
          <a:lstStyle/>
          <a:p>
            <a:pPr algn="l"/>
            <a:r>
              <a:rPr sz="1900" b="1">
                <a:solidFill>
                  <a:srgbClr val="512BD4"/>
                </a:solidFill>
              </a:rPr>
              <a:t>formacion-dotnet-junior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262626"/>
                </a:solidFill>
              </a:rPr>
              <a:t>Material del reto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curso/</a:t>
            </a:r>
            <a:r>
              <a:rPr sz="1500" b="0">
                <a:solidFill>
                  <a:srgbClr val="262626"/>
                </a:solidFill>
              </a:rPr>
              <a:t>: semanas 1–6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reto/Parte1–3</a:t>
            </a:r>
            <a:r>
              <a:rPr sz="1500" b="0">
                <a:solidFill>
                  <a:srgbClr val="262626"/>
                </a:solidFill>
              </a:rPr>
              <a:t>: enunciados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docs/court-connect/</a:t>
            </a:r>
            <a:r>
              <a:rPr sz="1500" b="0">
                <a:solidFill>
                  <a:srgbClr val="262626"/>
                </a:solidFill>
              </a:rPr>
              <a:t>: dominio, plantilla del repo, calidad, glosario, evaluación y calendario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docs/masterclasses/</a:t>
            </a:r>
            <a:r>
              <a:rPr sz="1500" b="0">
                <a:solidFill>
                  <a:srgbClr val="262626"/>
                </a:solidFill>
              </a:rPr>
              <a:t>: material de las masterclasses</a:t>
            </a:r>
          </a:p>
        </p:txBody>
      </p:sp>
      <p:pic>
        <p:nvPicPr>
          <p:cNvPr id="4" name="Picture 3" descr="form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68580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70248" y="118872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51560" rIns="137160" rtlCol="0" anchor="t"/>
          <a:lstStyle/>
          <a:p>
            <a:pPr algn="l"/>
            <a:r>
              <a:rPr sz="1900" b="1">
                <a:solidFill>
                  <a:srgbClr val="0078D4"/>
                </a:solidFill>
              </a:rPr>
              <a:t>DeemSoft/court-connect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262626"/>
                </a:solidFill>
              </a:rPr>
              <a:t>Tu repo (público)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Código y tests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Issues y milestones</a:t>
            </a:r>
            <a:r>
              <a:rPr sz="1500" b="0">
                <a:solidFill>
                  <a:srgbClr val="262626"/>
                </a:solidFill>
              </a:rPr>
              <a:t> del reto, con horas estimadas y reales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PR</a:t>
            </a:r>
            <a:r>
              <a:rPr sz="1500" b="0">
                <a:solidFill>
                  <a:srgbClr val="262626"/>
                </a:solidFill>
              </a:rPr>
              <a:t> con «Uso de IA» y «Comparación con IA»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docs/domain.md</a:t>
            </a:r>
            <a:r>
              <a:rPr sz="1500" b="0">
                <a:solidFill>
                  <a:srgbClr val="262626"/>
                </a:solidFill>
              </a:rPr>
              <a:t> y </a:t>
            </a:r>
            <a:r>
              <a:rPr sz="1500" b="1">
                <a:solidFill>
                  <a:srgbClr val="262626"/>
                </a:solidFill>
              </a:rPr>
              <a:t>docs/learning/</a:t>
            </a:r>
            <a:r>
              <a:rPr sz="1500" b="0">
                <a:solidFill>
                  <a:srgbClr val="262626"/>
                </a:solidFill>
              </a:rPr>
              <a:t>: glosario y retro</a:t>
            </a:r>
          </a:p>
        </p:txBody>
      </p:sp>
      <p:pic>
        <p:nvPicPr>
          <p:cNvPr id="6" name="Picture 5" descr="rep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417320"/>
            <a:ext cx="68580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74152" y="118872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51560" rIns="137160" rtlCol="0" anchor="t"/>
          <a:lstStyle/>
          <a:p>
            <a:pPr algn="l"/>
            <a:r>
              <a:rPr sz="1900" b="1">
                <a:solidFill>
                  <a:srgbClr val="2E7D32"/>
                </a:solidFill>
              </a:rPr>
              <a:t>Discord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262626"/>
                </a:solidFill>
              </a:rPr>
              <a:t>Comunicación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Anuncios</a:t>
            </a:r>
            <a:r>
              <a:rPr sz="1500" b="0">
                <a:solidFill>
                  <a:srgbClr val="262626"/>
                </a:solidFill>
              </a:rPr>
              <a:t> de cada parte del reto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Avisos de PR</a:t>
            </a:r>
            <a:r>
              <a:rPr sz="1500" b="0">
                <a:solidFill>
                  <a:srgbClr val="262626"/>
                </a:solidFill>
              </a:rPr>
              <a:t> automáticos desde GitHub</a:t>
            </a:r>
          </a:p>
          <a:p>
            <a:pPr algn="l">
              <a:spcBef>
                <a:spcPts val="600"/>
              </a:spcBef>
            </a:pPr>
            <a:r>
              <a:rPr sz="1500" b="1">
                <a:solidFill>
                  <a:srgbClr val="262626"/>
                </a:solidFill>
              </a:rPr>
              <a:t>Dudas</a:t>
            </a:r>
            <a:r>
              <a:rPr sz="1500" b="0">
                <a:solidFill>
                  <a:srgbClr val="262626"/>
                </a:solidFill>
              </a:rPr>
              <a:t> del día a día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262626"/>
                </a:solidFill>
              </a:rPr>
              <a:t>Las revisiones se comentan en GitHub, no en Discord</a:t>
            </a:r>
          </a:p>
        </p:txBody>
      </p:sp>
      <p:pic>
        <p:nvPicPr>
          <p:cNvPr id="8" name="Picture 7" descr="c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1" y="1417320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dirty="0"/>
              <a:t>Regla</a:t>
            </a:r>
            <a:r>
              <a:rPr sz="1500" b="0" dirty="0"/>
              <a:t>: lo </a:t>
            </a:r>
            <a:r>
              <a:rPr sz="1500" b="0" dirty="0" err="1"/>
              <a:t>que</a:t>
            </a:r>
            <a:r>
              <a:rPr sz="1500" b="0" dirty="0"/>
              <a:t> vale la </a:t>
            </a:r>
            <a:r>
              <a:rPr sz="1500" b="0" dirty="0" err="1"/>
              <a:t>pena</a:t>
            </a:r>
            <a:r>
              <a:rPr sz="1500" b="0" dirty="0"/>
              <a:t> </a:t>
            </a:r>
            <a:r>
              <a:rPr sz="1500" b="0" dirty="0" err="1"/>
              <a:t>conservar</a:t>
            </a:r>
            <a:r>
              <a:rPr sz="1500" b="0" dirty="0"/>
              <a:t> </a:t>
            </a:r>
            <a:r>
              <a:rPr sz="1500" b="0" dirty="0" err="1"/>
              <a:t>va</a:t>
            </a:r>
            <a:r>
              <a:rPr sz="1500" b="0" dirty="0"/>
              <a:t> al repo </a:t>
            </a:r>
            <a:r>
              <a:rPr sz="1500" b="0" dirty="0" err="1"/>
              <a:t>por</a:t>
            </a:r>
            <a:r>
              <a:rPr sz="1500" b="0" dirty="0"/>
              <a:t> PR. Las </a:t>
            </a:r>
            <a:r>
              <a:rPr sz="1500" b="0" dirty="0" err="1"/>
              <a:t>conversaciones</a:t>
            </a:r>
            <a:r>
              <a:rPr sz="1500" b="0" dirty="0"/>
              <a:t> (con personas o con la IA) no son la </a:t>
            </a:r>
            <a:r>
              <a:rPr sz="1500" b="0" dirty="0" err="1"/>
              <a:t>fuente</a:t>
            </a:r>
            <a:r>
              <a:rPr sz="1500" b="0" dirty="0"/>
              <a:t> de </a:t>
            </a:r>
            <a:r>
              <a:rPr sz="1500" b="0" dirty="0" err="1"/>
              <a:t>verdad</a:t>
            </a:r>
            <a:r>
              <a:rPr sz="15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13202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/>
          <a:lstStyle/>
          <a:p>
            <a:r>
              <a:t>Cómo trabajas cada ejercicio</a:t>
            </a:r>
          </a:p>
        </p:txBody>
      </p:sp>
      <p:sp>
        <p:nvSpPr>
          <p:cNvPr id="3" name="Pentagon 2"/>
          <p:cNvSpPr/>
          <p:nvPr/>
        </p:nvSpPr>
        <p:spPr>
          <a:xfrm>
            <a:off x="548640" y="1371600"/>
            <a:ext cx="1956816" cy="658368"/>
          </a:xfrm>
          <a:prstGeom prst="homePlate">
            <a:avLst>
              <a:gd name="adj" fmla="val 32000"/>
            </a:avLst>
          </a:prstGeom>
          <a:solidFill>
            <a:srgbClr val="7C31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10972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FFFFFF"/>
                </a:solidFill>
              </a:rPr>
              <a:t>1 · Prepara</a:t>
            </a:r>
            <a:endParaRPr lang="es-ES" sz="1400"/>
          </a:p>
        </p:txBody>
      </p:sp>
      <p:sp>
        <p:nvSpPr>
          <p:cNvPr id="4" name="Rounded Rectangle 3"/>
          <p:cNvSpPr/>
          <p:nvPr/>
        </p:nvSpPr>
        <p:spPr>
          <a:xfrm>
            <a:off x="594360" y="2194560"/>
            <a:ext cx="1783080" cy="2377440"/>
          </a:xfrm>
          <a:prstGeom prst="roundRect">
            <a:avLst>
              <a:gd name="adj" fmla="val 7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09728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Lee el enunciado y su «Antes de empezar»: conceptos nuevos al glosario y una lectura corta</a:t>
            </a:r>
            <a:endParaRPr lang="es-ES" sz="1500"/>
          </a:p>
        </p:txBody>
      </p:sp>
      <p:sp>
        <p:nvSpPr>
          <p:cNvPr id="5" name="Chevron 4"/>
          <p:cNvSpPr/>
          <p:nvPr/>
        </p:nvSpPr>
        <p:spPr>
          <a:xfrm>
            <a:off x="2395728" y="1371600"/>
            <a:ext cx="1956816" cy="658368"/>
          </a:xfrm>
          <a:prstGeom prst="chevron">
            <a:avLst>
              <a:gd name="adj" fmla="val 32000"/>
            </a:avLst>
          </a:prstGeom>
          <a:solidFill>
            <a:srgbClr val="9B3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46888" tIns="0" rIns="10972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FFFFFF"/>
                </a:solidFill>
              </a:rPr>
              <a:t>2 · Planifica</a:t>
            </a:r>
            <a:endParaRPr lang="es-ES" sz="1400"/>
          </a:p>
        </p:txBody>
      </p:sp>
      <p:sp>
        <p:nvSpPr>
          <p:cNvPr id="6" name="Rounded Rectangle 5"/>
          <p:cNvSpPr/>
          <p:nvPr/>
        </p:nvSpPr>
        <p:spPr>
          <a:xfrm>
            <a:off x="2441448" y="2194560"/>
            <a:ext cx="1783080" cy="2377440"/>
          </a:xfrm>
          <a:prstGeom prst="roundRect">
            <a:avLst>
              <a:gd name="adj" fmla="val 7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09728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Abre la issue del ejercicio en el milestone de su parte, con la estimación</a:t>
            </a:r>
            <a:endParaRPr lang="es-ES" sz="1500"/>
          </a:p>
        </p:txBody>
      </p:sp>
      <p:sp>
        <p:nvSpPr>
          <p:cNvPr id="7" name="Chevron 6"/>
          <p:cNvSpPr/>
          <p:nvPr/>
        </p:nvSpPr>
        <p:spPr>
          <a:xfrm>
            <a:off x="4242816" y="1371600"/>
            <a:ext cx="1956816" cy="658368"/>
          </a:xfrm>
          <a:prstGeom prst="chevron">
            <a:avLst>
              <a:gd name="adj" fmla="val 32000"/>
            </a:avLst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46888" tIns="0" rIns="10972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FFFFFF"/>
                </a:solidFill>
              </a:rPr>
              <a:t>3 · Rama</a:t>
            </a:r>
            <a:endParaRPr lang="es-ES" sz="1400"/>
          </a:p>
        </p:txBody>
      </p:sp>
      <p:sp>
        <p:nvSpPr>
          <p:cNvPr id="8" name="Rounded Rectangle 7"/>
          <p:cNvSpPr/>
          <p:nvPr/>
        </p:nvSpPr>
        <p:spPr>
          <a:xfrm>
            <a:off x="4288536" y="2194560"/>
            <a:ext cx="1783080" cy="2377440"/>
          </a:xfrm>
          <a:prstGeom prst="roundRect">
            <a:avLst>
              <a:gd name="adj" fmla="val 7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09728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Una rama por tarea desde main (desde develop en la Parte III)</a:t>
            </a:r>
            <a:endParaRPr lang="es-ES" sz="1500"/>
          </a:p>
        </p:txBody>
      </p:sp>
      <p:sp>
        <p:nvSpPr>
          <p:cNvPr id="9" name="Chevron 8"/>
          <p:cNvSpPr/>
          <p:nvPr/>
        </p:nvSpPr>
        <p:spPr>
          <a:xfrm>
            <a:off x="6089904" y="1371600"/>
            <a:ext cx="1956816" cy="658368"/>
          </a:xfrm>
          <a:prstGeom prst="chevron">
            <a:avLst>
              <a:gd name="adj" fmla="val 32000"/>
            </a:avLst>
          </a:prstGeom>
          <a:solidFill>
            <a:srgbClr val="D9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46888" tIns="0" rIns="10972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FFFFFF"/>
                </a:solidFill>
              </a:rPr>
              <a:t>4 · Primero tú</a:t>
            </a:r>
            <a:endParaRPr lang="es-ES" sz="1400"/>
          </a:p>
        </p:txBody>
      </p:sp>
      <p:sp>
        <p:nvSpPr>
          <p:cNvPr id="10" name="Rounded Rectangle 9"/>
          <p:cNvSpPr/>
          <p:nvPr/>
        </p:nvSpPr>
        <p:spPr>
          <a:xfrm>
            <a:off x="6135624" y="2194560"/>
            <a:ext cx="1783080" cy="2377440"/>
          </a:xfrm>
          <a:prstGeom prst="roundRect">
            <a:avLst>
              <a:gd name="adj" fmla="val 7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09728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Código y tests sin generar código con IA; pregúntale conceptos y errores</a:t>
            </a:r>
            <a:endParaRPr lang="es-ES" sz="1500"/>
          </a:p>
        </p:txBody>
      </p:sp>
      <p:sp>
        <p:nvSpPr>
          <p:cNvPr id="11" name="Chevron 10"/>
          <p:cNvSpPr/>
          <p:nvPr/>
        </p:nvSpPr>
        <p:spPr>
          <a:xfrm>
            <a:off x="7936992" y="1371600"/>
            <a:ext cx="1956816" cy="658368"/>
          </a:xfrm>
          <a:prstGeom prst="chevron">
            <a:avLst>
              <a:gd name="adj" fmla="val 32000"/>
            </a:avLst>
          </a:prstGeom>
          <a:solidFill>
            <a:srgbClr val="E95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46888" tIns="0" rIns="10972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FFFFFF"/>
                </a:solidFill>
              </a:rPr>
              <a:t>5 · PR</a:t>
            </a:r>
            <a:endParaRPr lang="es-ES" sz="1400"/>
          </a:p>
        </p:txBody>
      </p:sp>
      <p:sp>
        <p:nvSpPr>
          <p:cNvPr id="12" name="Rounded Rectangle 11"/>
          <p:cNvSpPr/>
          <p:nvPr/>
        </p:nvSpPr>
        <p:spPr>
          <a:xfrm>
            <a:off x="7982712" y="2194560"/>
            <a:ext cx="1783080" cy="2377440"/>
          </a:xfrm>
          <a:prstGeom prst="roundRect">
            <a:avLst>
              <a:gd name="adj" fmla="val 7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09728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Qué cambia, Por qué, Cómo se ha comprobado, Uso de IA y Comparación con IA</a:t>
            </a:r>
            <a:endParaRPr lang="es-ES" sz="1500"/>
          </a:p>
        </p:txBody>
      </p:sp>
      <p:sp>
        <p:nvSpPr>
          <p:cNvPr id="13" name="Chevron 12"/>
          <p:cNvSpPr/>
          <p:nvPr/>
        </p:nvSpPr>
        <p:spPr>
          <a:xfrm>
            <a:off x="9784080" y="1371600"/>
            <a:ext cx="1956816" cy="658368"/>
          </a:xfrm>
          <a:prstGeom prst="chevron">
            <a:avLst>
              <a:gd name="adj" fmla="val 32000"/>
            </a:avLst>
          </a:prstGeom>
          <a:solidFill>
            <a:srgbClr val="EE7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46888" tIns="0" rIns="109728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FFFFFF"/>
                </a:solidFill>
              </a:rPr>
              <a:t>6 · Merge</a:t>
            </a:r>
            <a:endParaRPr lang="es-ES" sz="1400"/>
          </a:p>
        </p:txBody>
      </p:sp>
      <p:sp>
        <p:nvSpPr>
          <p:cNvPr id="14" name="Rounded Rectangle 13"/>
          <p:cNvSpPr/>
          <p:nvPr/>
        </p:nvSpPr>
        <p:spPr>
          <a:xfrm>
            <a:off x="9829800" y="2194560"/>
            <a:ext cx="1783080" cy="2377440"/>
          </a:xfrm>
          <a:prstGeom prst="roundRect">
            <a:avLst>
              <a:gd name="adj" fmla="val 7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09728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CI y SonarQube Cloud en verde, revisión de Yamel y merge. Horas reales en la issue</a:t>
            </a:r>
            <a:endParaRPr lang="es-ES" sz="1500"/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3621024" cy="128016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700" b="1">
                <a:solidFill>
                  <a:srgbClr val="A562D6"/>
                </a:solidFill>
              </a:rPr>
              <a:t>Cada viernes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Reunión semanal de seguimiento con Yamel</a:t>
            </a:r>
            <a:endParaRPr lang="es-ES" sz="1500"/>
          </a:p>
        </p:txBody>
      </p:sp>
      <p:sp>
        <p:nvSpPr>
          <p:cNvPr id="16" name="Rounded Rectangle 15"/>
          <p:cNvSpPr/>
          <p:nvPr/>
        </p:nvSpPr>
        <p:spPr>
          <a:xfrm>
            <a:off x="4315968" y="4846320"/>
            <a:ext cx="3621024" cy="128016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700" b="1">
                <a:solidFill>
                  <a:srgbClr val="CB49B2"/>
                </a:solidFill>
              </a:rPr>
              <a:t>Dudas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En Discord. Las revisiones, en los comentarios del PR</a:t>
            </a:r>
            <a:endParaRPr lang="es-ES" sz="1500"/>
          </a:p>
        </p:txBody>
      </p:sp>
      <p:sp>
        <p:nvSpPr>
          <p:cNvPr id="17" name="Rounded Rectangle 16"/>
          <p:cNvSpPr/>
          <p:nvPr/>
        </p:nvSpPr>
        <p:spPr>
          <a:xfrm>
            <a:off x="8083296" y="4846320"/>
            <a:ext cx="3621024" cy="128016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700" b="1">
                <a:solidFill>
                  <a:srgbClr val="E95D48"/>
                </a:solidFill>
              </a:rPr>
              <a:t>Al cerrar cada parte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0">
                <a:solidFill>
                  <a:srgbClr val="EDEDED"/>
                </a:solidFill>
              </a:rPr>
              <a:t>Demo desde un clon limpio y retro en docs/learning/retro.md</a:t>
            </a:r>
            <a:endParaRPr lang="es-ES" sz="15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1051560"/>
            <a:ext cx="11338560" cy="877824"/>
          </a:xfrm>
        </p:spPr>
        <p:txBody>
          <a:bodyPr/>
          <a:lstStyle/>
          <a:p>
            <a:r>
              <a:rPr lang="es-ES"/>
              <a:t>Demo 6 · GitHub: repo, issues, milestones y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7178040" cy="4389120"/>
          </a:xfrm>
        </p:spPr>
        <p:txBody>
          <a:bodyPr wrap="square" lIns="45720" tIns="45720" rIns="91440" bIns="45720" anchor="t">
            <a:noAutofit/>
          </a:bodyPr>
          <a:lstStyle/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EE7345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El repo de formación: reto/ con los enunciados y docs/court-connect/ con la plantilla del repo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EE7345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Plantillas: la issue «Tarea» y el PR con Qué cambia, Por qué, Cómo se ha comprobado, Uso de IA y Comparación con IA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EE7345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Issues y milestones: una issue por ejercicio, con estimación y horas reales, en el milestone de su parte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EE7345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Un PR de ejemplo: checks, comentarios en línea, cambios pedidos y merge commit</a:t>
            </a:r>
            <a:endParaRPr lang="es-ES" sz="1800"/>
          </a:p>
          <a:p>
            <a:pPr marL="384048" indent="-384048" algn="l">
              <a:spcBef>
                <a:spcPts val="0"/>
              </a:spcBef>
              <a:spcAft>
                <a:spcPts val="900"/>
              </a:spcAft>
              <a:buClr>
                <a:srgbClr val="EE7345"/>
              </a:buClr>
              <a:buFont typeface="+mj-lt"/>
              <a:buAutoNum type="arabicPeriod"/>
            </a:pPr>
            <a:r>
              <a:rPr lang="es-ES" sz="1800" b="0">
                <a:solidFill>
                  <a:srgbClr val="EDEDED"/>
                </a:solidFill>
              </a:rPr>
              <a:t>Ruleset de main: PR obligatorio y los checks requeridos</a:t>
            </a:r>
            <a:endParaRPr lang="es-ES" sz="1800"/>
          </a:p>
        </p:txBody>
      </p:sp>
      <p:sp>
        <p:nvSpPr>
          <p:cNvPr id="4" name="Etiqueta demo"/>
          <p:cNvSpPr/>
          <p:nvPr/>
        </p:nvSpPr>
        <p:spPr>
          <a:xfrm>
            <a:off x="457200" y="5029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E7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FFFF"/>
                </a:solidFill>
              </a:rPr>
              <a:t>DEMO 6 DE 6</a:t>
            </a:r>
            <a:endParaRPr lang="es-ES" sz="1200"/>
          </a:p>
        </p:txBody>
      </p:sp>
      <p:sp>
        <p:nvSpPr>
          <p:cNvPr id="5" name="Qué observar"/>
          <p:cNvSpPr/>
          <p:nvPr/>
        </p:nvSpPr>
        <p:spPr>
          <a:xfrm>
            <a:off x="8001000" y="2103120"/>
            <a:ext cx="3749039" cy="315468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EE7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s-ES" sz="1800" b="1">
                <a:solidFill>
                  <a:srgbClr val="EE7345"/>
                </a:solidFill>
              </a:rPr>
              <a:t>Qué observar</a:t>
            </a:r>
            <a:endParaRPr lang="es-ES" sz="18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EE7345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Lo que se decide queda en GitHub (issues, PR y docs), no en el chat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EE7345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Las revisiones se comentan en el PR, no en Discord</a:t>
            </a:r>
            <a:endParaRPr lang="es-ES" sz="1600"/>
          </a:p>
          <a:p>
            <a:pPr marL="201168" indent="-201168" algn="l">
              <a:spcBef>
                <a:spcPts val="0"/>
              </a:spcBef>
              <a:spcAft>
                <a:spcPts val="1000"/>
              </a:spcAft>
              <a:buClr>
                <a:srgbClr val="EE7345"/>
              </a:buClr>
              <a:buFont typeface="Arial"/>
              <a:buChar char="•"/>
            </a:pPr>
            <a:r>
              <a:rPr lang="es-ES" sz="1600" b="0">
                <a:solidFill>
                  <a:srgbClr val="EDEDED"/>
                </a:solidFill>
              </a:rPr>
              <a:t>Los avisos de PR llegan solos a Discord</a:t>
            </a:r>
            <a:endParaRPr lang="es-ES" sz="1600"/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/>
          <a:lstStyle/>
          <a:p>
            <a:r>
              <a:t>Reglas del reto y qué hacer si falta tiempo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08760"/>
            <a:ext cx="530352" cy="530352"/>
          </a:xfrm>
          <a:prstGeom prst="ellipse">
            <a:avLst/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1</a:t>
            </a:r>
            <a:endParaRPr lang="es-ES" sz="1800"/>
          </a:p>
        </p:txBody>
      </p:sp>
      <p:sp>
        <p:nvSpPr>
          <p:cNvPr id="4" name="TextBox 3"/>
          <p:cNvSpPr txBox="1"/>
          <p:nvPr/>
        </p:nvSpPr>
        <p:spPr>
          <a:xfrm>
            <a:off x="1261872" y="1325880"/>
            <a:ext cx="5852160" cy="8961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Primero tú, después la IA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B9B6C2"/>
                </a:solidFill>
              </a:rPr>
              <a:t>Sin generar código con IA. Excepción: las funcionalidades SDD de la Parte III</a:t>
            </a:r>
            <a:endParaRPr lang="es-ES" sz="1450"/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530352" cy="530352"/>
          </a:xfrm>
          <a:prstGeom prst="ellipse">
            <a:avLst/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2</a:t>
            </a:r>
            <a:endParaRPr lang="es-ES" sz="1800"/>
          </a:p>
        </p:txBody>
      </p:sp>
      <p:sp>
        <p:nvSpPr>
          <p:cNvPr id="6" name="TextBox 5"/>
          <p:cNvSpPr txBox="1"/>
          <p:nvPr/>
        </p:nvSpPr>
        <p:spPr>
          <a:xfrm>
            <a:off x="1261872" y="2331720"/>
            <a:ext cx="5852160" cy="8961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Flujo de trabajo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B9B6C2"/>
                </a:solidFill>
              </a:rPr>
              <a:t>Rama por tarea, PR con «Uso de IA», revisión de Yamel y merge</a:t>
            </a:r>
            <a:endParaRPr lang="es-ES" sz="1450"/>
          </a:p>
        </p:txBody>
      </p:sp>
      <p:sp>
        <p:nvSpPr>
          <p:cNvPr id="7" name="Oval 6"/>
          <p:cNvSpPr/>
          <p:nvPr/>
        </p:nvSpPr>
        <p:spPr>
          <a:xfrm>
            <a:off x="548640" y="3520440"/>
            <a:ext cx="530352" cy="530352"/>
          </a:xfrm>
          <a:prstGeom prst="ellipse">
            <a:avLst/>
          </a:prstGeom>
          <a:solidFill>
            <a:srgbClr val="D9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3</a:t>
            </a:r>
            <a:endParaRPr lang="es-ES" sz="1800"/>
          </a:p>
        </p:txBody>
      </p:sp>
      <p:sp>
        <p:nvSpPr>
          <p:cNvPr id="8" name="TextBox 7"/>
          <p:cNvSpPr txBox="1"/>
          <p:nvPr/>
        </p:nvSpPr>
        <p:spPr>
          <a:xfrm>
            <a:off x="1261872" y="3337560"/>
            <a:ext cx="5852160" cy="8961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Datos ficticios siempre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B9B6C2"/>
                </a:solidFill>
              </a:rPr>
              <a:t>Ningún dato real ni de clientes, tampoco en los prompts</a:t>
            </a:r>
            <a:endParaRPr lang="es-ES" sz="1450"/>
          </a:p>
        </p:txBody>
      </p:sp>
      <p:sp>
        <p:nvSpPr>
          <p:cNvPr id="9" name="Oval 8"/>
          <p:cNvSpPr/>
          <p:nvPr/>
        </p:nvSpPr>
        <p:spPr>
          <a:xfrm>
            <a:off x="548640" y="4526280"/>
            <a:ext cx="530352" cy="530352"/>
          </a:xfrm>
          <a:prstGeom prst="ellipse">
            <a:avLst/>
          </a:prstGeom>
          <a:solidFill>
            <a:srgbClr val="E95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4</a:t>
            </a:r>
            <a:endParaRPr lang="es-ES" sz="1800"/>
          </a:p>
        </p:txBody>
      </p:sp>
      <p:sp>
        <p:nvSpPr>
          <p:cNvPr id="10" name="TextBox 9"/>
          <p:cNvSpPr txBox="1"/>
          <p:nvPr/>
        </p:nvSpPr>
        <p:spPr>
          <a:xfrm>
            <a:off x="1261872" y="4343400"/>
            <a:ext cx="5852160" cy="8961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Horas reales en cada issue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B9B6C2"/>
                </a:solidFill>
              </a:rPr>
              <a:t>La diferencia con la estimación también es un dato</a:t>
            </a:r>
            <a:endParaRPr lang="es-ES" sz="1450"/>
          </a:p>
        </p:txBody>
      </p:sp>
      <p:sp>
        <p:nvSpPr>
          <p:cNvPr id="11" name="Oval 10"/>
          <p:cNvSpPr/>
          <p:nvPr/>
        </p:nvSpPr>
        <p:spPr>
          <a:xfrm>
            <a:off x="548640" y="5532120"/>
            <a:ext cx="530352" cy="530352"/>
          </a:xfrm>
          <a:prstGeom prst="ellipse">
            <a:avLst/>
          </a:prstGeom>
          <a:solidFill>
            <a:srgbClr val="EE7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FFFF"/>
                </a:solidFill>
              </a:rPr>
              <a:t>5</a:t>
            </a:r>
            <a:endParaRPr lang="es-ES" sz="1800"/>
          </a:p>
        </p:txBody>
      </p:sp>
      <p:sp>
        <p:nvSpPr>
          <p:cNvPr id="12" name="TextBox 11"/>
          <p:cNvSpPr txBox="1"/>
          <p:nvPr/>
        </p:nvSpPr>
        <p:spPr>
          <a:xfrm>
            <a:off x="1261872" y="5349240"/>
            <a:ext cx="5852160" cy="8961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Glosario al día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B9B6C2"/>
                </a:solidFill>
              </a:rPr>
              <a:t>Cada término nuevo, con tus palabras y un ejemplo de tu código</a:t>
            </a:r>
            <a:endParaRPr lang="es-ES" sz="1450"/>
          </a:p>
        </p:txBody>
      </p:sp>
      <p:sp>
        <p:nvSpPr>
          <p:cNvPr id="13" name="Rounded Rectangle 12"/>
          <p:cNvSpPr/>
          <p:nvPr/>
        </p:nvSpPr>
        <p:spPr>
          <a:xfrm>
            <a:off x="7406640" y="1325880"/>
            <a:ext cx="4297680" cy="4919472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2000" b="1">
                <a:solidFill>
                  <a:srgbClr val="E95D48"/>
                </a:solidFill>
              </a:rPr>
              <a:t>Si falta tiempo</a:t>
            </a:r>
            <a:endParaRPr lang="es-ES" sz="200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550" b="0">
                <a:solidFill>
                  <a:srgbClr val="EDEDED"/>
                </a:solidFill>
              </a:rPr>
              <a:t>El proyecto real tiene prioridad. Si un día te quita horas, aplica el orden de recorte, anótalo en el PR y avisa en Discord.</a:t>
            </a:r>
            <a:endParaRPr lang="es-ES" sz="1550"/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1550" b="1">
                <a:solidFill>
                  <a:srgbClr val="FFFFFF"/>
                </a:solidFill>
              </a:rPr>
              <a:t>Se recorta primero</a:t>
            </a:r>
            <a:endParaRPr lang="es-ES" sz="155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550" b="0">
                <a:solidFill>
                  <a:srgbClr val="EDEDED"/>
                </a:solidFill>
              </a:rPr>
              <a:t>Los apartados Extra y, después, lo que marca el README de cada parte</a:t>
            </a:r>
            <a:endParaRPr lang="es-ES" sz="1550"/>
          </a:p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s-ES" sz="1550" b="1">
                <a:solidFill>
                  <a:srgbClr val="FFFFFF"/>
                </a:solidFill>
              </a:rPr>
              <a:t>No se recorta</a:t>
            </a:r>
            <a:endParaRPr lang="es-ES" sz="1550"/>
          </a:p>
          <a:p>
            <a:pPr marL="0" indent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1550" b="0">
                <a:solidFill>
                  <a:srgbClr val="EDEDED"/>
                </a:solidFill>
              </a:rPr>
              <a:t>Las reglas con sus tests, la CI en verde y el quality gate</a:t>
            </a:r>
            <a:endParaRPr lang="es-ES" sz="155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1">
                <a:solidFill>
                  <a:srgbClr val="B9B6C2"/>
                </a:solidFill>
              </a:rPr>
              <a:t>Si un día no se trabaja, el plan se desplaza: no se juntan dos días en uno.</a:t>
            </a:r>
            <a:endParaRPr lang="es-ES" sz="14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/>
          <a:lstStyle/>
          <a:p>
            <a:r>
              <a:t>Formación en paralelo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548640"/>
          </a:xfrm>
          <a:prstGeom prst="roundRect">
            <a:avLst>
              <a:gd name="adj" fmla="val 18000"/>
            </a:avLst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Parte I · días 1–8</a:t>
            </a:r>
            <a:endParaRPr lang="es-ES" sz="1700"/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520440" cy="3291840"/>
          </a:xfrm>
          <a:prstGeom prst="roundRect">
            <a:avLst>
              <a:gd name="adj" fmla="val 4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64592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CB49B2"/>
                </a:solidFill>
              </a:rPr>
              <a:t>Ej. 1  </a:t>
            </a:r>
            <a:r>
              <a:rPr lang="es-ES" sz="1350" b="0">
                <a:solidFill>
                  <a:srgbClr val="EDEDED"/>
                </a:solidFill>
              </a:rPr>
              <a:t>Doc: tipos record de C#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CB49B2"/>
                </a:solidFill>
              </a:rPr>
              <a:t>Ej. 2  </a:t>
            </a:r>
            <a:r>
              <a:rPr lang="es-ES" sz="1350" b="0">
                <a:solidFill>
                  <a:srgbClr val="EDEDED"/>
                </a:solidFill>
              </a:rPr>
              <a:t>Learn: base de datos con una API mínima y EF Core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CB49B2"/>
                </a:solidFill>
              </a:rPr>
              <a:t>Ej. 2  </a:t>
            </a:r>
            <a:r>
              <a:rPr lang="es-ES" sz="1350" b="0">
                <a:solidFill>
                  <a:srgbClr val="EDEDED"/>
                </a:solidFill>
              </a:rPr>
              <a:t>Docker: primeros pasos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CB49B2"/>
                </a:solidFill>
              </a:rPr>
              <a:t>Ej. 3  </a:t>
            </a:r>
            <a:r>
              <a:rPr lang="es-ES" sz="1350" b="0">
                <a:solidFill>
                  <a:srgbClr val="EDEDED"/>
                </a:solidFill>
              </a:rPr>
              <a:t>Tutorial: API mínima con ASP.NET Core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CB49B2"/>
                </a:solidFill>
              </a:rPr>
              <a:t>Ej. 4  </a:t>
            </a:r>
            <a:r>
              <a:rPr lang="es-ES" sz="1350" b="0">
                <a:solidFill>
                  <a:srgbClr val="EDEDED"/>
                </a:solidFill>
              </a:rPr>
              <a:t>Learn: introducción a GitHub Actions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CB49B2"/>
                </a:solidFill>
              </a:rPr>
              <a:t>Ej. 5  </a:t>
            </a:r>
            <a:r>
              <a:rPr lang="es-ES" sz="1350" b="0">
                <a:solidFill>
                  <a:srgbClr val="EDEDED"/>
                </a:solidFill>
              </a:rPr>
              <a:t>calidad.md: el quality gate</a:t>
            </a:r>
            <a:endParaRPr lang="es-ES" sz="1350"/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548640"/>
          </a:xfrm>
          <a:prstGeom prst="roundRect">
            <a:avLst>
              <a:gd name="adj" fmla="val 18000"/>
            </a:avLst>
          </a:prstGeom>
          <a:solidFill>
            <a:srgbClr val="A56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Parte II · días 9–16</a:t>
            </a:r>
            <a:endParaRPr lang="es-ES" sz="1700"/>
          </a:p>
        </p:txBody>
      </p:sp>
      <p:sp>
        <p:nvSpPr>
          <p:cNvPr id="6" name="Rounded Rectangle 5"/>
          <p:cNvSpPr/>
          <p:nvPr/>
        </p:nvSpPr>
        <p:spPr>
          <a:xfrm>
            <a:off x="4343400" y="1965960"/>
            <a:ext cx="3520440" cy="3291840"/>
          </a:xfrm>
          <a:prstGeom prst="roundRect">
            <a:avLst>
              <a:gd name="adj" fmla="val 4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64592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A562D6"/>
                </a:solidFill>
              </a:rPr>
              <a:t>Ej. 1  </a:t>
            </a:r>
            <a:r>
              <a:rPr lang="es-ES" sz="1350" b="0">
                <a:solidFill>
                  <a:srgbClr val="EDEDED"/>
                </a:solidFill>
              </a:rPr>
              <a:t>Learn: ruta de aplicaciones web con Blazor (3 módulos) y modos de render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A562D6"/>
                </a:solidFill>
              </a:rPr>
              <a:t>Ej. 2  </a:t>
            </a:r>
            <a:r>
              <a:rPr lang="es-ES" sz="1350" b="0">
                <a:solidFill>
                  <a:srgbClr val="EDEDED"/>
                </a:solidFill>
              </a:rPr>
              <a:t>Doc: Identity para API web, roles y políticas; OWASP A01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A562D6"/>
                </a:solidFill>
              </a:rPr>
              <a:t>Ej. 4  </a:t>
            </a:r>
            <a:r>
              <a:rPr lang="es-ES" sz="1350" b="0">
                <a:solidFill>
                  <a:srgbClr val="EDEDED"/>
                </a:solidFill>
              </a:rPr>
              <a:t>Docker Compose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A562D6"/>
                </a:solidFill>
              </a:rPr>
              <a:t>Ej. 5  </a:t>
            </a:r>
            <a:r>
              <a:rPr lang="es-ES" sz="1350" b="0">
                <a:solidFill>
                  <a:srgbClr val="EDEDED"/>
                </a:solidFill>
              </a:rPr>
              <a:t>Learn: Spec-Driven Development con GitHub Spec Kit e instalar la CLI specify</a:t>
            </a:r>
            <a:endParaRPr lang="es-ES" sz="1350"/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520440" cy="548640"/>
          </a:xfrm>
          <a:prstGeom prst="roundRect">
            <a:avLst>
              <a:gd name="adj" fmla="val 18000"/>
            </a:avLst>
          </a:prstGeom>
          <a:solidFill>
            <a:srgbClr val="E95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FFFFFF"/>
                </a:solidFill>
              </a:rPr>
              <a:t>Parte III · días 17–23</a:t>
            </a:r>
            <a:endParaRPr lang="es-ES" sz="1700"/>
          </a:p>
        </p:txBody>
      </p:sp>
      <p:sp>
        <p:nvSpPr>
          <p:cNvPr id="8" name="Rounded Rectangle 7"/>
          <p:cNvSpPr/>
          <p:nvPr/>
        </p:nvSpPr>
        <p:spPr>
          <a:xfrm>
            <a:off x="8138160" y="1965960"/>
            <a:ext cx="3520440" cy="3291840"/>
          </a:xfrm>
          <a:prstGeom prst="roundRect">
            <a:avLst>
              <a:gd name="adj" fmla="val 4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64592" bIns="9144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E95D48"/>
                </a:solidFill>
              </a:rPr>
              <a:t>Ej. 1–3  </a:t>
            </a:r>
            <a:r>
              <a:rPr lang="es-ES" sz="1350" b="0">
                <a:solidFill>
                  <a:srgbClr val="EDEDED"/>
                </a:solidFill>
              </a:rPr>
              <a:t>Spec Kit en la práctica: constitución, especificación, plan y tareas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E95D48"/>
                </a:solidFill>
              </a:rPr>
              <a:t>Ej. 1  </a:t>
            </a:r>
            <a:r>
              <a:rPr lang="es-ES" sz="1350" b="0">
                <a:solidFill>
                  <a:srgbClr val="EDEDED"/>
                </a:solidFill>
              </a:rPr>
              <a:t>Repaso de arquitectura: slices verticales, BackgroundService e idempotencia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E95D48"/>
                </a:solidFill>
              </a:rPr>
              <a:t>Ej. 4  </a:t>
            </a:r>
            <a:r>
              <a:rPr lang="es-ES" sz="1350" b="0">
                <a:solidFill>
                  <a:srgbClr val="EDEDED"/>
                </a:solidFill>
              </a:rPr>
              <a:t>Azure: Container Apps, Azure SQL, Key Vault e identidad gestionada</a:t>
            </a:r>
            <a:endParaRPr lang="es-ES" sz="1350"/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es-ES" sz="1350" b="1">
                <a:solidFill>
                  <a:srgbClr val="E95D48"/>
                </a:solidFill>
              </a:rPr>
              <a:t>Ej. 5  </a:t>
            </a:r>
            <a:r>
              <a:rPr lang="es-ES" sz="1350" b="0">
                <a:solidFill>
                  <a:srgbClr val="EDEDED"/>
                </a:solidFill>
              </a:rPr>
              <a:t>Revisión de código: los riesgos de «Seguridad y datos»</a:t>
            </a:r>
            <a:endParaRPr lang="es-ES" sz="1350"/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17151D"/>
          </a:solidFill>
          <a:ln w="12700">
            <a:solidFill>
              <a:srgbClr val="8A87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s-ES" sz="1400" b="1">
                <a:solidFill>
                  <a:srgbClr val="CB49B2"/>
                </a:solidFill>
              </a:rPr>
              <a:t>Masterclasses: </a:t>
            </a:r>
            <a:r>
              <a:rPr lang="es-ES" sz="1400" b="0">
                <a:solidFill>
                  <a:srgbClr val="EDEDED"/>
                </a:solidFill>
              </a:rPr>
              <a:t>arquitectura (domingo tras el Día 3) · contenedores, Aspire y Azure (domingo tras el Día 13) · IA (por fijar)</a:t>
            </a:r>
            <a:endParaRPr lang="es-ES" sz="14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rgbClr val="CB49B2"/>
                </a:solidFill>
              </a:rPr>
              <a:t>Cada ejercicio </a:t>
            </a:r>
            <a:r>
              <a:rPr lang="es-ES" sz="1400" b="0">
                <a:solidFill>
                  <a:srgbClr val="EDEDED"/>
                </a:solidFill>
              </a:rPr>
              <a:t>abre con «Antes de empezar» (de 30 min a 1 h): conceptos nuevos y una lectura corta; los enlaces están en el enunciado</a:t>
            </a:r>
            <a:endParaRPr lang="es-ES" sz="14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/>
          <a:lstStyle/>
          <a:p>
            <a:r>
              <a:t>Cómo se evalúa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48640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 b="0">
                <a:solidFill>
                  <a:srgbClr val="B9B6C2"/>
                </a:solidFill>
              </a:rPr>
              <a:t>La pregunta: </a:t>
            </a:r>
            <a:r>
              <a:rPr lang="es-ES" sz="1900" b="1">
                <a:solidFill>
                  <a:srgbClr val="FFFFFF"/>
                </a:solidFill>
              </a:rPr>
              <a:t>¿puedes supervisar código .NET generado por una IA en estas tecnologías?</a:t>
            </a:r>
            <a:endParaRPr lang="es-ES" sz="1900"/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94960" cy="411480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CB49B2"/>
                </a:solidFill>
              </a:rPr>
              <a:t>Rúbrica por tecnología</a:t>
            </a:r>
            <a:endParaRPr lang="es-ES" sz="1700"/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621792" cy="621792"/>
          </a:xfrm>
          <a:prstGeom prst="roundRect">
            <a:avLst>
              <a:gd name="adj" fmla="val 15000"/>
            </a:avLst>
          </a:prstGeom>
          <a:solidFill>
            <a:srgbClr val="3A3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FFFF"/>
                </a:solidFill>
              </a:rPr>
              <a:t>1</a:t>
            </a:r>
            <a:endParaRPr lang="es-ES" sz="2000"/>
          </a:p>
        </p:txBody>
      </p:sp>
      <p:sp>
        <p:nvSpPr>
          <p:cNvPr id="6" name="Rounded Rectangle 5"/>
          <p:cNvSpPr/>
          <p:nvPr/>
        </p:nvSpPr>
        <p:spPr>
          <a:xfrm>
            <a:off x="1261872" y="2468880"/>
            <a:ext cx="4681728" cy="621792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09728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EDEDED"/>
                </a:solidFill>
              </a:rPr>
              <a:t>No la reconoce</a:t>
            </a:r>
            <a:endParaRPr lang="es-ES" sz="1450"/>
          </a:p>
        </p:txBody>
      </p:sp>
      <p:sp>
        <p:nvSpPr>
          <p:cNvPr id="7" name="Rounded Rectangle 6"/>
          <p:cNvSpPr/>
          <p:nvPr/>
        </p:nvSpPr>
        <p:spPr>
          <a:xfrm>
            <a:off x="548640" y="3218688"/>
            <a:ext cx="621792" cy="621792"/>
          </a:xfrm>
          <a:prstGeom prst="roundRect">
            <a:avLst>
              <a:gd name="adj" fmla="val 15000"/>
            </a:avLst>
          </a:prstGeom>
          <a:solidFill>
            <a:srgbClr val="6A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FFFF"/>
                </a:solidFill>
              </a:rPr>
              <a:t>2</a:t>
            </a:r>
            <a:endParaRPr lang="es-ES" sz="2000"/>
          </a:p>
        </p:txBody>
      </p:sp>
      <p:sp>
        <p:nvSpPr>
          <p:cNvPr id="8" name="Rounded Rectangle 7"/>
          <p:cNvSpPr/>
          <p:nvPr/>
        </p:nvSpPr>
        <p:spPr>
          <a:xfrm>
            <a:off x="1261872" y="3218688"/>
            <a:ext cx="4681728" cy="621792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09728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EDEDED"/>
                </a:solidFill>
              </a:rPr>
              <a:t>La reconoce y sabe para qué sirve</a:t>
            </a:r>
            <a:endParaRPr lang="es-ES" sz="1450"/>
          </a:p>
        </p:txBody>
      </p:sp>
      <p:sp>
        <p:nvSpPr>
          <p:cNvPr id="9" name="Rounded Rectangle 8"/>
          <p:cNvSpPr/>
          <p:nvPr/>
        </p:nvSpPr>
        <p:spPr>
          <a:xfrm>
            <a:off x="548640" y="3968496"/>
            <a:ext cx="621792" cy="621792"/>
          </a:xfrm>
          <a:prstGeom prst="roundRect">
            <a:avLst>
              <a:gd name="adj" fmla="val 15000"/>
            </a:avLst>
          </a:prstGeom>
          <a:solidFill>
            <a:srgbClr val="CB49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FFFF"/>
                </a:solidFill>
              </a:rPr>
              <a:t>3</a:t>
            </a:r>
            <a:endParaRPr lang="es-ES" sz="2000"/>
          </a:p>
        </p:txBody>
      </p:sp>
      <p:sp>
        <p:nvSpPr>
          <p:cNvPr id="10" name="Rounded Rectangle 9"/>
          <p:cNvSpPr/>
          <p:nvPr/>
        </p:nvSpPr>
        <p:spPr>
          <a:xfrm>
            <a:off x="1261872" y="3968496"/>
            <a:ext cx="4681728" cy="621792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09728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EDEDED"/>
                </a:solidFill>
              </a:rPr>
              <a:t>Explica cómo funciona en su código y detecta errores evidentes</a:t>
            </a:r>
            <a:endParaRPr lang="es-ES" sz="1450"/>
          </a:p>
        </p:txBody>
      </p:sp>
      <p:sp>
        <p:nvSpPr>
          <p:cNvPr id="11" name="Rounded Rectangle 10"/>
          <p:cNvSpPr/>
          <p:nvPr/>
        </p:nvSpPr>
        <p:spPr>
          <a:xfrm>
            <a:off x="548640" y="4718304"/>
            <a:ext cx="621792" cy="621792"/>
          </a:xfrm>
          <a:prstGeom prst="roundRect">
            <a:avLst>
              <a:gd name="adj" fmla="val 15000"/>
            </a:avLst>
          </a:prstGeom>
          <a:solidFill>
            <a:srgbClr val="D93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FFFF"/>
                </a:solidFill>
              </a:rPr>
              <a:t>4</a:t>
            </a:r>
            <a:endParaRPr lang="es-ES" sz="2000"/>
          </a:p>
        </p:txBody>
      </p:sp>
      <p:sp>
        <p:nvSpPr>
          <p:cNvPr id="12" name="Rounded Rectangle 11"/>
          <p:cNvSpPr/>
          <p:nvPr/>
        </p:nvSpPr>
        <p:spPr>
          <a:xfrm>
            <a:off x="1261872" y="4718304"/>
            <a:ext cx="4681728" cy="621792"/>
          </a:xfrm>
          <a:prstGeom prst="roundRect">
            <a:avLst>
              <a:gd name="adj" fmla="val 12000"/>
            </a:avLst>
          </a:prstGeom>
          <a:solidFill>
            <a:srgbClr val="171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" rIns="109728" bIns="18288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EDEDED"/>
                </a:solidFill>
              </a:rPr>
              <a:t>La modifica o la amplía sin ayuda</a:t>
            </a:r>
            <a:endParaRPr lang="es-ES" sz="1450"/>
          </a:p>
        </p:txBody>
      </p:sp>
      <p:sp>
        <p:nvSpPr>
          <p:cNvPr id="13" name="TextBox 12"/>
          <p:cNvSpPr txBox="1"/>
          <p:nvPr/>
        </p:nvSpPr>
        <p:spPr>
          <a:xfrm>
            <a:off x="548640" y="5532120"/>
            <a:ext cx="5394960" cy="457200"/>
          </a:xfrm>
          <a:prstGeom prst="rect">
            <a:avLst/>
          </a:prstGeom>
          <a:noFill/>
        </p:spPr>
        <p:txBody>
          <a:bodyPr wrap="square" lIns="91440" tIns="54864" rIns="91440" bIns="54864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rgbClr val="CB49B2"/>
                </a:solidFill>
              </a:rPr>
              <a:t>Objetivo: nivel 3 o más en todas</a:t>
            </a:r>
            <a:endParaRPr lang="es-ES" sz="1700"/>
          </a:p>
        </p:txBody>
      </p:sp>
      <p:sp>
        <p:nvSpPr>
          <p:cNvPr id="14" name="Rounded Rectangle 13"/>
          <p:cNvSpPr/>
          <p:nvPr/>
        </p:nvSpPr>
        <p:spPr>
          <a:xfrm>
            <a:off x="6309360" y="1965960"/>
            <a:ext cx="5349240" cy="1298448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700" b="1">
                <a:solidFill>
                  <a:srgbClr val="A562D6"/>
                </a:solidFill>
              </a:rPr>
              <a:t>Demos · días 8, 16 y 23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EDEDED"/>
                </a:solidFill>
              </a:rPr>
              <a:t>Desde un clon limpio, de 30 a 45 min: el flujo, los tests, la CI y Sonar, y preguntas de «explícame esta pieza»</a:t>
            </a:r>
            <a:endParaRPr lang="es-ES" sz="1450"/>
          </a:p>
        </p:txBody>
      </p:sp>
      <p:sp>
        <p:nvSpPr>
          <p:cNvPr id="15" name="Rounded Rectangle 14"/>
          <p:cNvSpPr/>
          <p:nvPr/>
        </p:nvSpPr>
        <p:spPr>
          <a:xfrm>
            <a:off x="6309360" y="3401568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700" b="1">
                <a:solidFill>
                  <a:srgbClr val="CB49B2"/>
                </a:solidFill>
              </a:rPr>
              <a:t>Comprobaciones objetivas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EDEDED"/>
                </a:solidFill>
              </a:rPr>
              <a:t>CI y quality gate obligatorios · cada regla con su test · PR con «Uso de IA» · arranca desde un clon limpio · sin secretos ni datos reales · horas apuntadas</a:t>
            </a:r>
            <a:endParaRPr lang="es-ES" sz="1450"/>
          </a:p>
        </p:txBody>
      </p:sp>
      <p:sp>
        <p:nvSpPr>
          <p:cNvPr id="16" name="Rounded Rectangle 15"/>
          <p:cNvSpPr/>
          <p:nvPr/>
        </p:nvSpPr>
        <p:spPr>
          <a:xfrm>
            <a:off x="6309360" y="5001768"/>
            <a:ext cx="5349240" cy="1234440"/>
          </a:xfrm>
          <a:prstGeom prst="roundRect">
            <a:avLst>
              <a:gd name="adj" fmla="val 5000"/>
            </a:avLst>
          </a:prstGeom>
          <a:solidFill>
            <a:srgbClr val="17151D"/>
          </a:solidFill>
          <a:ln w="15875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01168" rIns="228600" bIns="18288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-ES" sz="1700" b="1">
                <a:solidFill>
                  <a:srgbClr val="E95D48"/>
                </a:solidFill>
              </a:rPr>
              <a:t>PR trampa · día 23</a:t>
            </a:r>
            <a:endParaRPr lang="es-ES" sz="17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50" b="0">
                <a:solidFill>
                  <a:srgbClr val="EDEDED"/>
                </a:solidFill>
              </a:rPr>
              <a:t>Unos 7 defectos sembrados. Cuenta si señalas la línea y explicas el riesgo. Objetivo: al menos 4 de 7</a:t>
            </a:r>
            <a:endParaRPr lang="es-ES" sz="145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A2DAA-FB72-1BC4-667C-F27D2799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>
            <a:noAutofit/>
          </a:bodyPr>
          <a:lstStyle/>
          <a:p>
            <a:pPr algn="l"/>
            <a:r>
              <a:rPr lang="es-ES"/>
              <a:t>CourtConnect: visión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0058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2CFDB"/>
                </a:solidFill>
              </a:rPr>
              <a:t>Actores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7432" rIns="73152" bIns="27432" rtlCol="0" anchor="ctr"/>
          <a:lstStyle/>
          <a:p>
            <a:pPr algn="l"/>
            <a:r>
              <a:rPr sz="1300" b="1">
                <a:solidFill>
                  <a:srgbClr val="512BD4"/>
                </a:solidFill>
              </a:rPr>
              <a:t>Jugador</a:t>
            </a:r>
          </a:p>
          <a:p>
            <a:pPr algn="l"/>
            <a:r>
              <a:rPr sz="1100">
                <a:solidFill>
                  <a:srgbClr val="262626"/>
                </a:solidFill>
              </a:rPr>
              <a:t>Ve partidos, se apunta y cancela</a:t>
            </a:r>
          </a:p>
        </p:txBody>
      </p:sp>
      <p:pic>
        <p:nvPicPr>
          <p:cNvPr id="5" name="Picture 4" descr="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79" y="1600200"/>
            <a:ext cx="50292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24231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7432" rIns="73152" bIns="27432" rtlCol="0" anchor="ctr"/>
          <a:lstStyle/>
          <a:p>
            <a:pPr algn="l"/>
            <a:r>
              <a:rPr sz="1300" b="1">
                <a:solidFill>
                  <a:srgbClr val="512BD4"/>
                </a:solidFill>
              </a:rPr>
              <a:t>Organizador</a:t>
            </a:r>
          </a:p>
          <a:p>
            <a:pPr algn="l"/>
            <a:r>
              <a:rPr sz="1100">
                <a:solidFill>
                  <a:srgbClr val="262626"/>
                </a:solidFill>
              </a:rPr>
              <a:t>Canchas y partidos: crear, abrir, cerrar</a:t>
            </a:r>
          </a:p>
        </p:txBody>
      </p:sp>
      <p:pic>
        <p:nvPicPr>
          <p:cNvPr id="7" name="Picture 6" descr="organiz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79" y="2606039"/>
            <a:ext cx="50292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42900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27432" rIns="73152" bIns="27432" rtlCol="0" anchor="ctr"/>
          <a:lstStyle/>
          <a:p>
            <a:pPr algn="l"/>
            <a:r>
              <a:rPr sz="1300" b="1">
                <a:solidFill>
                  <a:srgbClr val="512BD4"/>
                </a:solidFill>
              </a:rPr>
              <a:t>Capitán (Parte III)</a:t>
            </a:r>
          </a:p>
          <a:p>
            <a:pPr algn="l"/>
            <a:r>
              <a:rPr sz="1100">
                <a:solidFill>
                  <a:srgbClr val="262626"/>
                </a:solidFill>
              </a:rPr>
              <a:t>Inscribe y paga por su equipo</a:t>
            </a:r>
          </a:p>
        </p:txBody>
      </p:sp>
      <p:pic>
        <p:nvPicPr>
          <p:cNvPr id="9" name="Picture 8" descr="capt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79" y="3611880"/>
            <a:ext cx="502920" cy="502920"/>
          </a:xfrm>
          <a:prstGeom prst="rect">
            <a:avLst/>
          </a:prstGeom>
        </p:spPr>
      </p:pic>
      <p:pic>
        <p:nvPicPr>
          <p:cNvPr id="10" name="Picture 9" descr="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62272"/>
            <a:ext cx="365760" cy="365760"/>
          </a:xfrm>
          <a:prstGeom prst="rect">
            <a:avLst/>
          </a:prstGeom>
        </p:spPr>
      </p:pic>
      <p:pic>
        <p:nvPicPr>
          <p:cNvPr id="11" name="Picture 10" descr="lap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462272"/>
            <a:ext cx="41148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44348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B6C2"/>
                </a:solidFill>
              </a:rPr>
              <a:t>Navegador del móvil o del portátil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1005840"/>
            <a:ext cx="5989320" cy="3794760"/>
          </a:xfrm>
          <a:prstGeom prst="rect">
            <a:avLst/>
          </a:prstGeom>
          <a:solidFill>
            <a:srgbClr val="EAF3FC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4864" rtlCol="0" anchor="t"/>
          <a:lstStyle/>
          <a:p>
            <a:pPr algn="l"/>
            <a:r>
              <a:rPr sz="1300" b="1">
                <a:solidFill>
                  <a:srgbClr val="0078D4"/>
                </a:solidFill>
              </a:rPr>
              <a:t>Azure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1371600"/>
            <a:ext cx="36118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54864" rtlCol="0" anchor="t"/>
          <a:lstStyle/>
          <a:p>
            <a:pPr algn="l"/>
            <a:r>
              <a:rPr sz="1300" b="1">
                <a:solidFill>
                  <a:srgbClr val="0078D4"/>
                </a:solidFill>
              </a:rPr>
              <a:t>Container Apps (entorno)</a:t>
            </a:r>
          </a:p>
        </p:txBody>
      </p:sp>
      <p:pic>
        <p:nvPicPr>
          <p:cNvPr id="15" name="Picture 14" descr="container-apps-environ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7792" y="1417320"/>
            <a:ext cx="329184" cy="32918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971800" y="1828800"/>
            <a:ext cx="3337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27432" rIns="73152" bIns="27432" rtlCol="0" anchor="ctr"/>
          <a:lstStyle/>
          <a:p>
            <a:pPr algn="l"/>
            <a:r>
              <a:rPr sz="1300" b="1">
                <a:solidFill>
                  <a:srgbClr val="512BD4"/>
                </a:solidFill>
              </a:rPr>
              <a:t>Web · Blazor Web App</a:t>
            </a:r>
          </a:p>
          <a:p>
            <a:pPr algn="l"/>
            <a:r>
              <a:rPr sz="1100">
                <a:solidFill>
                  <a:srgbClr val="262626"/>
                </a:solidFill>
              </a:rPr>
              <a:t>Static SSR (público) + Interactive Server (panel)</a:t>
            </a:r>
          </a:p>
        </p:txBody>
      </p:sp>
      <p:pic>
        <p:nvPicPr>
          <p:cNvPr id="17" name="Picture 16" descr="container-ap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3240" y="2034540"/>
            <a:ext cx="548640" cy="5486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971800" y="3337560"/>
            <a:ext cx="333756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27432" rIns="73152" bIns="27432" rtlCol="0" anchor="ctr"/>
          <a:lstStyle/>
          <a:p>
            <a:pPr algn="l"/>
            <a:r>
              <a:rPr sz="1300" b="1">
                <a:solidFill>
                  <a:srgbClr val="512BD4"/>
                </a:solidFill>
              </a:rPr>
              <a:t>API · ASP.NET Core</a:t>
            </a:r>
          </a:p>
          <a:p>
            <a:pPr algn="l"/>
            <a:r>
              <a:rPr sz="1100">
                <a:solidFill>
                  <a:srgbClr val="262626"/>
                </a:solidFill>
              </a:rPr>
              <a:t>Minimal APIs · Identity (login y roles) · BackgroundService (caducidad de pagos)</a:t>
            </a:r>
          </a:p>
        </p:txBody>
      </p:sp>
      <p:pic>
        <p:nvPicPr>
          <p:cNvPr id="19" name="Picture 18" descr="container-app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3240" y="3657600"/>
            <a:ext cx="548640" cy="5486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675120" y="182880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27432" rIns="73152" bIns="27432" rtlCol="0" anchor="ctr"/>
          <a:lstStyle/>
          <a:p>
            <a:pPr algn="l"/>
            <a:r>
              <a:rPr sz="1200" b="1">
                <a:solidFill>
                  <a:srgbClr val="0078D4"/>
                </a:solidFill>
              </a:rPr>
              <a:t>Key Vault</a:t>
            </a:r>
          </a:p>
          <a:p>
            <a:pPr algn="l"/>
            <a:r>
              <a:rPr sz="1000">
                <a:solidFill>
                  <a:srgbClr val="262626"/>
                </a:solidFill>
              </a:rPr>
              <a:t>Secretos (o los de Container Apps)</a:t>
            </a:r>
          </a:p>
        </p:txBody>
      </p:sp>
      <p:pic>
        <p:nvPicPr>
          <p:cNvPr id="21" name="Picture 20" descr="key-vaul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59" y="2080260"/>
            <a:ext cx="457200" cy="4572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675120" y="3337560"/>
            <a:ext cx="1874519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27432" rIns="73152" bIns="27432" rtlCol="0" anchor="ctr"/>
          <a:lstStyle/>
          <a:p>
            <a:pPr algn="l"/>
            <a:r>
              <a:rPr sz="1200" b="1">
                <a:solidFill>
                  <a:srgbClr val="0078D4"/>
                </a:solidFill>
              </a:rPr>
              <a:t>Azure SQL</a:t>
            </a:r>
          </a:p>
          <a:p>
            <a:pPr algn="l"/>
            <a:r>
              <a:rPr sz="1000">
                <a:solidFill>
                  <a:srgbClr val="262626"/>
                </a:solidFill>
              </a:rPr>
              <a:t>Datos con EF Core</a:t>
            </a:r>
          </a:p>
        </p:txBody>
      </p:sp>
      <p:pic>
        <p:nvPicPr>
          <p:cNvPr id="23" name="Picture 22" descr="sql-databas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59" y="358902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1120" y="10058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2CFDB"/>
                </a:solidFill>
              </a:rPr>
              <a:t>Código, CI y calidad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417320"/>
            <a:ext cx="28803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42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27432" rIns="73152" bIns="27432" rtlCol="0" anchor="ctr"/>
          <a:lstStyle/>
          <a:p>
            <a:pPr algn="l"/>
            <a:r>
              <a:rPr sz="1300" b="1">
                <a:solidFill>
                  <a:srgbClr val="24292F"/>
                </a:solidFill>
              </a:rPr>
              <a:t>GitHub</a:t>
            </a:r>
          </a:p>
          <a:p>
            <a:pPr algn="l"/>
            <a:r>
              <a:rPr sz="1100">
                <a:solidFill>
                  <a:srgbClr val="262626"/>
                </a:solidFill>
              </a:rPr>
              <a:t>Repo, issues y PR con «Uso de IA»</a:t>
            </a:r>
          </a:p>
        </p:txBody>
      </p:sp>
      <p:pic>
        <p:nvPicPr>
          <p:cNvPr id="26" name="Picture 25" descr="rep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52560" y="1577340"/>
            <a:ext cx="411480" cy="4114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961120" y="2423160"/>
            <a:ext cx="288036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42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94360" tIns="27432" rIns="73152" bIns="27432" rtlCol="0" anchor="ctr"/>
          <a:lstStyle/>
          <a:p>
            <a:pPr algn="l"/>
            <a:r>
              <a:rPr sz="1300" b="1">
                <a:solidFill>
                  <a:srgbClr val="24292F"/>
                </a:solidFill>
              </a:rPr>
              <a:t>GitHub Actions</a:t>
            </a:r>
          </a:p>
          <a:p>
            <a:pPr algn="l"/>
            <a:r>
              <a:rPr sz="1100">
                <a:solidFill>
                  <a:srgbClr val="262626"/>
                </a:solidFill>
              </a:rPr>
              <a:t>Build, tests e imagen Docker</a:t>
            </a:r>
          </a:p>
        </p:txBody>
      </p:sp>
      <p:pic>
        <p:nvPicPr>
          <p:cNvPr id="28" name="Picture 27" descr="pipelin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52560" y="2583179"/>
            <a:ext cx="411480" cy="41148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961120" y="34290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27432" rIns="73152" bIns="27432" rtlCol="0" anchor="ctr"/>
          <a:lstStyle/>
          <a:p>
            <a:pPr algn="l"/>
            <a:r>
              <a:rPr sz="1100" b="1">
                <a:solidFill>
                  <a:srgbClr val="0078D4"/>
                </a:solidFill>
              </a:rPr>
              <a:t>Registro</a:t>
            </a:r>
          </a:p>
          <a:p>
            <a:pPr algn="l"/>
            <a:r>
              <a:rPr sz="900">
                <a:solidFill>
                  <a:srgbClr val="262626"/>
                </a:solidFill>
              </a:rPr>
              <a:t>ACR o GHCR</a:t>
            </a:r>
          </a:p>
        </p:txBody>
      </p:sp>
      <p:pic>
        <p:nvPicPr>
          <p:cNvPr id="30" name="Picture 29" descr="container-registrie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52560" y="3694176"/>
            <a:ext cx="384048" cy="384048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469880" y="342900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26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66928" tIns="27432" rIns="73152" bIns="27432" rtlCol="0" anchor="ctr"/>
          <a:lstStyle/>
          <a:p>
            <a:pPr algn="l"/>
            <a:r>
              <a:rPr sz="1100" b="1">
                <a:solidFill>
                  <a:srgbClr val="126ED3"/>
                </a:solidFill>
              </a:rPr>
              <a:t>SonarQube Cloud</a:t>
            </a:r>
          </a:p>
          <a:p>
            <a:pPr algn="l"/>
            <a:r>
              <a:rPr sz="900">
                <a:solidFill>
                  <a:srgbClr val="262626"/>
                </a:solidFill>
              </a:rPr>
              <a:t>Quality gate</a:t>
            </a:r>
          </a:p>
        </p:txBody>
      </p:sp>
      <p:pic>
        <p:nvPicPr>
          <p:cNvPr id="32" name="Picture 31" descr="qualit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61319" y="3694176"/>
            <a:ext cx="384048" cy="384048"/>
          </a:xfrm>
          <a:prstGeom prst="rect">
            <a:avLst/>
          </a:prstGeom>
        </p:spPr>
      </p:pic>
      <p:cxnSp>
        <p:nvCxnSpPr>
          <p:cNvPr id="33" name="Connector 32"/>
          <p:cNvCxnSpPr/>
          <p:nvPr/>
        </p:nvCxnSpPr>
        <p:spPr>
          <a:xfrm>
            <a:off x="2423160" y="1847088"/>
            <a:ext cx="548640" cy="457200"/>
          </a:xfrm>
          <a:prstGeom prst="line">
            <a:avLst/>
          </a:prstGeom>
          <a:ln w="22225">
            <a:solidFill>
              <a:srgbClr val="7A62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423160" y="2304288"/>
            <a:ext cx="548640" cy="548640"/>
          </a:xfrm>
          <a:prstGeom prst="line">
            <a:avLst/>
          </a:prstGeom>
          <a:ln w="22225">
            <a:solidFill>
              <a:srgbClr val="7A62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423160" y="2304288"/>
            <a:ext cx="548640" cy="1554480"/>
          </a:xfrm>
          <a:prstGeom prst="line">
            <a:avLst/>
          </a:prstGeom>
          <a:ln w="22225">
            <a:solidFill>
              <a:srgbClr val="7A62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636008" y="2788920"/>
            <a:ext cx="0" cy="548640"/>
          </a:xfrm>
          <a:prstGeom prst="line">
            <a:avLst/>
          </a:prstGeom>
          <a:ln w="2222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09160" y="2898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404040"/>
                </a:solidFill>
              </a:rPr>
              <a:t>HTTP + token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09360" y="3813048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309360" y="2606040"/>
            <a:ext cx="365760" cy="914400"/>
          </a:xfrm>
          <a:prstGeom prst="line">
            <a:avLst/>
          </a:prstGeom>
          <a:ln w="22225">
            <a:solidFill>
              <a:srgbClr val="8080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396728" y="214884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46920" y="315468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155680" y="315468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446520" y="4160520"/>
            <a:ext cx="2514600" cy="274320"/>
          </a:xfrm>
          <a:prstGeom prst="line">
            <a:avLst/>
          </a:prstGeom>
          <a:ln w="22225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86600" y="43434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063B1"/>
                </a:solidFill>
              </a:rPr>
              <a:t>despliegue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" y="5074920"/>
            <a:ext cx="11521440" cy="6858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54480" rtlCol="0" anchor="ctr"/>
          <a:lstStyle/>
          <a:p>
            <a:pPr algn="l"/>
            <a:r>
              <a:rPr sz="1300" b="1">
                <a:solidFill>
                  <a:srgbClr val="262626"/>
                </a:solidFill>
              </a:rPr>
              <a:t>En local: </a:t>
            </a:r>
            <a:r>
              <a:rPr sz="1300" b="0">
                <a:solidFill>
                  <a:srgbClr val="262626"/>
                </a:solidFill>
              </a:rPr>
              <a:t>Docker Compose con SQL Server, API y web · Testcontainers en los tests de integración · Aspire (extra)</a:t>
            </a:r>
          </a:p>
        </p:txBody>
      </p:sp>
      <p:pic>
        <p:nvPicPr>
          <p:cNvPr id="46" name="Picture 45" descr="local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193792"/>
            <a:ext cx="438912" cy="438912"/>
          </a:xfrm>
          <a:prstGeom prst="rect">
            <a:avLst/>
          </a:prstGeom>
        </p:spPr>
      </p:pic>
      <p:pic>
        <p:nvPicPr>
          <p:cNvPr id="47" name="Picture 46" descr="compos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5212080"/>
            <a:ext cx="402336" cy="40233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20040" y="58521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B9B6C2"/>
                </a:solidFill>
              </a:rPr>
              <a:t>Partes del </a:t>
            </a:r>
            <a:r>
              <a:rPr sz="1300" b="1" dirty="0" err="1">
                <a:solidFill>
                  <a:srgbClr val="B9B6C2"/>
                </a:solidFill>
              </a:rPr>
              <a:t>reto</a:t>
            </a:r>
            <a:r>
              <a:rPr sz="1300" b="0" dirty="0">
                <a:solidFill>
                  <a:srgbClr val="B9B6C2"/>
                </a:solidFill>
              </a:rPr>
              <a:t>: I · API, </a:t>
            </a:r>
            <a:r>
              <a:rPr sz="1300" b="0" dirty="0" err="1">
                <a:solidFill>
                  <a:srgbClr val="B9B6C2"/>
                </a:solidFill>
              </a:rPr>
              <a:t>datos</a:t>
            </a:r>
            <a:r>
              <a:rPr sz="1300" b="0" dirty="0">
                <a:solidFill>
                  <a:srgbClr val="B9B6C2"/>
                </a:solidFill>
              </a:rPr>
              <a:t>, CI y </a:t>
            </a:r>
            <a:r>
              <a:rPr sz="1300" b="0" dirty="0" err="1">
                <a:solidFill>
                  <a:srgbClr val="B9B6C2"/>
                </a:solidFill>
              </a:rPr>
              <a:t>calidad</a:t>
            </a:r>
            <a:r>
              <a:rPr sz="1300" b="0" dirty="0">
                <a:solidFill>
                  <a:srgbClr val="B9B6C2"/>
                </a:solidFill>
              </a:rPr>
              <a:t>   ·   II · web, login y roles, Docker   ·   III · SDD (</a:t>
            </a:r>
            <a:r>
              <a:rPr sz="1300" b="0" dirty="0" err="1">
                <a:solidFill>
                  <a:srgbClr val="B9B6C2"/>
                </a:solidFill>
              </a:rPr>
              <a:t>torneos</a:t>
            </a:r>
            <a:r>
              <a:rPr sz="1300" b="0" dirty="0">
                <a:solidFill>
                  <a:srgbClr val="B9B6C2"/>
                </a:solidFill>
              </a:rPr>
              <a:t> y </a:t>
            </a:r>
            <a:r>
              <a:rPr sz="1300" b="0" dirty="0" err="1">
                <a:solidFill>
                  <a:srgbClr val="B9B6C2"/>
                </a:solidFill>
              </a:rPr>
              <a:t>pago</a:t>
            </a:r>
            <a:r>
              <a:rPr sz="1300" b="0" dirty="0">
                <a:solidFill>
                  <a:srgbClr val="B9B6C2"/>
                </a:solidFill>
              </a:rPr>
              <a:t>), Azure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8A8794"/>
                </a:solidFill>
              </a:rPr>
              <a:t>Iconos de servicios de Azure: Microsoft Azure Architecture Icons, con el nombre del producto junto a cada uno.</a:t>
            </a:r>
          </a:p>
        </p:txBody>
      </p:sp>
    </p:spTree>
    <p:extLst>
      <p:ext uri="{BB962C8B-B14F-4D97-AF65-F5344CB8AC3E}">
        <p14:creationId xmlns:p14="http://schemas.microsoft.com/office/powerpoint/2010/main" val="12013202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5" grpId="0" animBg="1"/>
      <p:bldP spid="27" grpId="0" animBg="1"/>
      <p:bldP spid="29" grpId="0" animBg="1"/>
      <p:bldP spid="31" grpId="0" animBg="1"/>
      <p:bldP spid="37" grpId="0" animBg="1"/>
      <p:bldP spid="44" grpId="0" animBg="1"/>
      <p:bldP spid="45" grpId="0" animBg="1"/>
      <p:bldP spid="4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FA2DAA-FB72-1BC4-667C-F27D2799F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>
            <a:noAutofit/>
          </a:bodyPr>
          <a:lstStyle/>
          <a:p>
            <a:pPr algn="l"/>
            <a:r>
              <a:rPr lang="es-ES"/>
              <a:t>CourtConnect: vista lógica de capas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8321040" cy="1325880"/>
          </a:xfrm>
          <a:prstGeom prst="roundRect">
            <a:avLst>
              <a:gd name="adj" fmla="val 6000"/>
            </a:avLst>
          </a:prstGeom>
          <a:solidFill>
            <a:srgbClr val="F1ECFD"/>
          </a:solidFill>
          <a:ln w="15875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t"/>
          <a:lstStyle/>
          <a:p>
            <a:pPr algn="l"/>
            <a:r>
              <a:rPr sz="1500" b="1">
                <a:solidFill>
                  <a:srgbClr val="512BD4"/>
                </a:solidFill>
              </a:rPr>
              <a:t>Presentación (UI)</a:t>
            </a:r>
          </a:p>
          <a:p>
            <a:pPr algn="l"/>
            <a:r>
              <a:rPr sz="1100">
                <a:solidFill>
                  <a:srgbClr val="404040"/>
                </a:solidFill>
              </a:rPr>
              <a:t>Lo que ve el usuario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697480"/>
            <a:ext cx="8321040" cy="29718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 w="1587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t"/>
          <a:lstStyle/>
          <a:p>
            <a:pPr algn="l"/>
            <a:r>
              <a:rPr sz="1500" b="1">
                <a:solidFill>
                  <a:srgbClr val="0078D4"/>
                </a:solidFill>
              </a:rPr>
              <a:t>Negocio</a:t>
            </a:r>
          </a:p>
          <a:p>
            <a:pPr algn="l"/>
            <a:r>
              <a:rPr sz="1100">
                <a:solidFill>
                  <a:srgbClr val="404040"/>
                </a:solidFill>
              </a:rPr>
              <a:t>Casos de uso y reglas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1097280"/>
            <a:ext cx="2880360" cy="457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tlCol="0" anchor="t"/>
          <a:lstStyle/>
          <a:p>
            <a:pPr algn="l"/>
            <a:r>
              <a:rPr sz="1500" b="1">
                <a:solidFill>
                  <a:srgbClr val="595959"/>
                </a:solidFill>
              </a:rPr>
              <a:t>Infraestructura</a:t>
            </a:r>
          </a:p>
          <a:p>
            <a:pPr algn="l"/>
            <a:r>
              <a:rPr sz="1100">
                <a:solidFill>
                  <a:srgbClr val="404040"/>
                </a:solidFill>
              </a:rPr>
              <a:t>Transversal: datos y servicios externos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25880"/>
            <a:ext cx="265176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512BD4"/>
                </a:solidFill>
              </a:rPr>
              <a:t>Ui.Web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Blazor Web App (host) · páginas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2651760" cy="868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512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512BD4"/>
                </a:solidFill>
              </a:rPr>
              <a:t>Ui.Components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Componentes Razor (RCL)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9260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78D4"/>
                </a:solidFill>
              </a:rPr>
              <a:t>Api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Minimal APIs · Identity · registro de dependencias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8404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78D4"/>
                </a:solidFill>
              </a:rPr>
              <a:t>Application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Casos de uso · DTOs · interfaces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754880"/>
            <a:ext cx="31089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0078D4"/>
                </a:solidFill>
              </a:rPr>
              <a:t>Domain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Entidades y reglas (R1–R8)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926080"/>
            <a:ext cx="2514600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595959"/>
                </a:solidFill>
              </a:rPr>
              <a:t>Infrastructure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EF Core · DbContext y migraciones · repositorios · pasarela de pago simulada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4709160"/>
            <a:ext cx="25146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22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595959"/>
                </a:solidFill>
              </a:rPr>
              <a:t>SQL Server</a:t>
            </a:r>
          </a:p>
          <a:p>
            <a:pPr algn="ctr"/>
            <a:r>
              <a:rPr sz="1100">
                <a:solidFill>
                  <a:srgbClr val="262626"/>
                </a:solidFill>
              </a:rPr>
              <a:t>Docker en local · Azure SQL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1755648"/>
            <a:ext cx="411480" cy="0"/>
          </a:xfrm>
          <a:prstGeom prst="line">
            <a:avLst/>
          </a:prstGeom>
          <a:ln w="22225">
            <a:solidFill>
              <a:srgbClr val="512B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97680" y="3657600"/>
            <a:ext cx="0" cy="182880"/>
          </a:xfrm>
          <a:prstGeom prst="line">
            <a:avLst/>
          </a:prstGeom>
          <a:ln w="22225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97680" y="4572000"/>
            <a:ext cx="0" cy="182880"/>
          </a:xfrm>
          <a:prstGeom prst="line">
            <a:avLst/>
          </a:prstGeom>
          <a:ln w="22225">
            <a:solidFill>
              <a:srgbClr val="0078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852160" y="3200400"/>
            <a:ext cx="3291840" cy="9144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852160" y="3749039"/>
            <a:ext cx="3291840" cy="411481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852160" y="4206240"/>
            <a:ext cx="3291840" cy="91440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96728" y="4389120"/>
            <a:ext cx="0" cy="320040"/>
          </a:xfrm>
          <a:prstGeom prst="line">
            <a:avLst/>
          </a:prstGeom>
          <a:ln w="22225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291840" y="2194560"/>
            <a:ext cx="0" cy="731520"/>
          </a:xfrm>
          <a:prstGeom prst="line">
            <a:avLst/>
          </a:prstGeom>
          <a:ln w="22225">
            <a:solidFill>
              <a:srgbClr val="512BD4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83280" y="24323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12BD4"/>
                </a:solidFill>
              </a:rPr>
              <a:t>HTTP en ejecución (no es una referencia)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8529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Api compone: registra 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069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implementa sus interfaces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62626"/>
                </a:solidFill>
              </a:rPr>
              <a:t>Las dependencias apuntan hacia Domain, que no depende de nadie.</a:t>
            </a:r>
          </a:p>
          <a:p>
            <a:r>
              <a:rPr sz="1100" b="0">
                <a:solidFill>
                  <a:srgbClr val="262626"/>
                </a:solidFill>
              </a:rPr>
              <a:t>Application define interfaces; Infrastructure las implementa.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852160"/>
            <a:ext cx="11475720" cy="54864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100" b="1">
                <a:solidFill>
                  <a:srgbClr val="1B5E20"/>
                </a:solidFill>
              </a:rPr>
              <a:t>Tests: </a:t>
            </a:r>
            <a:r>
              <a:rPr sz="1100" b="0">
                <a:solidFill>
                  <a:srgbClr val="1B5E20"/>
                </a:solidFill>
              </a:rPr>
              <a:t>UnitTests → Domain y Application · IntegrationTests → Api, con SQL Server en contenedor (Testcontainers)      </a:t>
            </a:r>
            <a:r>
              <a:rPr sz="1100" b="1">
                <a:solidFill>
                  <a:srgbClr val="1B5E20"/>
                </a:solidFill>
              </a:rPr>
              <a:t>Leyenda: </a:t>
            </a:r>
            <a:r>
              <a:rPr sz="1100" b="0">
                <a:solidFill>
                  <a:srgbClr val="1B5E20"/>
                </a:solidFill>
              </a:rPr>
              <a:t>línea continua = referencia de proyecto · discontinua = llamada HTTP</a:t>
            </a:r>
          </a:p>
        </p:txBody>
      </p:sp>
    </p:spTree>
    <p:extLst>
      <p:ext uri="{BB962C8B-B14F-4D97-AF65-F5344CB8AC3E}">
        <p14:creationId xmlns:p14="http://schemas.microsoft.com/office/powerpoint/2010/main" val="12013202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777240"/>
          </a:xfrm>
        </p:spPr>
        <p:txBody>
          <a:bodyPr>
            <a:normAutofit/>
          </a:bodyPr>
          <a:lstStyle/>
          <a:p>
            <a:pPr algn="l"/>
            <a:r>
              <a:rPr lang="es-ES"/>
              <a:t>CourtConnect: componentes de la arquitectura (adelanto)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91640"/>
            <a:ext cx="3291840" cy="1417320"/>
          </a:xfrm>
          <a:prstGeom prst="rect">
            <a:avLst/>
          </a:prstGeom>
          <a:solidFill>
            <a:srgbClr val="17151D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CB49B2"/>
                </a:solidFill>
              </a:rPr>
              <a:t>Domain</a:t>
            </a:r>
          </a:p>
          <a:p>
            <a:r>
              <a:rPr sz="1500">
                <a:solidFill>
                  <a:srgbClr val="EDEDED"/>
                </a:solidFill>
              </a:rPr>
              <a:t>Entidades (Court, Game, Player, Registration) y reglas R1–R8. Sin dependencias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26280" y="1691640"/>
            <a:ext cx="3291840" cy="1417320"/>
          </a:xfrm>
          <a:prstGeom prst="rect">
            <a:avLst/>
          </a:prstGeom>
          <a:solidFill>
            <a:srgbClr val="17151D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CB49B2"/>
                </a:solidFill>
              </a:rPr>
              <a:t>Application</a:t>
            </a:r>
          </a:p>
          <a:p>
            <a:r>
              <a:rPr sz="1500">
                <a:solidFill>
                  <a:srgbClr val="EDEDED"/>
                </a:solidFill>
              </a:rPr>
              <a:t>Casos de uso, DTOs (records) e interfaces: repositorios, reloj y pago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691640"/>
            <a:ext cx="3291840" cy="1417320"/>
          </a:xfrm>
          <a:prstGeom prst="rect">
            <a:avLst/>
          </a:prstGeom>
          <a:solidFill>
            <a:srgbClr val="17151D"/>
          </a:solidFill>
          <a:ln w="19050">
            <a:solidFill>
              <a:srgbClr val="E95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E95D48"/>
                </a:solidFill>
              </a:rPr>
              <a:t>Infrastructure</a:t>
            </a:r>
          </a:p>
          <a:p>
            <a:r>
              <a:rPr sz="1500">
                <a:solidFill>
                  <a:srgbClr val="EDEDED"/>
                </a:solidFill>
              </a:rPr>
              <a:t>EF Core: DbContext, migraciones y repositorios. Pasarela de pago simulada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3291840" cy="1417320"/>
          </a:xfrm>
          <a:prstGeom prst="rect">
            <a:avLst/>
          </a:prstGeom>
          <a:solidFill>
            <a:srgbClr val="17151D"/>
          </a:solidFill>
          <a:ln w="19050">
            <a:solidFill>
              <a:srgbClr val="CB49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CB49B2"/>
                </a:solidFill>
              </a:rPr>
              <a:t>Api</a:t>
            </a:r>
          </a:p>
          <a:p>
            <a:r>
              <a:rPr sz="1500">
                <a:solidFill>
                  <a:srgbClr val="EDEDED"/>
                </a:solidFill>
              </a:rPr>
              <a:t>Minimal APIs, OpenAPI, ProblemDetails, Identity e inyección de dependencias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3383280"/>
            <a:ext cx="3291840" cy="1417320"/>
          </a:xfrm>
          <a:prstGeom prst="rect">
            <a:avLst/>
          </a:prstGeom>
          <a:solidFill>
            <a:srgbClr val="17151D"/>
          </a:solidFill>
          <a:ln w="19050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A562D6"/>
                </a:solidFill>
              </a:rPr>
              <a:t>Ui.Web</a:t>
            </a:r>
          </a:p>
          <a:p>
            <a:r>
              <a:rPr sz="1500">
                <a:solidFill>
                  <a:srgbClr val="EDEDED"/>
                </a:solidFill>
              </a:rPr>
              <a:t>Blazor Web App: Static SSR en lo público, Interactive Server en el panel. Cliente HTTP tipado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3383280"/>
            <a:ext cx="3291840" cy="1417320"/>
          </a:xfrm>
          <a:prstGeom prst="rect">
            <a:avLst/>
          </a:prstGeom>
          <a:solidFill>
            <a:srgbClr val="17151D"/>
          </a:solidFill>
          <a:ln w="19050">
            <a:solidFill>
              <a:srgbClr val="A56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sz="1800" b="1">
                <a:solidFill>
                  <a:srgbClr val="A562D6"/>
                </a:solidFill>
              </a:rPr>
              <a:t>Ui.Components</a:t>
            </a:r>
          </a:p>
          <a:p>
            <a:r>
              <a:rPr sz="1500">
                <a:solidFill>
                  <a:srgbClr val="EDEDED"/>
                </a:solidFill>
              </a:rPr>
              <a:t>Razor Class Library con los componentes reutilizables</a:t>
            </a:r>
          </a:p>
        </p:txBody>
      </p:sp>
      <p:sp>
        <p:nvSpPr>
          <p:cNvPr id="9" name="Nota arquitectura"/>
          <p:cNvSpPr txBox="1"/>
          <p:nvPr/>
        </p:nvSpPr>
        <p:spPr>
          <a:xfrm>
            <a:off x="731520" y="5074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/>
              <a:t>Tests</a:t>
            </a:r>
            <a:r>
              <a:rPr sz="1500" b="0"/>
              <a:t>: UnitTests (Domain y Application) · IntegrationTests (Api, con SQL Server en contenedor)</a:t>
            </a:r>
          </a:p>
          <a:p>
            <a:r>
              <a:rPr sz="1500" b="0"/>
              <a:t>Sin MediatR · la web solo habla con la API · Domain no depende de nadie. A fondo en la masterclass de arquitectura.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Autofit/>
          </a:bodyPr>
          <a:lstStyle/>
          <a:p>
            <a:r>
              <a:rPr lang="es-ES" sz="3400">
                <a:solidFill>
                  <a:srgbClr val="FFFFFF"/>
                </a:solidFill>
              </a:rPr>
              <a:t>Dominio de CourtConnect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Autofit/>
          </a:bodyPr>
          <a:lstStyle/>
          <a:p>
            <a:r>
              <a:rPr lang="es-ES" sz="1800" b="1"/>
              <a:t>Court</a:t>
            </a:r>
            <a:r>
              <a:rPr lang="es-ES" sz="1800"/>
              <a:t> (cancha): nombre y ubicación</a:t>
            </a:r>
          </a:p>
          <a:p>
            <a:r>
              <a:rPr lang="es-ES" sz="1800" b="1"/>
              <a:t>Game</a:t>
            </a:r>
            <a:r>
              <a:rPr lang="es-ES" sz="1800"/>
              <a:t> (partido o quedada): cancha, fecha y hora, plazas, edad mínima, precio por jugador, estado</a:t>
            </a:r>
          </a:p>
          <a:p>
            <a:r>
              <a:rPr lang="es-ES" sz="1800" b="1"/>
              <a:t>Player</a:t>
            </a:r>
            <a:r>
              <a:rPr lang="es-ES" sz="1800"/>
              <a:t> (jugador): el propio usuario, con apodo único y 16 años o más</a:t>
            </a:r>
          </a:p>
          <a:p>
            <a:r>
              <a:rPr lang="es-ES" sz="1800" b="1"/>
              <a:t>Registration</a:t>
            </a:r>
            <a:r>
              <a:rPr lang="es-ES" sz="1800"/>
              <a:t> (inscripción): un jugador apuntado a un partido</a:t>
            </a:r>
          </a:p>
          <a:p>
            <a:r>
              <a:rPr lang="es-ES" sz="1800" b="1"/>
              <a:t>R1–R6</a:t>
            </a:r>
            <a:r>
              <a:rPr lang="es-ES" sz="1800"/>
              <a:t>: plazas, sin duplicados, edad, partido abierto, cancelar a tiempo, importe</a:t>
            </a:r>
          </a:p>
          <a:p>
            <a:r>
              <a:rPr lang="es-ES" sz="1800" b="1"/>
              <a:t>R7–R8</a:t>
            </a:r>
            <a:r>
              <a:rPr lang="es-ES" sz="1800"/>
              <a:t> (Parte II): solo el organizador gestiona su partido; cada uno se apunta solo a sí mismo</a:t>
            </a:r>
          </a:p>
          <a:p>
            <a:r>
              <a:rPr lang="es-ES" sz="1800" b="1"/>
              <a:t>Parte III</a:t>
            </a:r>
            <a:r>
              <a:rPr lang="es-ES" sz="1800"/>
              <a:t>: Tournament, Team y Payment (torneos por equipos con pago simulado)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280160"/>
            <a:ext cx="4754880" cy="2377440"/>
          </a:xfrm>
        </p:spPr>
        <p:txBody>
          <a:bodyPr>
            <a:normAutofit/>
          </a:bodyPr>
          <a:lstStyle/>
          <a:p>
            <a:r>
              <a:rPr lang="es-ES" sz="4700"/>
              <a:t>Prepara tu entorno para el Día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669280" y="1234440"/>
            <a:ext cx="6035040" cy="45720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s-ES" sz="1700" b="1"/>
              <a:t>SDK de .NET 10</a:t>
            </a:r>
            <a:r>
              <a:rPr lang="es-ES" sz="1700"/>
              <a:t>: compruébalo con dotnet --list-sdks</a:t>
            </a:r>
          </a:p>
          <a:p>
            <a:pPr>
              <a:lnSpc>
                <a:spcPct val="120000"/>
              </a:lnSpc>
            </a:pPr>
            <a:r>
              <a:rPr lang="es-ES" sz="1700" b="1"/>
              <a:t>VS Code</a:t>
            </a:r>
            <a:r>
              <a:rPr lang="es-ES" sz="1700"/>
              <a:t> con las extensiones recomendadas del repo (.vscode/extensions.json)</a:t>
            </a:r>
          </a:p>
          <a:p>
            <a:pPr>
              <a:lnSpc>
                <a:spcPct val="120000"/>
              </a:lnSpc>
            </a:pPr>
            <a:r>
              <a:rPr lang="es-ES" sz="1700" b="1"/>
              <a:t>Docker Desktop</a:t>
            </a:r>
            <a:r>
              <a:rPr lang="es-ES" sz="1700"/>
              <a:t> funcionando: docker version</a:t>
            </a:r>
          </a:p>
          <a:p>
            <a:pPr>
              <a:lnSpc>
                <a:spcPct val="120000"/>
              </a:lnSpc>
            </a:pPr>
            <a:r>
              <a:rPr lang="es-ES" sz="1700" b="1"/>
              <a:t>Git</a:t>
            </a:r>
            <a:r>
              <a:rPr lang="es-ES" sz="1700"/>
              <a:t> con tu nombre y correo, y acceso a la organización DeemSoft en GitHub</a:t>
            </a:r>
          </a:p>
          <a:p>
            <a:pPr>
              <a:lnSpc>
                <a:spcPct val="120000"/>
              </a:lnSpc>
            </a:pPr>
            <a:r>
              <a:rPr lang="es-ES" sz="1700" b="1"/>
              <a:t>SonarQube Cloud</a:t>
            </a:r>
            <a:r>
              <a:rPr lang="es-ES" sz="1700"/>
              <a:t>: entra una vez con tu cuenta de GitHub para que te den de alta</a:t>
            </a:r>
          </a:p>
          <a:p>
            <a:pPr>
              <a:lnSpc>
                <a:spcPct val="120000"/>
              </a:lnSpc>
            </a:pPr>
            <a:r>
              <a:rPr lang="es-ES" sz="1700" b="1"/>
              <a:t>Opcional</a:t>
            </a:r>
            <a:r>
              <a:rPr lang="es-ES" sz="1700"/>
              <a:t>: SSMS para trabajar con SQL Server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281" y="758952"/>
            <a:ext cx="7607686" cy="1734866"/>
          </a:xfrm>
        </p:spPr>
        <p:txBody>
          <a:bodyPr>
            <a:normAutofit/>
          </a:bodyPr>
          <a:lstStyle/>
          <a:p>
            <a:r>
              <a:rPr lang="es-ES" sz="6100"/>
              <a:t>Cierre y siguientes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20624" y="2606040"/>
            <a:ext cx="10789920" cy="2743200"/>
          </a:xfrm>
        </p:spPr>
        <p:txBody>
          <a:bodyPr>
            <a:noAutofit/>
          </a:bodyPr>
          <a:lstStyle/>
          <a:p>
            <a:r>
              <a:rPr lang="es-ES" sz="1800" b="1"/>
              <a:t>Tarea 1</a:t>
            </a:r>
            <a:r>
              <a:rPr lang="es-ES" sz="1800"/>
              <a:t>: quiz de esta masterclass (masterclass-dotnet-technologies-quiz.md)</a:t>
            </a:r>
          </a:p>
          <a:p>
            <a:r>
              <a:rPr lang="es-ES" sz="1800" b="1"/>
              <a:t>Tarea 2</a:t>
            </a:r>
            <a:r>
              <a:rPr lang="es-ES" sz="1800"/>
              <a:t>: Día 1 del reto: crear court-connect con la checklist y entrar en SonarQube Cloud</a:t>
            </a:r>
          </a:p>
          <a:p>
            <a:r>
              <a:rPr lang="es-ES" sz="1800" b="1"/>
              <a:t>Tarea 3</a:t>
            </a:r>
            <a:r>
              <a:rPr lang="es-ES" sz="1800"/>
              <a:t>: hablar con tu grupo de juego (30–45 min) antes de la demo 1</a:t>
            </a:r>
          </a:p>
          <a:p>
            <a:r>
              <a:rPr lang="es-ES" sz="1800" b="1"/>
              <a:t>Tarea 4</a:t>
            </a:r>
            <a:r>
              <a:rPr lang="es-ES" sz="1800"/>
              <a:t>: empezar tu glosario (docs/learning/glosario.md) con los términos de hoy</a:t>
            </a:r>
          </a:p>
          <a:p>
            <a:r>
              <a:rPr lang="es-ES" sz="1800" b="1"/>
              <a:t>Siguiente masterclass</a:t>
            </a:r>
            <a:r>
              <a:rPr lang="es-ES" sz="1800"/>
              <a:t>: arquitectura, tras el día 3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991" y="1115569"/>
            <a:ext cx="8379817" cy="701657"/>
          </a:xfrm>
        </p:spPr>
        <p:txBody>
          <a:bodyPr>
            <a:normAutofit/>
          </a:bodyPr>
          <a:lstStyle/>
          <a:p>
            <a:r>
              <a:rPr lang="es-ES" dirty="0"/>
              <a:t>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>
          <a:xfrm>
            <a:off x="429768" y="1828800"/>
            <a:ext cx="5394960" cy="4480560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sz="1600">
                <a:hlinkClick r:id="rId3"/>
              </a:rPr>
              <a:t>Soporte de .NET (LTS y STS)</a:t>
            </a:r>
          </a:p>
          <a:p>
            <a:r>
              <a:rPr sz="1600">
                <a:hlinkClick r:id="rId4"/>
              </a:rPr>
              <a:t>Documentación de .NET</a:t>
            </a:r>
          </a:p>
          <a:p>
            <a:r>
              <a:rPr sz="1600">
                <a:hlinkClick r:id="rId5"/>
              </a:rPr>
              <a:t>Tutorial: API mínima con ASP.NET Core</a:t>
            </a:r>
          </a:p>
          <a:p>
            <a:r>
              <a:rPr sz="1600">
                <a:hlinkClick r:id="rId6"/>
              </a:rPr>
              <a:t>Learn: base de datos con una API mínima y EF Core</a:t>
            </a:r>
          </a:p>
          <a:p>
            <a:r>
              <a:rPr sz="1600">
                <a:hlinkClick r:id="rId7"/>
              </a:rPr>
              <a:t>Learn: aplicaciones web con Blazor</a:t>
            </a:r>
          </a:p>
          <a:p>
            <a:r>
              <a:rPr sz="1600">
                <a:hlinkClick r:id="rId8"/>
              </a:rPr>
              <a:t>Learn: introducción a GitHub Actions</a:t>
            </a:r>
          </a:p>
          <a:p>
            <a:r>
              <a:rPr sz="1600">
                <a:hlinkClick r:id="rId9"/>
              </a:rPr>
              <a:t>Docker: primeros pasos</a:t>
            </a:r>
          </a:p>
          <a:p>
            <a:r>
              <a:rPr sz="1600">
                <a:hlinkClick r:id="rId10"/>
              </a:rPr>
              <a:t>Learn: SDD con GitHub Spec Kit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>
          <a:xfrm>
            <a:off x="6035040" y="1828800"/>
            <a:ext cx="5394960" cy="4480560"/>
          </a:xfrm>
        </p:spPr>
        <p:txBody>
          <a:bodyPr>
            <a:noAutofit/>
          </a:bodyPr>
          <a:lstStyle/>
          <a:p>
            <a:r>
              <a:rPr sz="1600">
                <a:hlinkClick r:id="rId11"/>
              </a:rPr>
              <a:t>Identity para API web</a:t>
            </a:r>
          </a:p>
          <a:p>
            <a:r>
              <a:rPr sz="1600">
                <a:hlinkClick r:id="rId12"/>
              </a:rPr>
              <a:t>Prompts para GitHub Copilot</a:t>
            </a:r>
          </a:p>
          <a:p>
            <a:r>
              <a:rPr sz="1600">
                <a:hlinkClick r:id="rId13"/>
              </a:rPr>
              <a:t>Prompts para Claude</a:t>
            </a:r>
          </a:p>
          <a:p>
            <a:r>
              <a:rPr sz="1600">
                <a:hlinkClick r:id="rId14"/>
              </a:rPr>
              <a:t>Model Context Protocol (MCP)</a:t>
            </a:r>
          </a:p>
          <a:p>
            <a:r>
              <a:rPr sz="1600">
                <a:hlinkClick r:id="rId15"/>
              </a:rPr>
              <a:t>SonarQube Cloud</a:t>
            </a:r>
          </a:p>
          <a:p>
            <a:r>
              <a:rPr sz="1600">
                <a:hlinkClick r:id="rId16"/>
              </a:rPr>
              <a:t>Vídeos oficiales: canal de .NET en YouTube</a:t>
            </a:r>
          </a:p>
          <a:p>
            <a:r>
              <a:rPr sz="1600">
                <a:hlinkClick r:id="rId17"/>
              </a:rPr>
              <a:t>.NET Conf 2026 (10–13 nov., lanzamiento de .NET 11)</a:t>
            </a:r>
          </a:p>
          <a:p>
            <a:r>
              <a:rPr sz="1600">
                <a:hlinkClick r:id="rId18"/>
              </a:rPr>
              <a:t>Curso: Generative AI for Beginners .NET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6F25F-3F09-04C3-9B0B-D643B307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F2ED3-55D4-F6B2-939C-261B308B3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207" y="2225646"/>
            <a:ext cx="9141618" cy="2764028"/>
          </a:xfrm>
        </p:spPr>
        <p:txBody>
          <a:bodyPr anchor="ctr">
            <a:normAutofit/>
          </a:bodyPr>
          <a:lstStyle/>
          <a:p>
            <a:r>
              <a:rPr lang="es-ES" sz="8800" dirty="0"/>
              <a:t>GRACIAS! </a:t>
            </a:r>
          </a:p>
        </p:txBody>
      </p:sp>
    </p:spTree>
    <p:extLst>
      <p:ext uri="{BB962C8B-B14F-4D97-AF65-F5344CB8AC3E}">
        <p14:creationId xmlns:p14="http://schemas.microsoft.com/office/powerpoint/2010/main" val="16596176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Quemado de película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7736</Words>
  <Application>Microsoft Office PowerPoint</Application>
  <PresentationFormat>Personalizado</PresentationFormat>
  <Paragraphs>634</Paragraphs>
  <Slides>45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9" baseType="lpstr">
      <vt:lpstr>Arial</vt:lpstr>
      <vt:lpstr>Consolas</vt:lpstr>
      <vt:lpstr>Neue Haas Grotesk Text Pro</vt:lpstr>
      <vt:lpstr>Quemado de película</vt:lpstr>
      <vt:lpstr>Masterclass: .NET Technologies</vt:lpstr>
      <vt:lpstr>🎯 Objetivos</vt:lpstr>
      <vt:lpstr>Contenidos</vt:lpstr>
      <vt:lpstr>Demos planificadas</vt:lpstr>
      <vt:lpstr>1. Historia .NET y visión general</vt:lpstr>
      <vt:lpstr>Historia: de .NET Framework a .NET 10</vt:lpstr>
      <vt:lpstr>Versiones de .NET y soporte</vt:lpstr>
      <vt:lpstr>Presentación de PowerPoint</vt:lpstr>
      <vt:lpstr>Ecosistema .NET — Resumen de tecnologías clave para el curso</vt:lpstr>
      <vt:lpstr>Estrategias de despliegue: on-premise y cloud</vt:lpstr>
      <vt:lpstr>Demo 1 · Azure: recorrido por el portal</vt:lpstr>
      <vt:lpstr>2. Metodologías, herramientas y entornos</vt:lpstr>
      <vt:lpstr>Scrum y flujo de ramas: cómo trabajamos</vt:lpstr>
      <vt:lpstr>Presentación de PowerPoint</vt:lpstr>
      <vt:lpstr>CI/CD con GitHub Actions </vt:lpstr>
      <vt:lpstr>Demo 2 · GitHub Actions: lanzar la CI desde un PR</vt:lpstr>
      <vt:lpstr>Calidad: SonarQube Cloud</vt:lpstr>
      <vt:lpstr>Demo 3 · SonarQube Cloud: issues y quality gate</vt:lpstr>
      <vt:lpstr>Seguridad y datos desde el primer día</vt:lpstr>
      <vt:lpstr>Herramientas prácticas y demos</vt:lpstr>
      <vt:lpstr>Demo 4 · VS Code y SQL Server en Docker</vt:lpstr>
      <vt:lpstr>3. Desarrollo asistido por IA</vt:lpstr>
      <vt:lpstr>Cómo usamos la IA en el reto</vt:lpstr>
      <vt:lpstr>Tokens y ventana de contexto</vt:lpstr>
      <vt:lpstr>Cómo escribir un prompt efectivo</vt:lpstr>
      <vt:lpstr>Demo 5 · IA: pedir un prompt y revisarlo</vt:lpstr>
      <vt:lpstr>Agentes, MCP y RAG: lo justo para el reto</vt:lpstr>
      <vt:lpstr>SDD con GitHub Spec Kit</vt:lpstr>
      <vt:lpstr>4. Reto CourtConnect</vt:lpstr>
      <vt:lpstr>El reto CourtConnect: qué es y para qué</vt:lpstr>
      <vt:lpstr>El reto CourtConnect: mapa</vt:lpstr>
      <vt:lpstr>Dónde está cada cosa</vt:lpstr>
      <vt:lpstr>Cómo trabajas cada ejercicio</vt:lpstr>
      <vt:lpstr>Demo 6 · GitHub: repo, issues, milestones y PR</vt:lpstr>
      <vt:lpstr>Reglas del reto y qué hacer si falta tiempo</vt:lpstr>
      <vt:lpstr>Formación en paralelo</vt:lpstr>
      <vt:lpstr>Cómo se evalúa</vt:lpstr>
      <vt:lpstr>CourtConnect: visión general</vt:lpstr>
      <vt:lpstr>CourtConnect: vista lógica de capas</vt:lpstr>
      <vt:lpstr>CourtConnect: componentes de la arquitectura (adelanto)</vt:lpstr>
      <vt:lpstr>Dominio de CourtConnect</vt:lpstr>
      <vt:lpstr>Prepara tu entorno para el Día 1</vt:lpstr>
      <vt:lpstr>Cierre y siguientes pasos</vt:lpstr>
      <vt:lpstr>Recursos</vt:lpstr>
      <vt:lpstr>GRACIAS!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BENZINA AGUILAR, YAMEL</cp:lastModifiedBy>
  <cp:revision>18</cp:revision>
  <dcterms:created xsi:type="dcterms:W3CDTF">2013-01-27T09:14:16Z</dcterms:created>
  <dcterms:modified xsi:type="dcterms:W3CDTF">2026-10-29T03:53:34Z</dcterms:modified>
  <cp:category/>
</cp:coreProperties>
</file>